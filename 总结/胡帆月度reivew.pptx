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3"/>
    <p:sldId id="360" r:id="rId4"/>
    <p:sldId id="705" r:id="rId5"/>
    <p:sldId id="706" r:id="rId6"/>
    <p:sldId id="716" r:id="rId7"/>
    <p:sldId id="708" r:id="rId8"/>
    <p:sldId id="710" r:id="rId9"/>
    <p:sldId id="711" r:id="rId10"/>
    <p:sldId id="714" r:id="rId11"/>
    <p:sldId id="71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496"/>
    <a:srgbClr val="0062A9"/>
    <a:srgbClr val="FFFFFF"/>
    <a:srgbClr val="A6A6A6"/>
    <a:srgbClr val="2ABB98"/>
    <a:srgbClr val="05B2AC"/>
    <a:srgbClr val="76B9ED"/>
    <a:srgbClr val="046BB5"/>
    <a:srgbClr val="0B57B5"/>
    <a:srgbClr val="2C3C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8" autoAdjust="0"/>
    <p:restoredTop sz="94663"/>
  </p:normalViewPr>
  <p:slideViewPr>
    <p:cSldViewPr snapToGrid="0">
      <p:cViewPr varScale="1">
        <p:scale>
          <a:sx n="94" d="100"/>
          <a:sy n="94" d="100"/>
        </p:scale>
        <p:origin x="780" y="90"/>
      </p:cViewPr>
      <p:guideLst>
        <p:guide orient="horz" pos="214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8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199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200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201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19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0CA7A-014D-4B83-A8A4-9826F6E7D1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19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919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919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19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BAF5-91E6-4325-BE58-8DCB5D7C006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9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130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913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AF56E-1A09-4256-B211-F1A4532560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13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8FF5-39DC-4581-A109-7C2E934D42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17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917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AF56E-1A09-4256-B211-F1A4532560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17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7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8FF5-39DC-4581-A109-7C2E934D42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15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915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AF56E-1A09-4256-B211-F1A4532560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15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5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8FF5-39DC-4581-A109-7C2E934D42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180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9181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918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AF56E-1A09-4256-B211-F1A4532560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18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8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8FF5-39DC-4581-A109-7C2E934D42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5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156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9157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9158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9159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9160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AF56E-1A09-4256-B211-F1A4532560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161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62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8FF5-39DC-4581-A109-7C2E934D42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13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AF56E-1A09-4256-B211-F1A4532560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13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3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8FF5-39DC-4581-A109-7C2E934D42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AF56E-1A09-4256-B211-F1A4532560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8FF5-39DC-4581-A109-7C2E934D42E1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-6016"/>
            <a:ext cx="12192000" cy="577516"/>
            <a:chOff x="0" y="-6016"/>
            <a:chExt cx="12192000" cy="577516"/>
          </a:xfrm>
        </p:grpSpPr>
        <p:pic>
          <p:nvPicPr>
            <p:cNvPr id="6" name="图片 5" descr="组 1"/>
            <p:cNvPicPr>
              <a:picLocks noChangeAspect="1"/>
            </p:cNvPicPr>
            <p:nvPr/>
          </p:nvPicPr>
          <p:blipFill rotWithShape="1">
            <a:blip r:embed="rId2"/>
            <a:srcRect r="18957" b="-8937"/>
            <a:stretch>
              <a:fillRect/>
            </a:stretch>
          </p:blipFill>
          <p:spPr>
            <a:xfrm>
              <a:off x="0" y="-1270"/>
              <a:ext cx="12192000" cy="572770"/>
            </a:xfrm>
            <a:prstGeom prst="rect">
              <a:avLst/>
            </a:prstGeom>
          </p:spPr>
        </p:pic>
        <p:pic>
          <p:nvPicPr>
            <p:cNvPr id="7" name="图片 6" descr="木浪云MulangCloud_logo_R.png"/>
            <p:cNvPicPr>
              <a:picLocks noChangeAspect="1"/>
            </p:cNvPicPr>
            <p:nvPr/>
          </p:nvPicPr>
          <p:blipFill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60979" y="-6016"/>
              <a:ext cx="1310150" cy="50566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 advClick="0" advTm="0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187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918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918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AF56E-1A09-4256-B211-F1A4532560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19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9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8FF5-39DC-4581-A109-7C2E934D42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4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145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9146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914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AF56E-1A09-4256-B211-F1A4532560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14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4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8FF5-39DC-4581-A109-7C2E934D42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175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917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AF56E-1A09-4256-B211-F1A4532560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17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8FF5-39DC-4581-A109-7C2E934D42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9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140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914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AF56E-1A09-4256-B211-F1A4532560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14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14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8FF5-39DC-4581-A109-7C2E934D42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3" name="Rounded Rectangle 2"/>
          <p:cNvSpPr/>
          <p:nvPr userDrawn="1"/>
        </p:nvSpPr>
        <p:spPr>
          <a:xfrm rot="2700000" flipH="1">
            <a:off x="11254440" y="-397060"/>
            <a:ext cx="506627" cy="116687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164" name="Rounded Rectangle 3"/>
          <p:cNvSpPr/>
          <p:nvPr userDrawn="1"/>
        </p:nvSpPr>
        <p:spPr>
          <a:xfrm rot="2700000" flipH="1">
            <a:off x="12007710" y="-260431"/>
            <a:ext cx="368579" cy="87121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165" name="Rounded Rectangle 4"/>
          <p:cNvSpPr/>
          <p:nvPr userDrawn="1"/>
        </p:nvSpPr>
        <p:spPr>
          <a:xfrm rot="2700000" flipH="1">
            <a:off x="11072272" y="-267705"/>
            <a:ext cx="177925" cy="51547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166" name="Slide Number Placeholder 5"/>
          <p:cNvSpPr txBox="1"/>
          <p:nvPr userDrawn="1"/>
        </p:nvSpPr>
        <p:spPr>
          <a:xfrm>
            <a:off x="11156292" y="175176"/>
            <a:ext cx="374307" cy="328295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0" i="0" smtClean="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</a:fld>
            <a:endParaRPr lang="en-US" sz="1400" b="0" i="0" dirty="0">
              <a:solidFill>
                <a:schemeClr val="tx1"/>
              </a:solidFill>
              <a:latin typeface="Arial" panose="020B0604020202090204" pitchFamily="34" charset="0"/>
              <a:ea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049167" name="Title 5"/>
          <p:cNvSpPr>
            <a:spLocks noGrp="1"/>
          </p:cNvSpPr>
          <p:nvPr>
            <p:ph type="title"/>
          </p:nvPr>
        </p:nvSpPr>
        <p:spPr>
          <a:xfrm>
            <a:off x="707159" y="503472"/>
            <a:ext cx="7510084" cy="75691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6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718795" y="1136821"/>
            <a:ext cx="7473734" cy="2594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>
                    <a:alpha val="50000"/>
                  </a:scheme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  <a:lvl2pPr marL="457200" indent="0">
              <a:buNone/>
            </a:lvl2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  <p:transition spd="slow" advClick="0" advTm="0">
    <p:blinds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8" name="图片占位符 5"/>
          <p:cNvSpPr>
            <a:spLocks noGrp="1"/>
          </p:cNvSpPr>
          <p:nvPr>
            <p:ph type="pic" sz="quarter" idx="10"/>
          </p:nvPr>
        </p:nvSpPr>
        <p:spPr>
          <a:xfrm>
            <a:off x="6773861" y="0"/>
            <a:ext cx="5418138" cy="2924175"/>
          </a:xfrm>
          <a:custGeom>
            <a:avLst/>
            <a:gdLst>
              <a:gd name="connsiteX0" fmla="*/ 0 w 5418138"/>
              <a:gd name="connsiteY0" fmla="*/ 0 h 2924175"/>
              <a:gd name="connsiteX1" fmla="*/ 5418138 w 5418138"/>
              <a:gd name="connsiteY1" fmla="*/ 0 h 2924175"/>
              <a:gd name="connsiteX2" fmla="*/ 5418138 w 5418138"/>
              <a:gd name="connsiteY2" fmla="*/ 557212 h 2924175"/>
              <a:gd name="connsiteX3" fmla="*/ 2651125 w 5418138"/>
              <a:gd name="connsiteY3" fmla="*/ 2924175 h 2924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8138" h="2924175">
                <a:moveTo>
                  <a:pt x="0" y="0"/>
                </a:moveTo>
                <a:lnTo>
                  <a:pt x="5418138" y="0"/>
                </a:lnTo>
                <a:lnTo>
                  <a:pt x="5418138" y="557212"/>
                </a:lnTo>
                <a:lnTo>
                  <a:pt x="2651125" y="2924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5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>
                    <a:lumMod val="65000"/>
                  </a:schemeClr>
                </a:solidFill>
                <a:latin typeface="Neris Thin" panose="00000300000000000000" pitchFamily="50" charset="0"/>
              </a:defRPr>
            </a:lvl1pPr>
          </a:lstStyle>
          <a:p>
            <a:endParaRPr lang="id-ID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185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AF56E-1A09-4256-B211-F1A4532560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C8FF5-39DC-4581-A109-7C2E934D42E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 advClick="0" advTm="0">
    <p:blinds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59"/>
          <p:cNvSpPr>
            <a:spLocks noChangeArrowheads="1"/>
          </p:cNvSpPr>
          <p:nvPr/>
        </p:nvSpPr>
        <p:spPr bwMode="auto">
          <a:xfrm>
            <a:off x="555581" y="1797129"/>
            <a:ext cx="11080838" cy="23267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A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A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A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A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A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A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A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A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A0204" charset="0"/>
              </a:defRPr>
            </a:lvl9pPr>
          </a:lstStyle>
          <a:p>
            <a:pPr algn="ctr">
              <a:buNone/>
            </a:pPr>
            <a:r>
              <a:rPr lang="zh-CN" altLang="en-US" sz="6600" b="1" cap="all" dirty="0">
                <a:solidFill>
                  <a:schemeClr val="bg1"/>
                </a:solidFill>
                <a:cs typeface="Arial" panose="020B0604020202090204" pitchFamily="34" charset="0"/>
              </a:rPr>
              <a:t>新员工</a:t>
            </a:r>
            <a:endParaRPr lang="en-US" altLang="zh-CN" sz="6600" b="1" cap="all" dirty="0">
              <a:solidFill>
                <a:schemeClr val="bg1"/>
              </a:solidFill>
              <a:cs typeface="Arial" panose="020B0604020202090204" pitchFamily="34" charset="0"/>
            </a:endParaRPr>
          </a:p>
          <a:p>
            <a:pPr algn="ctr">
              <a:buNone/>
            </a:pPr>
            <a:r>
              <a:rPr lang="zh-CN" altLang="en-US" sz="6600" b="1" cap="all" dirty="0">
                <a:solidFill>
                  <a:schemeClr val="bg1"/>
                </a:solidFill>
                <a:cs typeface="Arial" panose="020B0604020202090204" pitchFamily="34" charset="0"/>
              </a:rPr>
              <a:t>月度</a:t>
            </a:r>
            <a:r>
              <a:rPr lang="en-US" altLang="zh-CN" sz="6600" b="1" cap="all" dirty="0">
                <a:solidFill>
                  <a:schemeClr val="bg1"/>
                </a:solidFill>
                <a:cs typeface="Arial" panose="020B0604020202090204" pitchFamily="34" charset="0"/>
              </a:rPr>
              <a:t>REVIEW</a:t>
            </a:r>
            <a:endParaRPr lang="zh-CN" altLang="en-US" sz="6600" b="1" cap="all" dirty="0">
              <a:solidFill>
                <a:schemeClr val="bg1"/>
              </a:solidFill>
              <a:cs typeface="Arial" panose="020B0604020202090204" pitchFamily="34" charset="0"/>
            </a:endParaRPr>
          </a:p>
        </p:txBody>
      </p:sp>
    </p:spTree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2"/>
          <p:cNvSpPr>
            <a:spLocks noChangeArrowheads="1"/>
          </p:cNvSpPr>
          <p:nvPr/>
        </p:nvSpPr>
        <p:spPr bwMode="auto">
          <a:xfrm>
            <a:off x="901280" y="619210"/>
            <a:ext cx="74168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40000"/>
              </a:spcBef>
            </a:pPr>
            <a:r>
              <a:rPr kumimoji="0" lang="zh-CN" altLang="en-US" sz="3600" b="1"/>
              <a:t>一、自我介绍</a:t>
            </a:r>
            <a:endParaRPr kumimoji="0" lang="zh-CN" altLang="en-US" sz="3600" b="1"/>
          </a:p>
        </p:txBody>
      </p:sp>
      <p:sp>
        <p:nvSpPr>
          <p:cNvPr id="51" name="Text Box 3"/>
          <p:cNvSpPr txBox="1">
            <a:spLocks noChangeArrowheads="1"/>
          </p:cNvSpPr>
          <p:nvPr/>
        </p:nvSpPr>
        <p:spPr bwMode="auto">
          <a:xfrm>
            <a:off x="971550" y="6021388"/>
            <a:ext cx="74882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charset="0"/>
              <a:buNone/>
              <a:defRPr/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503050405090304" charset="0"/>
                <a:ea typeface="宋体" panose="02010600030101010101" pitchFamily="2" charset="-122"/>
              </a:rPr>
              <a:t>说明：包括入职时间、所在部门及担任的职位和工作职责介绍。</a:t>
            </a:r>
            <a:endParaRPr lang="zh-CN" altLang="en-US" sz="2000" dirty="0">
              <a:solidFill>
                <a:srgbClr val="FF0000"/>
              </a:solidFill>
              <a:latin typeface="Times New Roman" panose="02020503050405090304" charset="0"/>
              <a:ea typeface="宋体" panose="02010600030101010101" pitchFamily="2" charset="-122"/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971550" y="1701800"/>
            <a:ext cx="757555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dirty="0">
                <a:latin typeface="宋体" panose="02010600030101010101" pitchFamily="2" charset="-122"/>
              </a:rPr>
              <a:t>入职时间：</a:t>
            </a:r>
            <a:r>
              <a:rPr kumimoji="0" lang="en-US" altLang="zh-CN" dirty="0">
                <a:latin typeface="宋体" panose="02010600030101010101" pitchFamily="2" charset="-122"/>
              </a:rPr>
              <a:t>2020-11-3</a:t>
            </a:r>
            <a:endParaRPr kumimoji="0" lang="en-US" altLang="zh-CN" dirty="0">
              <a:latin typeface="宋体" panose="02010600030101010101" pitchFamily="2" charset="-122"/>
            </a:endParaRPr>
          </a:p>
          <a:p>
            <a:endParaRPr kumimoji="0" lang="en-US" altLang="zh-CN" dirty="0">
              <a:latin typeface="宋体" panose="02010600030101010101" pitchFamily="2" charset="-122"/>
            </a:endParaRPr>
          </a:p>
          <a:p>
            <a:r>
              <a:rPr kumimoji="0" lang="zh-CN" altLang="en-US" dirty="0">
                <a:latin typeface="宋体" panose="02010600030101010101" pitchFamily="2" charset="-122"/>
              </a:rPr>
              <a:t>所在部门：研发中心</a:t>
            </a:r>
            <a:endParaRPr kumimoji="0" lang="en-US" altLang="zh-CN" dirty="0">
              <a:latin typeface="宋体" panose="02010600030101010101" pitchFamily="2" charset="-122"/>
            </a:endParaRPr>
          </a:p>
          <a:p>
            <a:endParaRPr kumimoji="0" lang="en-US" altLang="zh-CN" dirty="0">
              <a:latin typeface="宋体" panose="02010600030101010101" pitchFamily="2" charset="-122"/>
            </a:endParaRPr>
          </a:p>
          <a:p>
            <a:r>
              <a:rPr kumimoji="0" lang="zh-CN" altLang="en-US" dirty="0">
                <a:latin typeface="宋体" panose="02010600030101010101" pitchFamily="2" charset="-122"/>
              </a:rPr>
              <a:t>担任的职位：虚拟化开发工程师</a:t>
            </a:r>
            <a:endParaRPr kumimoji="0" lang="en-US" altLang="zh-CN" dirty="0">
              <a:latin typeface="宋体" panose="02010600030101010101" pitchFamily="2" charset="-122"/>
            </a:endParaRPr>
          </a:p>
          <a:p>
            <a:endParaRPr kumimoji="0" lang="en-US" altLang="zh-CN" dirty="0">
              <a:latin typeface="宋体" panose="02010600030101010101" pitchFamily="2" charset="-122"/>
            </a:endParaRPr>
          </a:p>
          <a:p>
            <a:r>
              <a:rPr kumimoji="0" lang="zh-CN" altLang="en-US" dirty="0">
                <a:latin typeface="宋体" panose="02010600030101010101" pitchFamily="2" charset="-122"/>
              </a:rPr>
              <a:t>岗位工作职责：负责虚拟化相关技术研究和开发</a:t>
            </a:r>
            <a:endParaRPr kumimoji="0"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79388" y="476250"/>
            <a:ext cx="7772400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二、试用期阶段工作总结</a:t>
            </a:r>
            <a:endParaRPr lang="zh-CN" altLang="en-US" sz="3600" b="1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395605" y="1846580"/>
            <a:ext cx="8748395" cy="412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试用期阶段工作任务和目标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、熟悉掌握一门虚拟化技术</a:t>
            </a:r>
            <a:r>
              <a:rPr lang="en-US" altLang="zh-CN" dirty="0"/>
              <a:t>-openstack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、熟悉分布式文件系统</a:t>
            </a:r>
            <a:r>
              <a:rPr lang="en-US" altLang="zh-CN" dirty="0"/>
              <a:t>-ceph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、调研腾讯</a:t>
            </a:r>
            <a:r>
              <a:rPr lang="en-US" altLang="zh-CN" dirty="0"/>
              <a:t>TCE</a:t>
            </a:r>
            <a:r>
              <a:rPr lang="zh-CN" altLang="en-US" dirty="0"/>
              <a:t>平台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、重构</a:t>
            </a:r>
            <a:r>
              <a:rPr lang="en-US" altLang="zh-CN" dirty="0"/>
              <a:t>fusioncloud</a:t>
            </a:r>
            <a:r>
              <a:rPr lang="zh-CN" altLang="en-US" dirty="0"/>
              <a:t>项目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、虚拟化框架使用过程的分享汇报</a:t>
            </a:r>
            <a:endParaRPr lang="en-US" altLang="zh-CN" dirty="0"/>
          </a:p>
          <a:p>
            <a:r>
              <a:rPr lang="en-US" altLang="zh-CN" dirty="0"/>
              <a:t>6</a:t>
            </a:r>
            <a:r>
              <a:rPr lang="zh-CN" altLang="en-US" dirty="0"/>
              <a:t>、在理解，熟练使用现有虚拟化框架的基础上提供优化，改进意见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79388" y="476250"/>
            <a:ext cx="7772400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二、试用期阶段工作总结</a:t>
            </a:r>
            <a:endParaRPr lang="zh-CN" altLang="en-US" sz="3600" b="1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179388" y="1557338"/>
            <a:ext cx="8856662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试用期阶段工作任务和目标达成情况（需数据支持）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、熟悉虚拟化技术</a:t>
            </a:r>
            <a:r>
              <a:rPr lang="en-US" altLang="zh-CN" dirty="0"/>
              <a:t>---</a:t>
            </a:r>
            <a:r>
              <a:rPr lang="zh-CN" altLang="en-US" dirty="0"/>
              <a:t>完成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、熟悉分布式文件系统</a:t>
            </a:r>
            <a:r>
              <a:rPr lang="en-US" altLang="zh-CN" dirty="0" err="1"/>
              <a:t>ceph</a:t>
            </a:r>
            <a:r>
              <a:rPr lang="en-US" altLang="zh-CN" dirty="0"/>
              <a:t>---</a:t>
            </a:r>
            <a:r>
              <a:rPr lang="zh-CN" altLang="en-US" dirty="0"/>
              <a:t>完成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、调研腾讯</a:t>
            </a:r>
            <a:r>
              <a:rPr lang="en-US" altLang="zh-CN" dirty="0"/>
              <a:t>TCE</a:t>
            </a:r>
            <a:r>
              <a:rPr lang="zh-CN" altLang="en-US" dirty="0"/>
              <a:t>平台</a:t>
            </a:r>
            <a:r>
              <a:rPr lang="en-US" altLang="zh-CN" dirty="0"/>
              <a:t>---</a:t>
            </a:r>
            <a:r>
              <a:rPr lang="zh-CN" altLang="en-US" dirty="0"/>
              <a:t>完成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、重构</a:t>
            </a:r>
            <a:r>
              <a:rPr lang="en-US" altLang="zh-CN" dirty="0" err="1"/>
              <a:t>fusioncloud</a:t>
            </a:r>
            <a:r>
              <a:rPr lang="zh-CN" altLang="en-US" dirty="0"/>
              <a:t>项目</a:t>
            </a:r>
            <a:r>
              <a:rPr lang="en-US" altLang="zh-CN" dirty="0"/>
              <a:t>---</a:t>
            </a:r>
            <a:r>
              <a:rPr lang="zh-CN" altLang="en-US" dirty="0"/>
              <a:t>未完成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、虚拟化框架使用收获分享</a:t>
            </a:r>
            <a:r>
              <a:rPr lang="en-US" altLang="zh-CN" dirty="0"/>
              <a:t>---</a:t>
            </a:r>
            <a:r>
              <a:rPr lang="zh-CN" altLang="en-US" dirty="0"/>
              <a:t>未开始</a:t>
            </a:r>
            <a:endParaRPr lang="zh-CN" alt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14865" y="5882773"/>
            <a:ext cx="112268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100000"/>
              </a:spcBef>
              <a:defRPr/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说明：请详细列举过程数据。过程数据是指业务或项目过程中，通过一系列行动产生的相关数据。目的是希望通过对详细的过程数据进行分析判断。客户情况、业务进展、业务结果、解决的办法。</a:t>
            </a:r>
            <a:endParaRPr lang="zh-CN" altLang="en-US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79388" y="476250"/>
            <a:ext cx="7772400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二、试用期阶段工作总结</a:t>
            </a:r>
            <a:endParaRPr lang="zh-CN" altLang="en-US" sz="3600" b="1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66725" y="1557338"/>
            <a:ext cx="7772400" cy="37433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zh-CN" altLang="en-US" dirty="0"/>
              <a:t>工作中遇到的问题与对策（需举例说明）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问题一：</a:t>
            </a:r>
            <a:r>
              <a:rPr lang="en-US" altLang="zh-CN" dirty="0" err="1"/>
              <a:t>openstack</a:t>
            </a:r>
            <a:r>
              <a:rPr lang="zh-CN" altLang="en-US" dirty="0"/>
              <a:t>，</a:t>
            </a:r>
            <a:r>
              <a:rPr lang="en-US" altLang="zh-CN" dirty="0" err="1"/>
              <a:t>ceph</a:t>
            </a:r>
            <a:r>
              <a:rPr lang="zh-CN" altLang="en-US" dirty="0"/>
              <a:t>学习中的问题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问题二：</a:t>
            </a:r>
            <a:r>
              <a:rPr lang="en-US" altLang="zh-CN" dirty="0"/>
              <a:t>vCenter</a:t>
            </a:r>
            <a:r>
              <a:rPr lang="zh-CN" altLang="en-US" dirty="0"/>
              <a:t>平台死锁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问题三：</a:t>
            </a:r>
            <a:r>
              <a:rPr lang="en-US" altLang="zh-CN" dirty="0" err="1"/>
              <a:t>openstack</a:t>
            </a:r>
            <a:r>
              <a:rPr lang="zh-CN" altLang="en-US" dirty="0"/>
              <a:t>中</a:t>
            </a:r>
            <a:r>
              <a:rPr lang="en-US" altLang="zh-CN" dirty="0"/>
              <a:t>cinder</a:t>
            </a:r>
            <a:r>
              <a:rPr lang="zh-CN" altLang="en-US" dirty="0"/>
              <a:t>服务</a:t>
            </a:r>
            <a:r>
              <a:rPr lang="en-US" altLang="zh-CN" dirty="0"/>
              <a:t>down</a:t>
            </a:r>
            <a:endParaRPr lang="zh-CN" alt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07999" y="6022221"/>
            <a:ext cx="109941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100000"/>
              </a:spcBef>
              <a:defRPr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503050405090304" charset="0"/>
                <a:ea typeface="宋体" panose="02010600030101010101" pitchFamily="2" charset="-122"/>
              </a:rPr>
              <a:t>说明：请详细列举，并说明该问题的影响程度以及解决方案。</a:t>
            </a:r>
            <a:endParaRPr lang="zh-CN" altLang="en-US" sz="2000" dirty="0">
              <a:solidFill>
                <a:srgbClr val="FF0000"/>
              </a:solidFill>
              <a:latin typeface="Times New Roman" panose="0202050305040509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38430" y="494030"/>
            <a:ext cx="11736705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/>
              <a:t>三、自我评价（工作能力、</a:t>
            </a:r>
            <a:r>
              <a:rPr lang="zh-CN" altLang="en-US" sz="3600" b="1" dirty="0">
                <a:sym typeface="+mn-ea"/>
              </a:rPr>
              <a:t>工作态度和状态方面</a:t>
            </a:r>
            <a:r>
              <a:rPr lang="zh-CN" altLang="en-US" sz="3600" b="1"/>
              <a:t>）</a:t>
            </a:r>
            <a:endParaRPr lang="zh-CN" altLang="en-US" sz="3600" b="1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66725" y="1773555"/>
            <a:ext cx="9728835" cy="40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优势：</a:t>
            </a:r>
            <a:endParaRPr lang="en-US" altLang="zh-CN" dirty="0"/>
          </a:p>
          <a:p>
            <a:r>
              <a:rPr lang="zh-CN" altLang="en-US" dirty="0"/>
              <a:t>较快响应，完成任务</a:t>
            </a:r>
            <a:endParaRPr lang="en-US" altLang="zh-CN" dirty="0"/>
          </a:p>
          <a:p>
            <a:r>
              <a:rPr lang="zh-CN" altLang="en-US" dirty="0"/>
              <a:t>积极饱满的状态迎接每一天的工作生活</a:t>
            </a:r>
            <a:endParaRPr lang="en-US" altLang="zh-CN" dirty="0"/>
          </a:p>
          <a:p>
            <a:r>
              <a:rPr lang="zh-CN" altLang="en-US" dirty="0"/>
              <a:t>渴望做的更好，愿意为之付出更多的精力与时间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不足：目前产出不太高，有待加强；需要更积极的沟通</a:t>
            </a:r>
            <a:endParaRPr lang="en-US" altLang="zh-CN" dirty="0"/>
          </a:p>
          <a:p>
            <a:r>
              <a:rPr lang="zh-CN" altLang="en-US" dirty="0"/>
              <a:t>改进措施：细化工作任务到更小的时间节点，更小的任务节点，风险阻塞问题及时暴露，积极寻求解决途径。</a:t>
            </a:r>
            <a:endParaRPr lang="zh-CN" alt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36575" y="6364287"/>
            <a:ext cx="108533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100000"/>
              </a:spcBef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503050405090304" charset="0"/>
                <a:ea typeface="宋体" panose="02010600030101010101" pitchFamily="2" charset="-122"/>
              </a:rPr>
              <a:t>说明：请从工作能力、工作状态、工作表现等方面进行评价，并举例说明，可分多页说明。</a:t>
            </a:r>
            <a:endParaRPr lang="en-US" altLang="zh-CN" sz="2000" b="1" dirty="0">
              <a:solidFill>
                <a:srgbClr val="FF0000"/>
              </a:solidFill>
              <a:latin typeface="Times New Roman" panose="0202050305040509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79388" y="549275"/>
            <a:ext cx="7772400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/>
              <a:t>四、工作体会</a:t>
            </a:r>
            <a:endParaRPr lang="zh-CN" altLang="en-US" sz="3600" b="1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39750" y="1628775"/>
            <a:ext cx="11058692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工作心得（试用期间工作感受以及自我的改变）</a:t>
            </a:r>
            <a:endParaRPr lang="zh-CN" altLang="en-US" dirty="0"/>
          </a:p>
          <a:p>
            <a:r>
              <a:rPr lang="en-US" altLang="zh-CN" dirty="0"/>
              <a:t>1.</a:t>
            </a:r>
            <a:r>
              <a:rPr lang="zh-CN" altLang="en-US" dirty="0"/>
              <a:t>需要有更积极有效的的沟通</a:t>
            </a:r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需要有更认真仔细的文档编写</a:t>
            </a:r>
            <a:endParaRPr lang="zh-CN" altLang="en-US" dirty="0"/>
          </a:p>
          <a:p>
            <a:r>
              <a:rPr lang="en-US" altLang="zh-CN" dirty="0"/>
              <a:t>3.</a:t>
            </a:r>
            <a:r>
              <a:rPr lang="zh-CN" altLang="en-US" dirty="0"/>
              <a:t>需要有更强烈的自我驱动学习欲望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buFontTx/>
              <a:buNone/>
            </a:pPr>
            <a:endParaRPr lang="en-US" altLang="zh-CN" dirty="0"/>
          </a:p>
          <a:p>
            <a:pPr>
              <a:buFontTx/>
              <a:buNone/>
            </a:pPr>
            <a:endParaRPr lang="zh-CN" alt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39750" y="6308725"/>
            <a:ext cx="113634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100000"/>
              </a:spcBef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503050405090304" charset="0"/>
                <a:ea typeface="宋体" panose="02010600030101010101" pitchFamily="2" charset="-122"/>
              </a:rPr>
              <a:t>说明：请从试用期融入团队的过程，以及遇到的问题，请举例说明自己适应环境的体会、感受等。</a:t>
            </a:r>
            <a:endParaRPr lang="zh-CN" altLang="en-US" sz="2000" b="1" dirty="0">
              <a:solidFill>
                <a:srgbClr val="FF0000"/>
              </a:solidFill>
              <a:latin typeface="Times New Roman" panose="0202050305040509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79388" y="549275"/>
            <a:ext cx="7772400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/>
              <a:t>四、工作体会</a:t>
            </a:r>
            <a:endParaRPr lang="zh-CN" altLang="en-US" sz="3600" b="1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39750" y="1628775"/>
            <a:ext cx="11042650" cy="4495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latin typeface="宋体" panose="02010600030101010101" pitchFamily="2" charset="-122"/>
              </a:rPr>
              <a:t>对公司产品的理解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zh-CN" altLang="en-US" dirty="0">
                <a:latin typeface="宋体" panose="02010600030101010101" pitchFamily="2" charset="-122"/>
              </a:rPr>
              <a:t>云市场火热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zh-CN" altLang="en-US" dirty="0">
                <a:latin typeface="宋体" panose="02010600030101010101" pitchFamily="2" charset="-122"/>
              </a:rPr>
              <a:t>数据安全是刚需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zh-CN" altLang="en-US" dirty="0">
                <a:latin typeface="宋体" panose="02010600030101010101" pitchFamily="2" charset="-122"/>
              </a:rPr>
              <a:t>融合云，拥抱更广阔的云市场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zh-CN" altLang="en-US" dirty="0">
                <a:latin typeface="宋体" panose="02010600030101010101" pitchFamily="2" charset="-122"/>
              </a:rPr>
              <a:t>产品性能佳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zh-CN" altLang="en-US" dirty="0">
                <a:latin typeface="宋体" panose="02010600030101010101" pitchFamily="2" charset="-122"/>
              </a:rPr>
              <a:t>对竞品的简要分析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400" dirty="0">
                <a:latin typeface="宋体" panose="02010600030101010101" pitchFamily="2" charset="-122"/>
              </a:rPr>
              <a:t>1.</a:t>
            </a:r>
            <a:r>
              <a:rPr lang="zh-CN" altLang="en-US" sz="2400" dirty="0">
                <a:latin typeface="宋体" panose="02010600030101010101" pitchFamily="2" charset="-122"/>
              </a:rPr>
              <a:t>光华冠群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400" dirty="0">
                <a:latin typeface="宋体" panose="02010600030101010101" pitchFamily="2" charset="-122"/>
              </a:rPr>
              <a:t>2.</a:t>
            </a:r>
            <a:r>
              <a:rPr lang="zh-CN" altLang="en-US" sz="2400" dirty="0">
                <a:latin typeface="宋体" panose="02010600030101010101" pitchFamily="2" charset="-122"/>
              </a:rPr>
              <a:t>博云，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Avenir" panose="02000503020000020003"/>
              </a:rPr>
              <a:t>BeyondCube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39750" y="6308725"/>
            <a:ext cx="113634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100000"/>
              </a:spcBef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503050405090304" charset="0"/>
                <a:ea typeface="宋体" panose="02010600030101010101" pitchFamily="2" charset="-122"/>
              </a:rPr>
              <a:t>说明：从入职以来，请从产品、市场等角度，谈谈自己的体会。</a:t>
            </a:r>
            <a:endParaRPr lang="zh-CN" altLang="en-US" sz="2000" b="1" dirty="0">
              <a:solidFill>
                <a:srgbClr val="FF0000"/>
              </a:solidFill>
              <a:latin typeface="Times New Roman" panose="0202050305040509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50825" y="549275"/>
            <a:ext cx="7772400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/>
              <a:t>五、工作规划与展望</a:t>
            </a:r>
            <a:endParaRPr lang="zh-CN" altLang="en-US" sz="3200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106616" y="1844675"/>
            <a:ext cx="1165225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dirty="0"/>
              <a:t>1.</a:t>
            </a:r>
            <a:r>
              <a:rPr lang="zh-CN" altLang="en-US" dirty="0"/>
              <a:t>出色的完成本职工作。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2.</a:t>
            </a:r>
            <a:r>
              <a:rPr lang="zh-CN" altLang="en-US" dirty="0"/>
              <a:t>做一个对团队、公司有积极正影响的木浪人。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50825" y="549275"/>
            <a:ext cx="7772400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/>
              <a:t>六、畅所欲言</a:t>
            </a:r>
            <a:endParaRPr lang="zh-CN" altLang="en-US" sz="32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39750" y="1812925"/>
            <a:ext cx="1165225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/>
              <a:t>文档的整理归纳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FQ</a:t>
            </a:r>
            <a:r>
              <a:rPr lang="zh-CN" altLang="en-US" dirty="0"/>
              <a:t>问题的收集</a:t>
            </a:r>
            <a:endParaRPr lang="en-US" altLang="zh-CN" dirty="0"/>
          </a:p>
          <a:p>
            <a:pPr marL="0" indent="0"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WPS 演示</Application>
  <PresentationFormat>宽屏</PresentationFormat>
  <Paragraphs>99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方正书宋_GBK</vt:lpstr>
      <vt:lpstr>Wingdings</vt:lpstr>
      <vt:lpstr>Neris Thin</vt:lpstr>
      <vt:lpstr>苹方-简</vt:lpstr>
      <vt:lpstr>微软雅黑</vt:lpstr>
      <vt:lpstr>汉仪旗黑</vt:lpstr>
      <vt:lpstr>Calibri</vt:lpstr>
      <vt:lpstr>Helvetica Neue</vt:lpstr>
      <vt:lpstr>宋体</vt:lpstr>
      <vt:lpstr>汉仪书宋二KW</vt:lpstr>
      <vt:lpstr>Wingdings</vt:lpstr>
      <vt:lpstr>Times New Roman</vt:lpstr>
      <vt:lpstr>Avenir</vt:lpstr>
      <vt:lpstr>宋体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nuc</cp:lastModifiedBy>
  <cp:revision>27</cp:revision>
  <dcterms:created xsi:type="dcterms:W3CDTF">2020-12-16T02:36:35Z</dcterms:created>
  <dcterms:modified xsi:type="dcterms:W3CDTF">2020-12-16T02:36:35Z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2052-3.0.0.4824</vt:lpwstr>
  </property>
</Properties>
</file>