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Lst>
  <p:notesMasterIdLst>
    <p:notesMasterId r:id="rId32"/>
  </p:notesMasterIdLst>
  <p:handoutMasterIdLst>
    <p:handoutMasterId r:id="rId33"/>
  </p:handoutMasterIdLst>
  <p:sldIdLst>
    <p:sldId id="1319" r:id="rId5"/>
    <p:sldId id="1415" r:id="rId6"/>
    <p:sldId id="1381" r:id="rId7"/>
    <p:sldId id="1416" r:id="rId8"/>
    <p:sldId id="1417" r:id="rId9"/>
    <p:sldId id="1418" r:id="rId10"/>
    <p:sldId id="1387" r:id="rId11"/>
    <p:sldId id="1390" r:id="rId12"/>
    <p:sldId id="1467" r:id="rId13"/>
    <p:sldId id="1481" r:id="rId14"/>
    <p:sldId id="1419" r:id="rId15"/>
    <p:sldId id="1459" r:id="rId16"/>
    <p:sldId id="1469" r:id="rId17"/>
    <p:sldId id="1460" r:id="rId18"/>
    <p:sldId id="1470" r:id="rId19"/>
    <p:sldId id="1480" r:id="rId20"/>
    <p:sldId id="1472" r:id="rId21"/>
    <p:sldId id="1473" r:id="rId22"/>
    <p:sldId id="1474" r:id="rId23"/>
    <p:sldId id="1414" r:id="rId24"/>
    <p:sldId id="1468" r:id="rId25"/>
    <p:sldId id="1475" r:id="rId26"/>
    <p:sldId id="1476" r:id="rId27"/>
    <p:sldId id="1477" r:id="rId28"/>
    <p:sldId id="1413" r:id="rId29"/>
    <p:sldId id="1478" r:id="rId30"/>
    <p:sldId id="1204" r:id="rId31"/>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15:guide id="3" orient="horz" pos="3680" userDrawn="1">
          <p15:clr>
            <a:srgbClr val="A4A3A4"/>
          </p15:clr>
        </p15:guide>
        <p15:guide id="4" pos="3840">
          <p15:clr>
            <a:srgbClr val="A4A3A4"/>
          </p15:clr>
        </p15:guide>
      </p15:sldGuideLst>
    </p:ext>
    <p:ext uri="{2D200454-40CA-4A62-9FC3-DE9A4176ACB9}">
      <p15:notesGuideLst xmlns:p15="http://schemas.microsoft.com/office/powerpoint/2012/main">
        <p15:guide id="2" orient="horz" pos="482" userDrawn="1">
          <p15:clr>
            <a:srgbClr val="A4A3A4"/>
          </p15:clr>
        </p15:guide>
        <p15:guide id="3" orient="horz" pos="2908"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C5E6"/>
    <a:srgbClr val="B7E7FF"/>
    <a:srgbClr val="66CCFF"/>
    <a:srgbClr val="C00000"/>
    <a:srgbClr val="DFDFDF"/>
    <a:srgbClr val="CCECFF"/>
    <a:srgbClr val="D9D9D9"/>
    <a:srgbClr val="68AADA"/>
    <a:srgbClr val="1F81C7"/>
    <a:srgbClr val="C71F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26" autoAdjust="0"/>
    <p:restoredTop sz="95238" autoAdjust="0"/>
  </p:normalViewPr>
  <p:slideViewPr>
    <p:cSldViewPr showGuides="1">
      <p:cViewPr varScale="1">
        <p:scale>
          <a:sx n="86" d="100"/>
          <a:sy n="86" d="100"/>
        </p:scale>
        <p:origin x="696" y="62"/>
      </p:cViewPr>
      <p:guideLst>
        <p:guide orient="horz" pos="3680"/>
        <p:guide pos="3840"/>
      </p:guideLst>
    </p:cSldViewPr>
  </p:slideViewPr>
  <p:notesTextViewPr>
    <p:cViewPr>
      <p:scale>
        <a:sx n="125" d="100"/>
        <a:sy n="125" d="100"/>
      </p:scale>
      <p:origin x="0" y="0"/>
    </p:cViewPr>
  </p:notesTextViewPr>
  <p:sorterViewPr>
    <p:cViewPr>
      <p:scale>
        <a:sx n="66" d="100"/>
        <a:sy n="66" d="100"/>
      </p:scale>
      <p:origin x="0" y="3576"/>
    </p:cViewPr>
  </p:sorterViewPr>
  <p:notesViewPr>
    <p:cSldViewPr showGuides="1">
      <p:cViewPr varScale="1">
        <p:scale>
          <a:sx n="49" d="100"/>
          <a:sy n="49" d="100"/>
        </p:scale>
        <p:origin x="2448" y="48"/>
      </p:cViewPr>
      <p:guideLst>
        <p:guide orient="horz" pos="482"/>
        <p:guide orient="horz" pos="2908"/>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t>请将此处改为本章标题</a:t>
            </a:r>
            <a:endParaRPr lang="en-US" altLang="zh-CN"/>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a:t>Click here to add content</a:t>
            </a:r>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58088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normAutofit/>
          </a:bodyPr>
          <a:lstStyle/>
          <a:p>
            <a:r>
              <a:rPr lang="zh-CN" altLang="en-US" dirty="0"/>
              <a:t>与厂商专用硬件解耦：传统存储系统软硬件高度集成，</a:t>
            </a:r>
            <a:r>
              <a:rPr lang="en-US" altLang="zh-CN" dirty="0"/>
              <a:t>Server </a:t>
            </a:r>
            <a:r>
              <a:rPr lang="en-US" altLang="zh-CN" dirty="0" err="1"/>
              <a:t>SANc</a:t>
            </a:r>
            <a:r>
              <a:rPr lang="zh-CN" altLang="en-US" dirty="0"/>
              <a:t>产品与硬件解耦，不与特定硬件绑定。</a:t>
            </a:r>
            <a:endParaRPr lang="en-US" altLang="zh-CN" dirty="0"/>
          </a:p>
          <a:p>
            <a:r>
              <a:rPr lang="zh-CN" altLang="en-US" dirty="0"/>
              <a:t>存储与计算融合：</a:t>
            </a:r>
            <a:r>
              <a:rPr lang="en-US" altLang="zh-CN" dirty="0"/>
              <a:t>Server SAN</a:t>
            </a:r>
            <a:r>
              <a:rPr lang="zh-CN" altLang="en-US" dirty="0"/>
              <a:t>构建在通用</a:t>
            </a:r>
            <a:r>
              <a:rPr lang="en-US" altLang="zh-CN" dirty="0"/>
              <a:t>X86</a:t>
            </a:r>
            <a:r>
              <a:rPr lang="zh-CN" altLang="en-US" dirty="0"/>
              <a:t>服务器之上，计算和存储融合存在。</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SDS</a:t>
            </a:r>
            <a:r>
              <a:rPr lang="zh-CN" altLang="en-US" dirty="0"/>
              <a:t>概念：软件定义存储要将数据中心或者跨数据中心的各种存储资源抽象化、池化，以服务的形式提供给应用，满足应用按需</a:t>
            </a:r>
            <a:r>
              <a:rPr lang="en-US" altLang="zh-CN" dirty="0"/>
              <a:t>(</a:t>
            </a:r>
            <a:r>
              <a:rPr lang="zh-CN" altLang="en-US" dirty="0"/>
              <a:t>容量性能 、</a:t>
            </a:r>
            <a:r>
              <a:rPr lang="en-US" altLang="zh-CN" dirty="0" err="1"/>
              <a:t>QoS</a:t>
            </a:r>
            <a:r>
              <a:rPr lang="zh-CN" altLang="en-US" dirty="0"/>
              <a:t>、</a:t>
            </a:r>
            <a:r>
              <a:rPr lang="en-US" altLang="zh-CN" dirty="0"/>
              <a:t>SLA</a:t>
            </a:r>
            <a:r>
              <a:rPr lang="zh-CN" altLang="en-US" dirty="0"/>
              <a:t>等</a:t>
            </a:r>
            <a:r>
              <a:rPr lang="en-US" altLang="zh-CN" dirty="0"/>
              <a:t>)</a:t>
            </a:r>
            <a:r>
              <a:rPr lang="zh-CN" altLang="en-US" dirty="0"/>
              <a:t>自动化使用存储的需求。</a:t>
            </a:r>
            <a:r>
              <a:rPr lang="en-US" altLang="zh-CN" dirty="0"/>
              <a:t>SDS</a:t>
            </a:r>
            <a:r>
              <a:rPr lang="zh-CN" altLang="en-US" dirty="0"/>
              <a:t>不是全新的概念，它衍生于计算虚拟化，存储资源也需要抽象化、池化、可自动化使用。</a:t>
            </a:r>
            <a:endParaRPr lang="en-US" altLang="zh-CN" dirty="0"/>
          </a:p>
          <a:p>
            <a:r>
              <a:rPr lang="en-US" altLang="zh-CN" dirty="0"/>
              <a:t>SDS</a:t>
            </a:r>
            <a:r>
              <a:rPr lang="zh-CN" altLang="en-US" dirty="0"/>
              <a:t>是一种存储架构体系，不是一种单一的存储产品。</a:t>
            </a:r>
          </a:p>
        </p:txBody>
      </p:sp>
      <p:sp>
        <p:nvSpPr>
          <p:cNvPr id="7" name="幻灯片图像占位符 6"/>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33370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normAutofit/>
          </a:bodyPr>
          <a:lstStyle/>
          <a:p>
            <a:r>
              <a:rPr lang="zh-CN" altLang="en-US" dirty="0"/>
              <a:t>传统存储资源缺乏共享：传统存储设备和资源往往由不同厂家提供，之间无法进行资源共享，数据中心看到的是一个个孤立的存储资源。</a:t>
            </a:r>
            <a:endParaRPr lang="en-US" altLang="zh-CN" dirty="0"/>
          </a:p>
          <a:p>
            <a:r>
              <a:rPr lang="zh-CN" altLang="zh-CN" sz="1100" kern="1200" dirty="0">
                <a:solidFill>
                  <a:schemeClr val="tx1"/>
                </a:solidFill>
                <a:latin typeface="FrutigerNext LT Regular" pitchFamily="34" charset="0"/>
                <a:ea typeface="华文细黑" pitchFamily="2" charset="-122"/>
                <a:cs typeface="+mn-cs"/>
              </a:rPr>
              <a:t>传统存储一般采用集中式元数据管理方式，元数据中会记录所有</a:t>
            </a:r>
            <a:r>
              <a:rPr lang="en-US" altLang="zh-CN" sz="1100" kern="1200" dirty="0">
                <a:solidFill>
                  <a:schemeClr val="tx1"/>
                </a:solidFill>
                <a:latin typeface="FrutigerNext LT Regular" pitchFamily="34" charset="0"/>
                <a:ea typeface="华文细黑" pitchFamily="2" charset="-122"/>
                <a:cs typeface="+mn-cs"/>
              </a:rPr>
              <a:t>LUN</a:t>
            </a:r>
            <a:r>
              <a:rPr lang="zh-CN" altLang="zh-CN" sz="1100" kern="1200" dirty="0">
                <a:solidFill>
                  <a:schemeClr val="tx1"/>
                </a:solidFill>
                <a:latin typeface="FrutigerNext LT Regular" pitchFamily="34" charset="0"/>
                <a:ea typeface="华文细黑" pitchFamily="2" charset="-122"/>
                <a:cs typeface="+mn-cs"/>
              </a:rPr>
              <a:t>中不同偏移量的数据在硬盘中的分布，例如</a:t>
            </a:r>
            <a:r>
              <a:rPr lang="en-US" altLang="zh-CN" sz="1100" kern="1200" dirty="0">
                <a:solidFill>
                  <a:schemeClr val="tx1"/>
                </a:solidFill>
                <a:latin typeface="FrutigerNext LT Regular" pitchFamily="34" charset="0"/>
                <a:ea typeface="华文细黑" pitchFamily="2" charset="-122"/>
                <a:cs typeface="+mn-cs"/>
              </a:rPr>
              <a:t>LUN1+LBA1</a:t>
            </a:r>
            <a:r>
              <a:rPr lang="zh-CN" altLang="zh-CN" sz="1100" kern="1200" dirty="0">
                <a:solidFill>
                  <a:schemeClr val="tx1"/>
                </a:solidFill>
                <a:latin typeface="FrutigerNext LT Regular" pitchFamily="34" charset="0"/>
                <a:ea typeface="华文细黑" pitchFamily="2" charset="-122"/>
                <a:cs typeface="+mn-cs"/>
              </a:rPr>
              <a:t>地址起始的</a:t>
            </a:r>
            <a:r>
              <a:rPr lang="en-US" altLang="zh-CN" sz="1100" kern="1200" dirty="0">
                <a:solidFill>
                  <a:schemeClr val="tx1"/>
                </a:solidFill>
                <a:latin typeface="FrutigerNext LT Regular" pitchFamily="34" charset="0"/>
                <a:ea typeface="华文细黑" pitchFamily="2" charset="-122"/>
                <a:cs typeface="+mn-cs"/>
              </a:rPr>
              <a:t>4KB</a:t>
            </a:r>
            <a:r>
              <a:rPr lang="zh-CN" altLang="zh-CN" sz="1100" kern="1200" dirty="0">
                <a:solidFill>
                  <a:schemeClr val="tx1"/>
                </a:solidFill>
                <a:latin typeface="FrutigerNext LT Regular" pitchFamily="34" charset="0"/>
                <a:ea typeface="华文细黑" pitchFamily="2" charset="-122"/>
                <a:cs typeface="+mn-cs"/>
              </a:rPr>
              <a:t>长度的数据分布在第</a:t>
            </a:r>
            <a:r>
              <a:rPr lang="en-US" altLang="zh-CN" sz="1100" kern="1200" dirty="0">
                <a:solidFill>
                  <a:schemeClr val="tx1"/>
                </a:solidFill>
                <a:latin typeface="FrutigerNext LT Regular" pitchFamily="34" charset="0"/>
                <a:ea typeface="华文细黑" pitchFamily="2" charset="-122"/>
                <a:cs typeface="+mn-cs"/>
              </a:rPr>
              <a:t>32</a:t>
            </a:r>
            <a:r>
              <a:rPr lang="zh-CN" altLang="zh-CN" sz="1100" kern="1200" dirty="0">
                <a:solidFill>
                  <a:schemeClr val="tx1"/>
                </a:solidFill>
                <a:latin typeface="FrutigerNext LT Regular" pitchFamily="34" charset="0"/>
                <a:ea typeface="华文细黑" pitchFamily="2" charset="-122"/>
                <a:cs typeface="+mn-cs"/>
              </a:rPr>
              <a:t>块硬盘的</a:t>
            </a:r>
            <a:r>
              <a:rPr lang="en-US" altLang="zh-CN" sz="1100" kern="1200" dirty="0">
                <a:solidFill>
                  <a:schemeClr val="tx1"/>
                </a:solidFill>
                <a:latin typeface="FrutigerNext LT Regular" pitchFamily="34" charset="0"/>
                <a:ea typeface="华文细黑" pitchFamily="2" charset="-122"/>
                <a:cs typeface="+mn-cs"/>
              </a:rPr>
              <a:t>LBA2</a:t>
            </a:r>
            <a:r>
              <a:rPr lang="zh-CN" altLang="zh-CN" sz="1100" kern="1200" dirty="0">
                <a:solidFill>
                  <a:schemeClr val="tx1"/>
                </a:solidFill>
                <a:latin typeface="FrutigerNext LT Regular" pitchFamily="34" charset="0"/>
                <a:ea typeface="华文细黑" pitchFamily="2" charset="-122"/>
                <a:cs typeface="+mn-cs"/>
              </a:rPr>
              <a:t>上。每次</a:t>
            </a:r>
            <a:r>
              <a:rPr lang="en-US" altLang="zh-CN" sz="1100" kern="1200" dirty="0">
                <a:solidFill>
                  <a:schemeClr val="tx1"/>
                </a:solidFill>
                <a:latin typeface="FrutigerNext LT Regular" pitchFamily="34" charset="0"/>
                <a:ea typeface="华文细黑" pitchFamily="2" charset="-122"/>
                <a:cs typeface="+mn-cs"/>
              </a:rPr>
              <a:t>IO</a:t>
            </a:r>
            <a:r>
              <a:rPr lang="zh-CN" altLang="zh-CN" sz="1100" kern="1200" dirty="0">
                <a:solidFill>
                  <a:schemeClr val="tx1"/>
                </a:solidFill>
                <a:latin typeface="FrutigerNext LT Regular" pitchFamily="34" charset="0"/>
                <a:ea typeface="华文细黑" pitchFamily="2" charset="-122"/>
                <a:cs typeface="+mn-cs"/>
              </a:rPr>
              <a:t>操作都需要去查询元数据服务，随着系统规模逐渐变大，元数据的容量也会越来越大，系统所能提供的并发操作能力将受限于元数据服务所在服务器的能力，元数据服务将会成为系统的性能瓶颈。</a:t>
            </a:r>
            <a:endParaRPr lang="en-US" altLang="zh-CN" dirty="0"/>
          </a:p>
          <a:p>
            <a:endParaRPr lang="en-US" altLang="zh-CN" dirty="0"/>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normAutofit/>
          </a:bodyPr>
          <a:lstStyle/>
          <a:p>
            <a:r>
              <a:rPr lang="zh-CN" altLang="en-US" dirty="0"/>
              <a:t>数据中心级资源共享：一个数据中心内可以构建一个很大的存储资源池，满足数据中心内各类应用对存储容量，性能和可靠性的需求；实现资源共享和统一管理。</a:t>
            </a:r>
            <a:endParaRPr lang="en-US" altLang="zh-CN" dirty="0"/>
          </a:p>
          <a:p>
            <a:r>
              <a:rPr lang="zh-CN" altLang="en-US" dirty="0"/>
              <a:t>云数据中心的新存储投资选择。</a:t>
            </a:r>
            <a:endParaRPr lang="en-US" altLang="zh-CN" dirty="0"/>
          </a:p>
          <a:p>
            <a:r>
              <a:rPr lang="en-US" altLang="zh-CN" dirty="0"/>
              <a:t>VBS</a:t>
            </a:r>
            <a:r>
              <a:rPr lang="zh-CN" altLang="en-US" dirty="0"/>
              <a:t>，</a:t>
            </a:r>
            <a:r>
              <a:rPr lang="en-US" altLang="zh-CN" dirty="0"/>
              <a:t>OSD</a:t>
            </a:r>
            <a:r>
              <a:rPr lang="zh-CN" altLang="en-US" dirty="0"/>
              <a:t>等会在后面介绍。</a:t>
            </a:r>
            <a:endParaRPr lang="en-US" altLang="zh-CN" dirty="0"/>
          </a:p>
          <a:p>
            <a:r>
              <a:rPr lang="en-US" altLang="zh-CN" sz="1100" kern="1200" dirty="0">
                <a:solidFill>
                  <a:schemeClr val="tx1"/>
                </a:solidFill>
                <a:latin typeface="FrutigerNext LT Regular" pitchFamily="34" charset="0"/>
                <a:ea typeface="华文细黑" pitchFamily="2" charset="-122"/>
                <a:cs typeface="+mn-cs"/>
              </a:rPr>
              <a:t>FusionStorage</a:t>
            </a:r>
            <a:r>
              <a:rPr lang="zh-CN" altLang="zh-CN" sz="1100" kern="1200" dirty="0">
                <a:solidFill>
                  <a:schemeClr val="tx1"/>
                </a:solidFill>
                <a:latin typeface="FrutigerNext LT Regular" pitchFamily="34" charset="0"/>
                <a:ea typeface="华文细黑" pitchFamily="2" charset="-122"/>
                <a:cs typeface="+mn-cs"/>
              </a:rPr>
              <a:t>采用的</a:t>
            </a:r>
            <a:r>
              <a:rPr lang="en-US" altLang="zh-CN" sz="1100" kern="1200" dirty="0">
                <a:solidFill>
                  <a:schemeClr val="tx1"/>
                </a:solidFill>
                <a:latin typeface="FrutigerNext LT Regular" pitchFamily="34" charset="0"/>
                <a:ea typeface="华文细黑" pitchFamily="2" charset="-122"/>
                <a:cs typeface="+mn-cs"/>
              </a:rPr>
              <a:t>DHT</a:t>
            </a:r>
            <a:r>
              <a:rPr lang="zh-CN" altLang="zh-CN" sz="1100" kern="1200" dirty="0">
                <a:solidFill>
                  <a:schemeClr val="tx1"/>
                </a:solidFill>
                <a:latin typeface="FrutigerNext LT Regular" pitchFamily="34" charset="0"/>
                <a:ea typeface="华文细黑" pitchFamily="2" charset="-122"/>
                <a:cs typeface="+mn-cs"/>
              </a:rPr>
              <a:t>算法具有以下特点：</a:t>
            </a:r>
          </a:p>
          <a:p>
            <a:pPr lvl="1"/>
            <a:r>
              <a:rPr lang="zh-CN" altLang="zh-CN" sz="1100" kern="1200" dirty="0">
                <a:solidFill>
                  <a:schemeClr val="tx1"/>
                </a:solidFill>
                <a:latin typeface="FrutigerNext LT Regular" pitchFamily="34" charset="0"/>
                <a:ea typeface="华文细黑" pitchFamily="2" charset="-122"/>
                <a:cs typeface="+mn-cs"/>
              </a:rPr>
              <a:t>均衡性：数据能够尽可能分布到所有的节点中，这样可以使得所有节点负载均衡。</a:t>
            </a:r>
          </a:p>
          <a:p>
            <a:pPr lvl="1"/>
            <a:r>
              <a:rPr lang="zh-CN" altLang="zh-CN" sz="1100" kern="1200" dirty="0">
                <a:solidFill>
                  <a:schemeClr val="tx1"/>
                </a:solidFill>
                <a:latin typeface="FrutigerNext LT Regular" pitchFamily="34" charset="0"/>
                <a:ea typeface="华文细黑" pitchFamily="2" charset="-122"/>
                <a:cs typeface="+mn-cs"/>
              </a:rPr>
              <a:t>单调性：当有新节点加入系统中，系统会重新做数据分配，数据迁移仅涉及新增节点，现有节点上的数据不需要做很大调整。</a:t>
            </a:r>
            <a:endParaRPr lang="en-US" altLang="zh-CN" sz="1100" kern="1200" dirty="0">
              <a:solidFill>
                <a:schemeClr val="tx1"/>
              </a:solidFill>
              <a:latin typeface="FrutigerNext LT Regular" pitchFamily="34" charset="0"/>
              <a:ea typeface="华文细黑" pitchFamily="2" charset="-122"/>
              <a:cs typeface="+mn-cs"/>
            </a:endParaRPr>
          </a:p>
          <a:p>
            <a:pPr lvl="0"/>
            <a:r>
              <a:rPr lang="en-US" altLang="zh-CN" sz="1100" kern="1200" dirty="0">
                <a:solidFill>
                  <a:schemeClr val="tx1"/>
                </a:solidFill>
                <a:latin typeface="FrutigerNext LT Regular" pitchFamily="34" charset="0"/>
                <a:ea typeface="华文细黑" pitchFamily="2" charset="-122"/>
                <a:cs typeface="+mn-cs"/>
              </a:rPr>
              <a:t>FusionStorage</a:t>
            </a:r>
            <a:r>
              <a:rPr lang="zh-CN" altLang="zh-CN" sz="1100" kern="1200" dirty="0">
                <a:solidFill>
                  <a:schemeClr val="tx1"/>
                </a:solidFill>
                <a:latin typeface="FrutigerNext LT Regular" pitchFamily="34" charset="0"/>
                <a:ea typeface="华文细黑" pitchFamily="2" charset="-122"/>
                <a:cs typeface="+mn-cs"/>
              </a:rPr>
              <a:t>通过创新的架构把分散的、低速的</a:t>
            </a:r>
            <a:r>
              <a:rPr lang="en-US" altLang="zh-CN" sz="1100" kern="1200" dirty="0">
                <a:solidFill>
                  <a:schemeClr val="tx1"/>
                </a:solidFill>
                <a:latin typeface="FrutigerNext LT Regular" pitchFamily="34" charset="0"/>
                <a:ea typeface="华文细黑" pitchFamily="2" charset="-122"/>
                <a:cs typeface="+mn-cs"/>
              </a:rPr>
              <a:t>SATA/SAS</a:t>
            </a:r>
            <a:r>
              <a:rPr lang="zh-CN" altLang="zh-CN" sz="1100" kern="1200" dirty="0">
                <a:solidFill>
                  <a:schemeClr val="tx1"/>
                </a:solidFill>
                <a:latin typeface="FrutigerNext LT Regular" pitchFamily="34" charset="0"/>
                <a:ea typeface="华文细黑" pitchFamily="2" charset="-122"/>
                <a:cs typeface="+mn-cs"/>
              </a:rPr>
              <a:t>机械硬盘组织成一个高效的类</a:t>
            </a:r>
            <a:r>
              <a:rPr lang="en-US" altLang="zh-CN" sz="1100" kern="1200" dirty="0">
                <a:solidFill>
                  <a:schemeClr val="tx1"/>
                </a:solidFill>
                <a:latin typeface="FrutigerNext LT Regular" pitchFamily="34" charset="0"/>
                <a:ea typeface="华文细黑" pitchFamily="2" charset="-122"/>
                <a:cs typeface="+mn-cs"/>
              </a:rPr>
              <a:t>SAN</a:t>
            </a:r>
            <a:r>
              <a:rPr lang="zh-CN" altLang="zh-CN" sz="1100" kern="1200" dirty="0">
                <a:solidFill>
                  <a:schemeClr val="tx1"/>
                </a:solidFill>
                <a:latin typeface="FrutigerNext LT Regular" pitchFamily="34" charset="0"/>
                <a:ea typeface="华文细黑" pitchFamily="2" charset="-122"/>
                <a:cs typeface="+mn-cs"/>
              </a:rPr>
              <a:t>存储池设备，提供比</a:t>
            </a:r>
            <a:r>
              <a:rPr lang="en-US" altLang="zh-CN" sz="1100" kern="1200" dirty="0">
                <a:solidFill>
                  <a:schemeClr val="tx1"/>
                </a:solidFill>
                <a:latin typeface="FrutigerNext LT Regular" pitchFamily="34" charset="0"/>
                <a:ea typeface="华文细黑" pitchFamily="2" charset="-122"/>
                <a:cs typeface="+mn-cs"/>
              </a:rPr>
              <a:t>SAN</a:t>
            </a:r>
            <a:r>
              <a:rPr lang="zh-CN" altLang="zh-CN" sz="1100" kern="1200" dirty="0">
                <a:solidFill>
                  <a:schemeClr val="tx1"/>
                </a:solidFill>
                <a:latin typeface="FrutigerNext LT Regular" pitchFamily="34" charset="0"/>
                <a:ea typeface="华文细黑" pitchFamily="2" charset="-122"/>
                <a:cs typeface="+mn-cs"/>
              </a:rPr>
              <a:t>设备更高的</a:t>
            </a:r>
            <a:r>
              <a:rPr lang="en-US" altLang="zh-CN" sz="1100" kern="1200" dirty="0">
                <a:solidFill>
                  <a:schemeClr val="tx1"/>
                </a:solidFill>
                <a:latin typeface="FrutigerNext LT Regular" pitchFamily="34" charset="0"/>
                <a:ea typeface="华文细黑" pitchFamily="2" charset="-122"/>
                <a:cs typeface="+mn-cs"/>
              </a:rPr>
              <a:t>IO</a:t>
            </a:r>
            <a:r>
              <a:rPr lang="zh-CN" altLang="zh-CN" sz="1100" kern="1200" dirty="0">
                <a:solidFill>
                  <a:schemeClr val="tx1"/>
                </a:solidFill>
                <a:latin typeface="FrutigerNext LT Regular" pitchFamily="34" charset="0"/>
                <a:ea typeface="华文细黑" pitchFamily="2" charset="-122"/>
                <a:cs typeface="+mn-cs"/>
              </a:rPr>
              <a:t>，把性能发挥到了极致</a:t>
            </a:r>
            <a:r>
              <a:rPr lang="zh-CN" altLang="en-US" sz="1100" kern="1200" dirty="0">
                <a:solidFill>
                  <a:schemeClr val="tx1"/>
                </a:solidFill>
                <a:latin typeface="FrutigerNext LT Regular" pitchFamily="34" charset="0"/>
                <a:ea typeface="华文细黑" pitchFamily="2" charset="-122"/>
                <a:cs typeface="+mn-cs"/>
              </a:rPr>
              <a:t>；性能提升</a:t>
            </a:r>
            <a:r>
              <a:rPr lang="en-US" altLang="zh-CN" sz="1100" kern="1200" dirty="0">
                <a:solidFill>
                  <a:schemeClr val="tx1"/>
                </a:solidFill>
                <a:latin typeface="FrutigerNext LT Regular" pitchFamily="34" charset="0"/>
                <a:ea typeface="华文细黑" pitchFamily="2" charset="-122"/>
                <a:cs typeface="+mn-cs"/>
              </a:rPr>
              <a:t>1-3</a:t>
            </a:r>
            <a:r>
              <a:rPr lang="zh-CN" altLang="en-US" sz="1100" kern="1200" dirty="0">
                <a:solidFill>
                  <a:schemeClr val="tx1"/>
                </a:solidFill>
                <a:latin typeface="FrutigerNext LT Regular" pitchFamily="34" charset="0"/>
                <a:ea typeface="华文细黑" pitchFamily="2" charset="-122"/>
                <a:cs typeface="+mn-cs"/>
              </a:rPr>
              <a:t>倍。</a:t>
            </a:r>
            <a:endParaRPr lang="en-US" altLang="zh-CN" sz="1100" kern="1200" dirty="0">
              <a:solidFill>
                <a:schemeClr val="tx1"/>
              </a:solidFill>
              <a:latin typeface="FrutigerNext LT Regular" pitchFamily="34" charset="0"/>
              <a:ea typeface="华文细黑" pitchFamily="2" charset="-122"/>
              <a:cs typeface="+mn-cs"/>
            </a:endParaRPr>
          </a:p>
          <a:p>
            <a:pPr marL="180975" marR="0" lvl="0" indent="-180975" algn="l" defTabSz="914400" rtl="0" eaLnBrk="0" fontAlgn="base" latinLnBrk="0" hangingPunct="0">
              <a:lnSpc>
                <a:spcPct val="125000"/>
              </a:lnSpc>
              <a:spcBef>
                <a:spcPct val="0"/>
              </a:spcBef>
              <a:spcAft>
                <a:spcPts val="600"/>
              </a:spcAft>
              <a:buClrTx/>
              <a:buSzPct val="60000"/>
              <a:buFont typeface="Wingdings" pitchFamily="2" charset="2"/>
              <a:buChar char="l"/>
              <a:tabLst/>
              <a:defRPr/>
            </a:pPr>
            <a:r>
              <a:rPr lang="en-US" altLang="zh-CN" sz="1100" kern="1200" dirty="0">
                <a:solidFill>
                  <a:schemeClr val="tx1"/>
                </a:solidFill>
                <a:latin typeface="FrutigerNext LT Regular" pitchFamily="34" charset="0"/>
                <a:ea typeface="华文细黑" pitchFamily="2" charset="-122"/>
                <a:cs typeface="+mn-cs"/>
              </a:rPr>
              <a:t>FusionStorage</a:t>
            </a:r>
            <a:r>
              <a:rPr lang="zh-CN" altLang="zh-CN" sz="1100" kern="1200" dirty="0">
                <a:solidFill>
                  <a:schemeClr val="tx1"/>
                </a:solidFill>
                <a:latin typeface="FrutigerNext LT Regular" pitchFamily="34" charset="0"/>
                <a:ea typeface="华文细黑" pitchFamily="2" charset="-122"/>
                <a:cs typeface="+mn-cs"/>
              </a:rPr>
              <a:t>采用无状态的分布式软件机头，机头部署在各个服务器上，无集中式机头的性能瓶颈。单个服务器上软件机头只占用较少的</a:t>
            </a:r>
            <a:r>
              <a:rPr lang="en-US" altLang="zh-CN" sz="1100" kern="1200" dirty="0">
                <a:solidFill>
                  <a:schemeClr val="tx1"/>
                </a:solidFill>
                <a:latin typeface="FrutigerNext LT Regular" pitchFamily="34" charset="0"/>
                <a:ea typeface="华文细黑" pitchFamily="2" charset="-122"/>
                <a:cs typeface="+mn-cs"/>
              </a:rPr>
              <a:t>CPU</a:t>
            </a:r>
            <a:r>
              <a:rPr lang="zh-CN" altLang="zh-CN" sz="1100" kern="1200" dirty="0">
                <a:solidFill>
                  <a:schemeClr val="tx1"/>
                </a:solidFill>
                <a:latin typeface="FrutigerNext LT Regular" pitchFamily="34" charset="0"/>
                <a:ea typeface="华文细黑" pitchFamily="2" charset="-122"/>
                <a:cs typeface="+mn-cs"/>
              </a:rPr>
              <a:t>资源，提供比集中式机头更高的</a:t>
            </a:r>
            <a:r>
              <a:rPr lang="en-US" altLang="zh-CN" sz="1100" kern="1200" dirty="0">
                <a:solidFill>
                  <a:schemeClr val="tx1"/>
                </a:solidFill>
                <a:latin typeface="FrutigerNext LT Regular" pitchFamily="34" charset="0"/>
                <a:ea typeface="华文细黑" pitchFamily="2" charset="-122"/>
                <a:cs typeface="+mn-cs"/>
              </a:rPr>
              <a:t>IOPS</a:t>
            </a:r>
            <a:r>
              <a:rPr lang="zh-CN" altLang="zh-CN" sz="1100" kern="1200" dirty="0">
                <a:solidFill>
                  <a:schemeClr val="tx1"/>
                </a:solidFill>
                <a:latin typeface="FrutigerNext LT Regular" pitchFamily="34" charset="0"/>
                <a:ea typeface="华文细黑" pitchFamily="2" charset="-122"/>
                <a:cs typeface="+mn-cs"/>
              </a:rPr>
              <a:t>和吞吐量。</a:t>
            </a:r>
            <a:endParaRPr lang="en-US" altLang="zh-CN" sz="1100" kern="1200" dirty="0">
              <a:solidFill>
                <a:schemeClr val="tx1"/>
              </a:solidFill>
              <a:latin typeface="FrutigerNext LT Regular" pitchFamily="34" charset="0"/>
              <a:ea typeface="华文细黑" pitchFamily="2" charset="-122"/>
              <a:cs typeface="+mn-cs"/>
            </a:endParaRPr>
          </a:p>
          <a:p>
            <a:pPr marL="541338" marR="0" lvl="1" indent="-180975" algn="l" defTabSz="914400" rtl="0" eaLnBrk="0" fontAlgn="base" latinLnBrk="0" hangingPunct="0">
              <a:lnSpc>
                <a:spcPct val="125000"/>
              </a:lnSpc>
              <a:spcBef>
                <a:spcPct val="0"/>
              </a:spcBef>
              <a:spcAft>
                <a:spcPts val="600"/>
              </a:spcAft>
              <a:buClrTx/>
              <a:buSzPct val="60000"/>
              <a:buFont typeface="Wingdings" pitchFamily="2" charset="2"/>
              <a:buChar char="p"/>
              <a:tabLst/>
              <a:defRPr/>
            </a:pPr>
            <a:r>
              <a:rPr lang="zh-CN" altLang="zh-CN" sz="1100" kern="1200" dirty="0">
                <a:solidFill>
                  <a:schemeClr val="tx1"/>
                </a:solidFill>
                <a:latin typeface="FrutigerNext LT Regular" pitchFamily="34" charset="0"/>
                <a:ea typeface="华文细黑" pitchFamily="2" charset="-122"/>
                <a:cs typeface="+mn-cs"/>
              </a:rPr>
              <a:t>例如：假设系统中有</a:t>
            </a:r>
            <a:r>
              <a:rPr lang="en-US" altLang="zh-CN" sz="1100" kern="1200" dirty="0">
                <a:solidFill>
                  <a:schemeClr val="tx1"/>
                </a:solidFill>
                <a:latin typeface="FrutigerNext LT Regular" pitchFamily="34" charset="0"/>
                <a:ea typeface="华文细黑" pitchFamily="2" charset="-122"/>
                <a:cs typeface="+mn-cs"/>
              </a:rPr>
              <a:t>20</a:t>
            </a:r>
            <a:r>
              <a:rPr lang="zh-CN" altLang="zh-CN" sz="1100" kern="1200" dirty="0">
                <a:solidFill>
                  <a:schemeClr val="tx1"/>
                </a:solidFill>
                <a:latin typeface="FrutigerNext LT Regular" pitchFamily="34" charset="0"/>
                <a:ea typeface="华文细黑" pitchFamily="2" charset="-122"/>
                <a:cs typeface="+mn-cs"/>
              </a:rPr>
              <a:t>台服务器需要访问</a:t>
            </a:r>
            <a:r>
              <a:rPr lang="en-US" altLang="zh-CN" sz="1100" kern="1200" dirty="0">
                <a:solidFill>
                  <a:schemeClr val="tx1"/>
                </a:solidFill>
                <a:latin typeface="FrutigerNext LT Regular" pitchFamily="34" charset="0"/>
                <a:ea typeface="华文细黑" pitchFamily="2" charset="-122"/>
                <a:cs typeface="+mn-cs"/>
              </a:rPr>
              <a:t>FusionStorage</a:t>
            </a:r>
            <a:r>
              <a:rPr lang="zh-CN" altLang="zh-CN" sz="1100" kern="1200" dirty="0">
                <a:solidFill>
                  <a:schemeClr val="tx1"/>
                </a:solidFill>
                <a:latin typeface="FrutigerNext LT Regular" pitchFamily="34" charset="0"/>
                <a:ea typeface="华文细黑" pitchFamily="2" charset="-122"/>
                <a:cs typeface="+mn-cs"/>
              </a:rPr>
              <a:t>提供的存储资源，每台服务器提供给存储平面的带宽为</a:t>
            </a:r>
            <a:r>
              <a:rPr lang="en-US" altLang="zh-CN" sz="1100" kern="1200" dirty="0">
                <a:solidFill>
                  <a:schemeClr val="tx1"/>
                </a:solidFill>
                <a:latin typeface="FrutigerNext LT Regular" pitchFamily="34" charset="0"/>
                <a:ea typeface="华文细黑" pitchFamily="2" charset="-122"/>
                <a:cs typeface="+mn-cs"/>
              </a:rPr>
              <a:t>2*10Gb</a:t>
            </a:r>
            <a:r>
              <a:rPr lang="zh-CN" altLang="zh-CN" sz="1100" kern="1200" dirty="0">
                <a:solidFill>
                  <a:schemeClr val="tx1"/>
                </a:solidFill>
                <a:latin typeface="FrutigerNext LT Regular" pitchFamily="34" charset="0"/>
                <a:ea typeface="华文细黑" pitchFamily="2" charset="-122"/>
                <a:cs typeface="+mn-cs"/>
              </a:rPr>
              <a:t>，我们在每台服务器中部署</a:t>
            </a:r>
            <a:r>
              <a:rPr lang="en-US" altLang="zh-CN" sz="1100" kern="1200" dirty="0">
                <a:solidFill>
                  <a:schemeClr val="tx1"/>
                </a:solidFill>
                <a:latin typeface="FrutigerNext LT Regular" pitchFamily="34" charset="0"/>
                <a:ea typeface="华文细黑" pitchFamily="2" charset="-122"/>
                <a:cs typeface="+mn-cs"/>
              </a:rPr>
              <a:t>1</a:t>
            </a:r>
            <a:r>
              <a:rPr lang="zh-CN" altLang="zh-CN" sz="1100" kern="1200" dirty="0">
                <a:solidFill>
                  <a:schemeClr val="tx1"/>
                </a:solidFill>
                <a:latin typeface="FrutigerNext LT Regular" pitchFamily="34" charset="0"/>
                <a:ea typeface="华文细黑" pitchFamily="2" charset="-122"/>
                <a:cs typeface="+mn-cs"/>
              </a:rPr>
              <a:t>个</a:t>
            </a:r>
            <a:r>
              <a:rPr lang="en-US" altLang="zh-CN" sz="1100" kern="1200" dirty="0">
                <a:solidFill>
                  <a:schemeClr val="tx1"/>
                </a:solidFill>
                <a:latin typeface="FrutigerNext LT Regular" pitchFamily="34" charset="0"/>
                <a:ea typeface="华文细黑" pitchFamily="2" charset="-122"/>
                <a:cs typeface="+mn-cs"/>
              </a:rPr>
              <a:t>VBS</a:t>
            </a:r>
            <a:r>
              <a:rPr lang="zh-CN" altLang="zh-CN" sz="1100" kern="1200" dirty="0">
                <a:solidFill>
                  <a:schemeClr val="tx1"/>
                </a:solidFill>
                <a:latin typeface="FrutigerNext LT Regular" pitchFamily="34" charset="0"/>
                <a:ea typeface="华文细黑" pitchFamily="2" charset="-122"/>
                <a:cs typeface="+mn-cs"/>
              </a:rPr>
              <a:t>模块（相当于在每台服务器中部署</a:t>
            </a:r>
            <a:r>
              <a:rPr lang="en-US" altLang="zh-CN" sz="1100" kern="1200" dirty="0">
                <a:solidFill>
                  <a:schemeClr val="tx1"/>
                </a:solidFill>
                <a:latin typeface="FrutigerNext LT Regular" pitchFamily="34" charset="0"/>
                <a:ea typeface="华文细黑" pitchFamily="2" charset="-122"/>
                <a:cs typeface="+mn-cs"/>
              </a:rPr>
              <a:t>1</a:t>
            </a:r>
            <a:r>
              <a:rPr lang="zh-CN" altLang="zh-CN" sz="1100" kern="1200" dirty="0">
                <a:solidFill>
                  <a:schemeClr val="tx1"/>
                </a:solidFill>
                <a:latin typeface="FrutigerNext LT Regular" pitchFamily="34" charset="0"/>
                <a:ea typeface="华文细黑" pitchFamily="2" charset="-122"/>
                <a:cs typeface="+mn-cs"/>
              </a:rPr>
              <a:t>个存储机头），</a:t>
            </a:r>
            <a:r>
              <a:rPr lang="en-US" altLang="zh-CN" sz="1100" kern="1200" dirty="0">
                <a:solidFill>
                  <a:schemeClr val="tx1"/>
                </a:solidFill>
                <a:latin typeface="FrutigerNext LT Regular" pitchFamily="34" charset="0"/>
                <a:ea typeface="华文细黑" pitchFamily="2" charset="-122"/>
                <a:cs typeface="+mn-cs"/>
              </a:rPr>
              <a:t>20</a:t>
            </a:r>
            <a:r>
              <a:rPr lang="zh-CN" altLang="zh-CN" sz="1100" kern="1200" dirty="0">
                <a:solidFill>
                  <a:schemeClr val="tx1"/>
                </a:solidFill>
                <a:latin typeface="FrutigerNext LT Regular" pitchFamily="34" charset="0"/>
                <a:ea typeface="华文细黑" pitchFamily="2" charset="-122"/>
                <a:cs typeface="+mn-cs"/>
              </a:rPr>
              <a:t>台服务器意味着可部署</a:t>
            </a:r>
            <a:r>
              <a:rPr lang="en-US" altLang="zh-CN" sz="1100" kern="1200" dirty="0">
                <a:solidFill>
                  <a:schemeClr val="tx1"/>
                </a:solidFill>
                <a:latin typeface="FrutigerNext LT Regular" pitchFamily="34" charset="0"/>
                <a:ea typeface="华文细黑" pitchFamily="2" charset="-122"/>
                <a:cs typeface="+mn-cs"/>
              </a:rPr>
              <a:t>20</a:t>
            </a:r>
            <a:r>
              <a:rPr lang="zh-CN" altLang="zh-CN" sz="1100" kern="1200" dirty="0">
                <a:solidFill>
                  <a:schemeClr val="tx1"/>
                </a:solidFill>
                <a:latin typeface="FrutigerNext LT Regular" pitchFamily="34" charset="0"/>
                <a:ea typeface="华文细黑" pitchFamily="2" charset="-122"/>
                <a:cs typeface="+mn-cs"/>
              </a:rPr>
              <a:t>个存储机头，所能获取到的总吞吐量最高可达</a:t>
            </a:r>
            <a:r>
              <a:rPr lang="en-US" altLang="zh-CN" sz="1100" kern="1200" dirty="0">
                <a:solidFill>
                  <a:schemeClr val="tx1"/>
                </a:solidFill>
                <a:latin typeface="FrutigerNext LT Regular" pitchFamily="34" charset="0"/>
                <a:ea typeface="华文细黑" pitchFamily="2" charset="-122"/>
                <a:cs typeface="+mn-cs"/>
              </a:rPr>
              <a:t>20*2*10Gb=400Gb</a:t>
            </a:r>
            <a:r>
              <a:rPr lang="zh-CN" altLang="zh-CN" sz="1100" kern="1200" dirty="0">
                <a:solidFill>
                  <a:schemeClr val="tx1"/>
                </a:solidFill>
                <a:latin typeface="FrutigerNext LT Regular" pitchFamily="34" charset="0"/>
                <a:ea typeface="华文细黑" pitchFamily="2" charset="-122"/>
                <a:cs typeface="+mn-cs"/>
              </a:rPr>
              <a:t>，随着集群规模的不断扩大，可以线性增加的存储机头，突破了传统的双控或者多控存储系统集中式机头的性能瓶颈。</a:t>
            </a:r>
          </a:p>
          <a:p>
            <a:pPr lvl="0"/>
            <a:endParaRPr lang="en-US" altLang="zh-CN" dirty="0"/>
          </a:p>
          <a:p>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normAutofit/>
          </a:bodyPr>
          <a:lstStyle/>
          <a:p>
            <a:r>
              <a:rPr lang="zh-CN" altLang="en-US" dirty="0">
                <a:solidFill>
                  <a:prstClr val="white"/>
                </a:solidFill>
                <a:cs typeface="+mn-ea"/>
                <a:sym typeface="+mn-lt"/>
              </a:rPr>
              <a:t>未来</a:t>
            </a:r>
            <a:r>
              <a:rPr lang="en-US" altLang="zh-CN" dirty="0">
                <a:solidFill>
                  <a:prstClr val="white"/>
                </a:solidFill>
                <a:cs typeface="+mn-ea"/>
                <a:sym typeface="+mn-lt"/>
              </a:rPr>
              <a:t>10</a:t>
            </a:r>
            <a:r>
              <a:rPr lang="zh-CN" altLang="en-US" dirty="0">
                <a:solidFill>
                  <a:prstClr val="white"/>
                </a:solidFill>
                <a:cs typeface="+mn-ea"/>
                <a:sym typeface="+mn-lt"/>
              </a:rPr>
              <a:t>年全球企业分布式存储市场快速增长，预计</a:t>
            </a:r>
            <a:r>
              <a:rPr lang="en-US" altLang="zh-CN" dirty="0">
                <a:solidFill>
                  <a:prstClr val="white"/>
                </a:solidFill>
                <a:cs typeface="+mn-ea"/>
                <a:sym typeface="+mn-lt"/>
              </a:rPr>
              <a:t>2027</a:t>
            </a:r>
            <a:r>
              <a:rPr lang="zh-CN" altLang="en-US" dirty="0">
                <a:solidFill>
                  <a:prstClr val="white"/>
                </a:solidFill>
                <a:cs typeface="+mn-ea"/>
                <a:sym typeface="+mn-lt"/>
              </a:rPr>
              <a:t>将占存储市场的</a:t>
            </a:r>
            <a:r>
              <a:rPr lang="en-US" altLang="zh-CN" dirty="0">
                <a:solidFill>
                  <a:prstClr val="white"/>
                </a:solidFill>
                <a:cs typeface="+mn-ea"/>
                <a:sym typeface="+mn-lt"/>
              </a:rPr>
              <a:t>70%</a:t>
            </a:r>
            <a:r>
              <a:rPr lang="zh-CN" altLang="en-US" dirty="0">
                <a:solidFill>
                  <a:prstClr val="white"/>
                </a:solidFill>
                <a:cs typeface="+mn-ea"/>
                <a:sym typeface="+mn-lt"/>
              </a:rPr>
              <a:t>份额。</a:t>
            </a:r>
          </a:p>
          <a:p>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sym typeface="微软雅黑" panose="020B0503020204020204" pitchFamily="34" charset="-122"/>
              </a:rPr>
              <a:t>传统的存储主要指</a:t>
            </a:r>
            <a:r>
              <a:rPr lang="en-US" altLang="zh-CN" dirty="0">
                <a:sym typeface="微软雅黑" panose="020B0503020204020204" pitchFamily="34" charset="-122"/>
              </a:rPr>
              <a:t>SAN</a:t>
            </a:r>
            <a:r>
              <a:rPr lang="zh-CN" altLang="en-US" dirty="0">
                <a:sym typeface="微软雅黑" panose="020B0503020204020204" pitchFamily="34" charset="-122"/>
              </a:rPr>
              <a:t>存储产品，管理复杂。</a:t>
            </a:r>
            <a:endParaRPr lang="en-US" altLang="zh-CN" dirty="0">
              <a:sym typeface="微软雅黑" panose="020B0503020204020204" pitchFamily="34" charset="-122"/>
            </a:endParaRPr>
          </a:p>
          <a:p>
            <a:r>
              <a:rPr lang="en-US" altLang="zh-CN" dirty="0">
                <a:sym typeface="微软雅黑" panose="020B0503020204020204" pitchFamily="34" charset="-122"/>
              </a:rPr>
              <a:t>SDS</a:t>
            </a:r>
            <a:r>
              <a:rPr lang="zh-CN" altLang="en-US" dirty="0">
                <a:sym typeface="微软雅黑" panose="020B0503020204020204" pitchFamily="34" charset="-122"/>
              </a:rPr>
              <a:t>对外的管理接口更加自动化、标准化。管理单元从原来的</a:t>
            </a:r>
            <a:r>
              <a:rPr lang="en-US" altLang="zh-CN" dirty="0">
                <a:sym typeface="微软雅黑" panose="020B0503020204020204" pitchFamily="34" charset="-122"/>
              </a:rPr>
              <a:t>RAID</a:t>
            </a:r>
            <a:r>
              <a:rPr lang="zh-CN" altLang="en-US" dirty="0">
                <a:sym typeface="微软雅黑" panose="020B0503020204020204" pitchFamily="34" charset="-122"/>
              </a:rPr>
              <a:t>组、</a:t>
            </a:r>
            <a:r>
              <a:rPr lang="en-US" altLang="zh-CN" dirty="0">
                <a:sym typeface="微软雅黑" panose="020B0503020204020204" pitchFamily="34" charset="-122"/>
              </a:rPr>
              <a:t>LUN</a:t>
            </a:r>
            <a:r>
              <a:rPr lang="zh-CN" altLang="en-US" dirty="0">
                <a:sym typeface="微软雅黑" panose="020B0503020204020204" pitchFamily="34" charset="-122"/>
              </a:rPr>
              <a:t>组改为应用虚拟机。</a:t>
            </a:r>
            <a:endParaRPr lang="en-US" altLang="zh-CN" dirty="0"/>
          </a:p>
          <a:p>
            <a:r>
              <a:rPr lang="en-US" altLang="zh-CN" dirty="0"/>
              <a:t>SDS</a:t>
            </a:r>
            <a:r>
              <a:rPr lang="zh-CN" altLang="en-US" dirty="0"/>
              <a:t>存储中， 应用（包括</a:t>
            </a:r>
            <a:r>
              <a:rPr lang="en-US" altLang="zh-CN" dirty="0"/>
              <a:t>VM</a:t>
            </a:r>
            <a:r>
              <a:rPr lang="zh-CN" altLang="en-US" dirty="0"/>
              <a:t>）使用存储有两种方式：</a:t>
            </a:r>
            <a:endParaRPr lang="en-US" altLang="zh-CN" dirty="0"/>
          </a:p>
          <a:p>
            <a:pPr lvl="1"/>
            <a:r>
              <a:rPr lang="zh-CN" altLang="en-US" dirty="0"/>
              <a:t>如果应用非常明确自己的存储需求， 它需要提供自己的配置文件（配置容量，性能，可靠性，可用性需求等），这些称为用户策略信息。</a:t>
            </a:r>
            <a:r>
              <a:rPr lang="en-US" altLang="zh-CN" dirty="0"/>
              <a:t>SDS</a:t>
            </a:r>
            <a:r>
              <a:rPr lang="zh-CN" altLang="en-US" dirty="0"/>
              <a:t>拿到这些策略信息之后为该应用申请对应的存储资源，并将配置信息作为应用的策略元数据保存起来；</a:t>
            </a:r>
            <a:endParaRPr lang="en-US" altLang="zh-CN" dirty="0"/>
          </a:p>
          <a:p>
            <a:pPr lvl="1"/>
            <a:r>
              <a:rPr lang="zh-CN" altLang="en-US" dirty="0"/>
              <a:t>如果应用自己也不清楚存储要求，那么应用可以直接使用</a:t>
            </a:r>
            <a:r>
              <a:rPr lang="en-US" altLang="zh-CN" dirty="0"/>
              <a:t>SDS</a:t>
            </a:r>
            <a:r>
              <a:rPr lang="zh-CN" altLang="en-US" dirty="0"/>
              <a:t>提供的服务目录来获取存储资源。服务目录为典型应用提供了默认的策略，用户可以直接使用，或者只需进行轻量级的自定义即可。</a:t>
            </a:r>
            <a:br>
              <a:rPr lang="zh-CN" altLang="en-US" dirty="0"/>
            </a:br>
            <a:endParaRPr lang="zh-CN" altLang="en-US" dirty="0"/>
          </a:p>
        </p:txBody>
      </p:sp>
      <p:sp>
        <p:nvSpPr>
          <p:cNvPr id="7" name="幻灯片图像占位符 6"/>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953933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在传统的存储系统设计中， </a:t>
            </a:r>
            <a:r>
              <a:rPr lang="en-US" altLang="zh-CN" dirty="0"/>
              <a:t>LUN</a:t>
            </a:r>
            <a:r>
              <a:rPr lang="zh-CN" altLang="en-US" dirty="0"/>
              <a:t>是存储管理的基本单元。 在用户创建</a:t>
            </a:r>
            <a:r>
              <a:rPr lang="en-US" altLang="zh-CN" dirty="0"/>
              <a:t>LUN</a:t>
            </a:r>
            <a:r>
              <a:rPr lang="zh-CN" altLang="en-US" dirty="0"/>
              <a:t>之前， </a:t>
            </a:r>
            <a:r>
              <a:rPr lang="en-US" altLang="zh-CN" dirty="0"/>
              <a:t>Storage Pool</a:t>
            </a:r>
            <a:r>
              <a:rPr lang="zh-CN" altLang="en-US" dirty="0"/>
              <a:t>就已经由厂商或者管理员定义好，并且一直存在于存储系统中。 对于用户的</a:t>
            </a:r>
            <a:r>
              <a:rPr lang="en-US" altLang="zh-CN" dirty="0"/>
              <a:t>LUN</a:t>
            </a:r>
            <a:r>
              <a:rPr lang="zh-CN" altLang="en-US" dirty="0"/>
              <a:t>，用户能够定义的东西非常有限。</a:t>
            </a:r>
            <a:endParaRPr lang="en-US" altLang="zh-CN" dirty="0"/>
          </a:p>
          <a:p>
            <a:r>
              <a:rPr lang="en-US" altLang="zh-CN" dirty="0"/>
              <a:t>SDS</a:t>
            </a:r>
            <a:r>
              <a:rPr lang="zh-CN" altLang="en-US" dirty="0"/>
              <a:t>的存储软件架构， 从应用出发，以应用为单位对存储进行管理。应用首先需要创建自己的存储策略（即应用对存储的需求）；然后这个存储策略中添加存储实体（如</a:t>
            </a:r>
            <a:r>
              <a:rPr lang="en-US" altLang="zh-CN" dirty="0" err="1"/>
              <a:t>vDisk</a:t>
            </a:r>
            <a:r>
              <a:rPr lang="en-US" altLang="zh-CN" dirty="0"/>
              <a:t> </a:t>
            </a:r>
            <a:r>
              <a:rPr lang="zh-CN" altLang="en-US" dirty="0"/>
              <a:t>）。在一个策略中的所有用户存储实体（</a:t>
            </a:r>
            <a:r>
              <a:rPr lang="en-US" altLang="zh-CN" dirty="0" err="1"/>
              <a:t>vDisks</a:t>
            </a:r>
            <a:r>
              <a:rPr lang="zh-CN" altLang="en-US" dirty="0"/>
              <a:t>）的集合，称其为</a:t>
            </a:r>
            <a:r>
              <a:rPr lang="en-US" altLang="zh-CN" dirty="0"/>
              <a:t>Container</a:t>
            </a:r>
            <a:r>
              <a:rPr lang="zh-CN" altLang="en-US" dirty="0"/>
              <a:t>。 </a:t>
            </a:r>
            <a:r>
              <a:rPr lang="en-US" altLang="zh-CN" dirty="0"/>
              <a:t>Container</a:t>
            </a:r>
            <a:r>
              <a:rPr lang="zh-CN" altLang="en-US" dirty="0"/>
              <a:t>与应用的存储策略对应，并根据用户策略，创建每个分别属于每个用户的存储池。</a:t>
            </a:r>
            <a:br>
              <a:rPr lang="zh-CN" altLang="en-US" dirty="0"/>
            </a:br>
            <a:br>
              <a:rPr lang="zh-CN" altLang="en-US" dirty="0"/>
            </a:br>
            <a:endParaRPr lang="zh-CN" altLang="en-US"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852545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584200" y="765175"/>
            <a:ext cx="5930900" cy="3336925"/>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31359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依托</a:t>
            </a:r>
            <a:r>
              <a:rPr lang="en-US" altLang="zh-CN" dirty="0" err="1"/>
              <a:t>TaiShan</a:t>
            </a:r>
            <a:r>
              <a:rPr lang="zh-CN" altLang="en-US" dirty="0"/>
              <a:t>硬件，搭载业界主流操作系统，针对</a:t>
            </a:r>
            <a:r>
              <a:rPr lang="en-US" altLang="zh-CN" dirty="0"/>
              <a:t>Ceph</a:t>
            </a:r>
            <a:r>
              <a:rPr lang="zh-CN" altLang="en-US" dirty="0"/>
              <a:t>和</a:t>
            </a:r>
            <a:r>
              <a:rPr lang="en-US" altLang="zh-CN" dirty="0"/>
              <a:t>FusionStorage</a:t>
            </a:r>
            <a:r>
              <a:rPr lang="zh-CN" altLang="en-US" dirty="0"/>
              <a:t>软件的深度优化，对外提供完整的分布式存储服务解决方案。</a:t>
            </a:r>
            <a:endParaRPr lang="en-US" altLang="zh-CN" dirty="0"/>
          </a:p>
          <a:p>
            <a:pPr lvl="0"/>
            <a:r>
              <a:rPr lang="en-US" altLang="zh-CN" dirty="0"/>
              <a:t>Ceph</a:t>
            </a:r>
            <a:r>
              <a:rPr lang="zh-CN" altLang="en-US" dirty="0"/>
              <a:t>的主要特点</a:t>
            </a:r>
            <a:r>
              <a:rPr lang="en-US" altLang="zh-CN" dirty="0"/>
              <a:t>:</a:t>
            </a:r>
          </a:p>
          <a:p>
            <a:pPr lvl="1"/>
            <a:r>
              <a:rPr lang="zh-CN" altLang="en-US" dirty="0"/>
              <a:t>统一存储系统，支持三种接口。</a:t>
            </a:r>
            <a:endParaRPr lang="en-US" altLang="zh-CN" dirty="0"/>
          </a:p>
          <a:p>
            <a:pPr lvl="2"/>
            <a:r>
              <a:rPr lang="en-US" altLang="zh-CN" dirty="0"/>
              <a:t>Object</a:t>
            </a:r>
            <a:r>
              <a:rPr lang="zh-CN" altLang="en-US" dirty="0"/>
              <a:t>：有原生的</a:t>
            </a:r>
            <a:r>
              <a:rPr lang="en-US" altLang="zh-CN" dirty="0"/>
              <a:t>API</a:t>
            </a:r>
            <a:r>
              <a:rPr lang="zh-CN" altLang="en-US" dirty="0"/>
              <a:t>，而且也兼容</a:t>
            </a:r>
            <a:r>
              <a:rPr lang="en-US" altLang="zh-CN" dirty="0"/>
              <a:t>Swift</a:t>
            </a:r>
            <a:r>
              <a:rPr lang="zh-CN" altLang="en-US" dirty="0"/>
              <a:t>和</a:t>
            </a:r>
            <a:r>
              <a:rPr lang="en-US" altLang="zh-CN" dirty="0"/>
              <a:t>S3</a:t>
            </a:r>
            <a:r>
              <a:rPr lang="zh-CN" altLang="en-US" dirty="0"/>
              <a:t>的</a:t>
            </a:r>
            <a:r>
              <a:rPr lang="en-US" altLang="zh-CN" dirty="0"/>
              <a:t>API</a:t>
            </a:r>
            <a:r>
              <a:rPr lang="zh-CN" altLang="en-US" dirty="0"/>
              <a:t>，可以跟</a:t>
            </a:r>
            <a:r>
              <a:rPr lang="en-US" altLang="zh-CN" dirty="0"/>
              <a:t>Keystone</a:t>
            </a:r>
            <a:r>
              <a:rPr lang="zh-CN" altLang="en-US" dirty="0"/>
              <a:t>集成；</a:t>
            </a:r>
            <a:endParaRPr lang="en-US" altLang="zh-CN" dirty="0"/>
          </a:p>
          <a:p>
            <a:pPr lvl="2"/>
            <a:r>
              <a:rPr lang="en-US" altLang="zh-CN" dirty="0"/>
              <a:t>Block</a:t>
            </a:r>
            <a:r>
              <a:rPr lang="zh-CN" altLang="en-US" dirty="0"/>
              <a:t>：支持精简配置、快照、克隆；</a:t>
            </a:r>
          </a:p>
          <a:p>
            <a:pPr lvl="2"/>
            <a:r>
              <a:rPr lang="en-US" altLang="zh-CN" dirty="0"/>
              <a:t>File</a:t>
            </a:r>
            <a:r>
              <a:rPr lang="zh-CN" altLang="en-US" dirty="0"/>
              <a:t>：</a:t>
            </a:r>
            <a:r>
              <a:rPr lang="en-US" altLang="zh-CN" dirty="0"/>
              <a:t>POSIX</a:t>
            </a:r>
            <a:r>
              <a:rPr lang="zh-CN" altLang="en-US" dirty="0"/>
              <a:t>接口，支持快照。</a:t>
            </a:r>
            <a:endParaRPr lang="en-US" altLang="zh-CN" dirty="0"/>
          </a:p>
          <a:p>
            <a:pPr lvl="1"/>
            <a:r>
              <a:rPr lang="zh-CN" altLang="en-US" dirty="0"/>
              <a:t>分布式存储系统：无中心结构。</a:t>
            </a:r>
            <a:endParaRPr lang="en-US" altLang="zh-CN" dirty="0"/>
          </a:p>
          <a:p>
            <a:pPr lvl="2"/>
            <a:r>
              <a:rPr lang="zh-CN" altLang="en-US" dirty="0"/>
              <a:t>高扩展性：基于</a:t>
            </a:r>
            <a:r>
              <a:rPr lang="en-US" altLang="zh-CN" dirty="0"/>
              <a:t>X86</a:t>
            </a:r>
            <a:r>
              <a:rPr lang="zh-CN" altLang="en-US" dirty="0"/>
              <a:t>服务器，支持</a:t>
            </a:r>
            <a:r>
              <a:rPr lang="en-US" altLang="zh-CN" dirty="0"/>
              <a:t>TB</a:t>
            </a:r>
            <a:r>
              <a:rPr lang="zh-CN" altLang="en-US" dirty="0"/>
              <a:t>到</a:t>
            </a:r>
            <a:r>
              <a:rPr lang="en-US" altLang="zh-CN" dirty="0"/>
              <a:t>PB</a:t>
            </a:r>
            <a:r>
              <a:rPr lang="zh-CN" altLang="en-US" dirty="0"/>
              <a:t>级扩展</a:t>
            </a:r>
            <a:r>
              <a:rPr lang="en-US" altLang="zh-CN" dirty="0"/>
              <a:t>;</a:t>
            </a:r>
          </a:p>
          <a:p>
            <a:pPr lvl="2"/>
            <a:r>
              <a:rPr lang="zh-CN" altLang="en-US" dirty="0"/>
              <a:t>高可靠性：无单点故障，自动管理</a:t>
            </a:r>
            <a:r>
              <a:rPr lang="en-US" altLang="zh-CN" dirty="0"/>
              <a:t>/</a:t>
            </a:r>
            <a:r>
              <a:rPr lang="zh-CN" altLang="en-US" dirty="0"/>
              <a:t>修复</a:t>
            </a:r>
            <a:r>
              <a:rPr lang="en-US" altLang="zh-CN" dirty="0"/>
              <a:t>;</a:t>
            </a:r>
          </a:p>
          <a:p>
            <a:pPr lvl="2"/>
            <a:r>
              <a:rPr lang="zh-CN" altLang="en-US" dirty="0"/>
              <a:t>高性能：数据分别均衡，并行化度高。</a:t>
            </a:r>
            <a:endParaRPr lang="en-US" altLang="zh-CN" dirty="0"/>
          </a:p>
          <a:p>
            <a:pPr lvl="1"/>
            <a:r>
              <a:rPr lang="zh-CN" altLang="en-US" dirty="0"/>
              <a:t>核心设计思想：“无需查表，算算就好”。</a:t>
            </a:r>
            <a:endParaRPr lang="en-US" altLang="zh-CN" dirty="0"/>
          </a:p>
          <a:p>
            <a:pPr lvl="1"/>
            <a:endParaRPr lang="en-US" altLang="zh-CN" dirty="0"/>
          </a:p>
          <a:p>
            <a:pPr lvl="1"/>
            <a:r>
              <a:rPr lang="en-US" altLang="zh-CN" dirty="0"/>
              <a:t>Reliable:  </a:t>
            </a:r>
            <a:r>
              <a:rPr lang="zh-CN" altLang="en-US" dirty="0"/>
              <a:t>可靠的</a:t>
            </a:r>
            <a:endParaRPr lang="en-US" altLang="zh-CN" dirty="0"/>
          </a:p>
          <a:p>
            <a:pPr lvl="1"/>
            <a:r>
              <a:rPr lang="en-US" altLang="zh-CN" dirty="0"/>
              <a:t>Autonomous : </a:t>
            </a:r>
            <a:r>
              <a:rPr lang="zh-CN" altLang="en-US" dirty="0"/>
              <a:t>自治的</a:t>
            </a:r>
            <a:endParaRPr lang="en-US" altLang="zh-CN" dirty="0"/>
          </a:p>
          <a:p>
            <a:pPr lvl="1"/>
            <a:endParaRPr lang="en-US" altLang="zh-CN" dirty="0"/>
          </a:p>
          <a:p>
            <a:endParaRPr lang="en-US"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657011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RBD</a:t>
            </a:r>
            <a:r>
              <a:rPr lang="zh-CN" altLang="en-US" dirty="0"/>
              <a:t>：</a:t>
            </a:r>
            <a:r>
              <a:rPr lang="en-US" altLang="zh-CN" dirty="0"/>
              <a:t>RBD</a:t>
            </a:r>
            <a:r>
              <a:rPr lang="zh-CN" altLang="en-US" dirty="0"/>
              <a:t>全称</a:t>
            </a:r>
            <a:r>
              <a:rPr lang="en-US" altLang="zh-CN" dirty="0"/>
              <a:t>RADOS block device</a:t>
            </a:r>
            <a:r>
              <a:rPr lang="zh-CN" altLang="en-US" dirty="0"/>
              <a:t>，对外提供块设备服务。</a:t>
            </a:r>
            <a:endParaRPr lang="en-US" altLang="zh-CN" dirty="0"/>
          </a:p>
          <a:p>
            <a:r>
              <a:rPr lang="en-US" altLang="zh-CN" dirty="0"/>
              <a:t>RGW</a:t>
            </a:r>
            <a:r>
              <a:rPr lang="zh-CN" altLang="en-US" dirty="0"/>
              <a:t>：</a:t>
            </a:r>
            <a:r>
              <a:rPr lang="en-US" altLang="zh-CN" dirty="0"/>
              <a:t>RGW</a:t>
            </a:r>
            <a:r>
              <a:rPr lang="zh-CN" altLang="en-US" dirty="0"/>
              <a:t>全称</a:t>
            </a:r>
            <a:r>
              <a:rPr lang="en-US" altLang="zh-CN" dirty="0"/>
              <a:t>RADOS gateway</a:t>
            </a:r>
            <a:r>
              <a:rPr lang="zh-CN" altLang="en-US" dirty="0"/>
              <a:t>，对外提供对象存储服务，接口与</a:t>
            </a:r>
            <a:r>
              <a:rPr lang="en-US" altLang="zh-CN" dirty="0"/>
              <a:t>S3</a:t>
            </a:r>
            <a:r>
              <a:rPr lang="zh-CN" altLang="en-US" dirty="0"/>
              <a:t>和</a:t>
            </a:r>
            <a:r>
              <a:rPr lang="en-US" altLang="zh-CN" dirty="0"/>
              <a:t>Swift</a:t>
            </a:r>
            <a:r>
              <a:rPr lang="zh-CN" altLang="en-US" dirty="0"/>
              <a:t>兼容。</a:t>
            </a:r>
            <a:endParaRPr lang="en-US" altLang="zh-CN" dirty="0"/>
          </a:p>
          <a:p>
            <a:r>
              <a:rPr lang="en-US" altLang="zh-CN" dirty="0"/>
              <a:t>Ceph FS</a:t>
            </a:r>
            <a:r>
              <a:rPr lang="zh-CN" altLang="en-US" dirty="0"/>
              <a:t>：全称</a:t>
            </a:r>
            <a:r>
              <a:rPr lang="en-US" altLang="zh-CN" dirty="0"/>
              <a:t>Ceph File System</a:t>
            </a:r>
            <a:r>
              <a:rPr lang="zh-CN" altLang="en-US" dirty="0"/>
              <a:t>，对外提供文件系统服务。</a:t>
            </a:r>
            <a:endParaRPr lang="en-US" altLang="zh-CN" dirty="0"/>
          </a:p>
          <a:p>
            <a:r>
              <a:rPr lang="en-US" altLang="zh-CN" dirty="0"/>
              <a:t>RADOS</a:t>
            </a:r>
            <a:r>
              <a:rPr lang="zh-CN" altLang="en-US" dirty="0"/>
              <a:t>：全称</a:t>
            </a:r>
            <a:r>
              <a:rPr lang="en-US" altLang="zh-CN" dirty="0"/>
              <a:t>Reliable Autonomic Distributed Object Store</a:t>
            </a:r>
            <a:r>
              <a:rPr lang="zh-CN" altLang="en-US" dirty="0"/>
              <a:t>，用户实现数据分配、</a:t>
            </a:r>
            <a:r>
              <a:rPr lang="en-US" altLang="zh-CN" dirty="0"/>
              <a:t>Failover</a:t>
            </a:r>
            <a:r>
              <a:rPr lang="zh-CN" altLang="en-US" dirty="0"/>
              <a:t>等集群操作。</a:t>
            </a:r>
            <a:endParaRPr lang="en-US" altLang="zh-CN" dirty="0"/>
          </a:p>
          <a:p>
            <a:r>
              <a:rPr kumimoji="0" lang="en-US" altLang="zh-CN" sz="1100" b="0" i="0" u="none" strike="noStrike" kern="0" cap="none" spc="0" normalizeH="0" baseline="0" noProof="0" dirty="0">
                <a:ln>
                  <a:noFill/>
                </a:ln>
                <a:solidFill>
                  <a:prstClr val="white"/>
                </a:solidFill>
                <a:effectLst/>
                <a:uLnTx/>
                <a:uFillTx/>
                <a:latin typeface="+mn-ea"/>
                <a:ea typeface="微软雅黑" panose="020B0503020204020204" pitchFamily="34" charset="-122"/>
                <a:cs typeface="+mn-cs"/>
              </a:rPr>
              <a:t>LIBRADOS</a:t>
            </a:r>
            <a:r>
              <a:rPr lang="zh-CN" altLang="en-US" dirty="0"/>
              <a:t>：</a:t>
            </a:r>
            <a:r>
              <a:rPr lang="en-US" altLang="zh-CN" dirty="0"/>
              <a:t>RADOS</a:t>
            </a:r>
            <a:r>
              <a:rPr lang="zh-CN" altLang="en-US" dirty="0"/>
              <a:t>的提供库，因为协议很难直接访问</a:t>
            </a:r>
            <a:r>
              <a:rPr lang="en-US" altLang="zh-CN" dirty="0"/>
              <a:t>RADOS</a:t>
            </a:r>
            <a:r>
              <a:rPr lang="zh-CN" altLang="en-US" dirty="0"/>
              <a:t>，因此上层的</a:t>
            </a:r>
            <a:r>
              <a:rPr lang="en-US" altLang="zh-CN" dirty="0"/>
              <a:t>RBD</a:t>
            </a:r>
            <a:r>
              <a:rPr lang="zh-CN" altLang="en-US" dirty="0"/>
              <a:t>、</a:t>
            </a:r>
            <a:r>
              <a:rPr lang="en-US" altLang="zh-CN" dirty="0"/>
              <a:t>RGW</a:t>
            </a:r>
            <a:r>
              <a:rPr lang="zh-CN" altLang="en-US" dirty="0"/>
              <a:t>和</a:t>
            </a:r>
            <a:r>
              <a:rPr lang="en-US" altLang="zh-CN" dirty="0"/>
              <a:t>Ceph FS</a:t>
            </a:r>
            <a:r>
              <a:rPr lang="zh-CN" altLang="en-US" dirty="0"/>
              <a:t>都是通过</a:t>
            </a:r>
            <a:r>
              <a:rPr kumimoji="0" lang="en-US" altLang="zh-CN" sz="1100" b="0" i="0" u="none" strike="noStrike" kern="0" cap="none" spc="0" normalizeH="0" baseline="0" noProof="0" dirty="0">
                <a:ln>
                  <a:noFill/>
                </a:ln>
                <a:solidFill>
                  <a:prstClr val="white"/>
                </a:solidFill>
                <a:effectLst/>
                <a:uLnTx/>
                <a:uFillTx/>
                <a:latin typeface="+mn-ea"/>
                <a:ea typeface="微软雅黑" panose="020B0503020204020204" pitchFamily="34" charset="-122"/>
                <a:cs typeface="+mn-cs"/>
              </a:rPr>
              <a:t>LIBRADOS</a:t>
            </a:r>
            <a:r>
              <a:rPr lang="zh-CN" altLang="en-US" dirty="0"/>
              <a:t>访问，目前提供</a:t>
            </a:r>
            <a:r>
              <a:rPr lang="en-US" altLang="zh-CN" dirty="0"/>
              <a:t>PHP</a:t>
            </a:r>
            <a:r>
              <a:rPr lang="zh-CN" altLang="en-US" dirty="0"/>
              <a:t>、</a:t>
            </a:r>
            <a:r>
              <a:rPr lang="en-US" altLang="zh-CN" dirty="0"/>
              <a:t>Ruby</a:t>
            </a:r>
            <a:r>
              <a:rPr lang="zh-CN" altLang="en-US" dirty="0"/>
              <a:t>、</a:t>
            </a:r>
            <a:r>
              <a:rPr lang="en-US" altLang="zh-CN" dirty="0"/>
              <a:t>Java</a:t>
            </a:r>
            <a:r>
              <a:rPr lang="zh-CN" altLang="en-US" dirty="0"/>
              <a:t>、</a:t>
            </a:r>
            <a:r>
              <a:rPr lang="en-US" altLang="zh-CN" dirty="0"/>
              <a:t>Python</a:t>
            </a:r>
            <a:r>
              <a:rPr lang="zh-CN" altLang="en-US" dirty="0"/>
              <a:t>、</a:t>
            </a:r>
            <a:r>
              <a:rPr lang="en-US" altLang="zh-CN" dirty="0"/>
              <a:t>C</a:t>
            </a:r>
            <a:r>
              <a:rPr lang="zh-CN" altLang="en-US" dirty="0"/>
              <a:t>和</a:t>
            </a:r>
            <a:r>
              <a:rPr lang="en-US" altLang="zh-CN" dirty="0"/>
              <a:t>C++</a:t>
            </a:r>
            <a:r>
              <a:rPr lang="zh-CN" altLang="en-US" dirty="0"/>
              <a:t>支持。</a:t>
            </a:r>
            <a:endParaRPr lang="en-US" altLang="zh-CN" dirty="0"/>
          </a:p>
          <a:p>
            <a:endParaRPr lang="zh-CN" altLang="en-US" dirty="0"/>
          </a:p>
          <a:p>
            <a:endParaRPr lang="zh-CN" altLang="en-US" dirty="0"/>
          </a:p>
          <a:p>
            <a:endParaRPr lang="zh-CN" altLang="en-US" dirty="0"/>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041732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en-US" altLang="zh-CN" dirty="0"/>
              <a:t>OSD</a:t>
            </a:r>
          </a:p>
          <a:p>
            <a:pPr marL="0" indent="0">
              <a:buNone/>
            </a:pPr>
            <a:r>
              <a:rPr lang="zh-CN" altLang="en-US" dirty="0"/>
              <a:t>用于集群中所有数据与对象的存储。处理集群数据的复制、恢复、回填、再均衡。并向其他</a:t>
            </a:r>
            <a:r>
              <a:rPr lang="en-US" altLang="zh-CN" dirty="0"/>
              <a:t>osd</a:t>
            </a:r>
            <a:r>
              <a:rPr lang="zh-CN" altLang="en-US" dirty="0"/>
              <a:t>守护进程发送心跳，然后向</a:t>
            </a:r>
            <a:r>
              <a:rPr lang="en-US" altLang="zh-CN" dirty="0"/>
              <a:t>Mon</a:t>
            </a:r>
            <a:r>
              <a:rPr lang="zh-CN" altLang="en-US" dirty="0"/>
              <a:t>提供一些监控信息。</a:t>
            </a:r>
            <a:br>
              <a:rPr lang="zh-CN" altLang="en-US" dirty="0"/>
            </a:br>
            <a:r>
              <a:rPr lang="zh-CN" altLang="en-US" dirty="0"/>
              <a:t>当</a:t>
            </a:r>
            <a:r>
              <a:rPr lang="en-US" altLang="zh-CN" dirty="0"/>
              <a:t>Ceph</a:t>
            </a:r>
            <a:r>
              <a:rPr lang="zh-CN" altLang="en-US" dirty="0"/>
              <a:t>存储集群设定数据有两个副本时（一共存两份），则至少需要两个</a:t>
            </a:r>
            <a:r>
              <a:rPr lang="en-US" altLang="zh-CN" dirty="0"/>
              <a:t>OSD</a:t>
            </a:r>
            <a:r>
              <a:rPr lang="zh-CN" altLang="en-US" dirty="0"/>
              <a:t>守护进程即两个</a:t>
            </a:r>
            <a:r>
              <a:rPr lang="en-US" altLang="zh-CN" dirty="0"/>
              <a:t>OSD</a:t>
            </a:r>
            <a:r>
              <a:rPr lang="zh-CN" altLang="en-US" dirty="0"/>
              <a:t>节点，集群才能达到</a:t>
            </a:r>
            <a:r>
              <a:rPr lang="en-US" altLang="zh-CN" dirty="0" err="1"/>
              <a:t>active+clean</a:t>
            </a:r>
            <a:r>
              <a:rPr lang="zh-CN" altLang="en-US" dirty="0"/>
              <a:t>状态。</a:t>
            </a:r>
            <a:endParaRPr lang="en-US" altLang="zh-CN" dirty="0"/>
          </a:p>
          <a:p>
            <a:pPr marL="180975" indent="-180975" algn="l" rtl="0" eaLnBrk="1" fontAlgn="base" hangingPunct="1">
              <a:lnSpc>
                <a:spcPct val="125000"/>
              </a:lnSpc>
              <a:spcBef>
                <a:spcPct val="0"/>
              </a:spcBef>
              <a:spcAft>
                <a:spcPts val="600"/>
              </a:spcAft>
              <a:buSzPct val="60000"/>
              <a:buFont typeface="Wingdings" pitchFamily="2" charset="2"/>
              <a:buChar char="l"/>
            </a:pPr>
            <a:r>
              <a:rPr lang="en-US" altLang="zh-CN" sz="1100" kern="1200" dirty="0">
                <a:solidFill>
                  <a:schemeClr val="tx1"/>
                </a:solidFill>
                <a:latin typeface="微软雅黑" panose="020B0503020204020204" pitchFamily="34" charset="-122"/>
                <a:ea typeface="微软雅黑" panose="020B0503020204020204" pitchFamily="34" charset="-122"/>
                <a:cs typeface="+mn-cs"/>
              </a:rPr>
              <a:t>MDS(</a:t>
            </a:r>
            <a:r>
              <a:rPr lang="zh-CN" altLang="en-US" sz="1100" kern="1200" dirty="0">
                <a:solidFill>
                  <a:schemeClr val="tx1"/>
                </a:solidFill>
                <a:latin typeface="微软雅黑" panose="020B0503020204020204" pitchFamily="34" charset="-122"/>
                <a:ea typeface="微软雅黑" panose="020B0503020204020204" pitchFamily="34" charset="-122"/>
                <a:cs typeface="+mn-cs"/>
              </a:rPr>
              <a:t>可选</a:t>
            </a:r>
            <a:r>
              <a:rPr lang="en-US" altLang="zh-CN" sz="1100" kern="1200" dirty="0">
                <a:solidFill>
                  <a:schemeClr val="tx1"/>
                </a:solidFill>
                <a:latin typeface="微软雅黑" panose="020B0503020204020204" pitchFamily="34" charset="-122"/>
                <a:ea typeface="微软雅黑" panose="020B0503020204020204" pitchFamily="34" charset="-122"/>
                <a:cs typeface="+mn-cs"/>
              </a:rPr>
              <a:t>)</a:t>
            </a:r>
          </a:p>
          <a:p>
            <a:pPr marL="0" indent="0">
              <a:buNone/>
            </a:pPr>
            <a:r>
              <a:rPr lang="zh-CN" altLang="en-US" dirty="0"/>
              <a:t>为</a:t>
            </a:r>
            <a:r>
              <a:rPr lang="en-US" altLang="zh-CN" dirty="0"/>
              <a:t>Ceph</a:t>
            </a:r>
            <a:r>
              <a:rPr lang="zh-CN" altLang="en-US" dirty="0"/>
              <a:t>文件系统提供元数据计算、缓存与同步。在</a:t>
            </a:r>
            <a:r>
              <a:rPr lang="en-US" altLang="zh-CN" dirty="0"/>
              <a:t>ceph</a:t>
            </a:r>
            <a:r>
              <a:rPr lang="zh-CN" altLang="en-US" dirty="0"/>
              <a:t>中，元数据也是存储在</a:t>
            </a:r>
            <a:r>
              <a:rPr lang="en-US" altLang="zh-CN" dirty="0"/>
              <a:t>osd</a:t>
            </a:r>
            <a:r>
              <a:rPr lang="zh-CN" altLang="en-US" dirty="0"/>
              <a:t>节点中的，</a:t>
            </a:r>
            <a:r>
              <a:rPr lang="en-US" altLang="zh-CN" dirty="0" err="1"/>
              <a:t>mds</a:t>
            </a:r>
            <a:r>
              <a:rPr lang="zh-CN" altLang="en-US" dirty="0"/>
              <a:t>类似于元数据的代理缓存服务器。</a:t>
            </a:r>
            <a:r>
              <a:rPr lang="en-US" altLang="zh-CN" dirty="0"/>
              <a:t>MDS</a:t>
            </a:r>
            <a:r>
              <a:rPr lang="zh-CN" altLang="en-US" dirty="0"/>
              <a:t>进程并不是必须的进程，只有需要使用</a:t>
            </a:r>
            <a:r>
              <a:rPr lang="en-US" altLang="zh-CN" dirty="0"/>
              <a:t>CEPHFS</a:t>
            </a:r>
            <a:r>
              <a:rPr lang="zh-CN" altLang="en-US" dirty="0"/>
              <a:t>时，才需要配置</a:t>
            </a:r>
            <a:r>
              <a:rPr lang="en-US" altLang="zh-CN" dirty="0"/>
              <a:t>MDS</a:t>
            </a:r>
            <a:r>
              <a:rPr lang="zh-CN" altLang="en-US" dirty="0"/>
              <a:t>节点。</a:t>
            </a:r>
            <a:endParaRPr lang="en-US" altLang="zh-CN" dirty="0"/>
          </a:p>
          <a:p>
            <a:pPr marL="180975" indent="-180975" algn="l" rtl="0" eaLnBrk="1" fontAlgn="base" hangingPunct="1">
              <a:lnSpc>
                <a:spcPct val="125000"/>
              </a:lnSpc>
              <a:spcBef>
                <a:spcPct val="0"/>
              </a:spcBef>
              <a:spcAft>
                <a:spcPts val="600"/>
              </a:spcAft>
              <a:buSzPct val="60000"/>
              <a:buFont typeface="Wingdings" pitchFamily="2" charset="2"/>
              <a:buChar char="l"/>
            </a:pPr>
            <a:r>
              <a:rPr lang="en-US" altLang="zh-CN" sz="1100" kern="1200" dirty="0">
                <a:solidFill>
                  <a:schemeClr val="tx1"/>
                </a:solidFill>
                <a:latin typeface="微软雅黑" panose="020B0503020204020204" pitchFamily="34" charset="-122"/>
                <a:ea typeface="微软雅黑" panose="020B0503020204020204" pitchFamily="34" charset="-122"/>
                <a:cs typeface="+mn-cs"/>
              </a:rPr>
              <a:t>Monitor</a:t>
            </a:r>
          </a:p>
          <a:p>
            <a:pPr marL="0" indent="0">
              <a:buNone/>
            </a:pPr>
            <a:r>
              <a:rPr lang="zh-CN" altLang="en-US" sz="1100" b="0" i="0" kern="1200" dirty="0">
                <a:solidFill>
                  <a:schemeClr val="tx1"/>
                </a:solidFill>
                <a:effectLst/>
                <a:latin typeface="微软雅黑" panose="020B0503020204020204" pitchFamily="34" charset="-122"/>
                <a:ea typeface="微软雅黑" panose="020B0503020204020204" pitchFamily="34" charset="-122"/>
                <a:cs typeface="+mn-cs"/>
              </a:rPr>
              <a:t>监控整个集群的状态，维护集群的</a:t>
            </a:r>
            <a:r>
              <a:rPr lang="en-US" altLang="zh-CN" sz="1100" b="0" i="0" kern="1200" dirty="0">
                <a:solidFill>
                  <a:schemeClr val="tx1"/>
                </a:solidFill>
                <a:effectLst/>
                <a:latin typeface="微软雅黑" panose="020B0503020204020204" pitchFamily="34" charset="-122"/>
                <a:ea typeface="微软雅黑" panose="020B0503020204020204" pitchFamily="34" charset="-122"/>
                <a:cs typeface="+mn-cs"/>
              </a:rPr>
              <a:t>cluster MAP</a:t>
            </a:r>
            <a:r>
              <a:rPr lang="zh-CN" altLang="en-US" sz="1100" b="0" i="0" kern="1200" dirty="0">
                <a:solidFill>
                  <a:schemeClr val="tx1"/>
                </a:solidFill>
                <a:effectLst/>
                <a:latin typeface="微软雅黑" panose="020B0503020204020204" pitchFamily="34" charset="-122"/>
                <a:ea typeface="微软雅黑" panose="020B0503020204020204" pitchFamily="34" charset="-122"/>
                <a:cs typeface="+mn-cs"/>
              </a:rPr>
              <a:t>二进制表，保证集群数据的一致性。</a:t>
            </a:r>
            <a:r>
              <a:rPr lang="en-US" altLang="zh-CN" sz="1100" b="0" i="0" kern="1200" dirty="0" err="1">
                <a:solidFill>
                  <a:schemeClr val="tx1"/>
                </a:solidFill>
                <a:effectLst/>
                <a:latin typeface="微软雅黑" panose="020B0503020204020204" pitchFamily="34" charset="-122"/>
                <a:ea typeface="微软雅黑" panose="020B0503020204020204" pitchFamily="34" charset="-122"/>
                <a:cs typeface="+mn-cs"/>
              </a:rPr>
              <a:t>ClusterMAP</a:t>
            </a:r>
            <a:r>
              <a:rPr lang="zh-CN" altLang="en-US" sz="1100" b="0" i="0" kern="1200" dirty="0">
                <a:solidFill>
                  <a:schemeClr val="tx1"/>
                </a:solidFill>
                <a:effectLst/>
                <a:latin typeface="微软雅黑" panose="020B0503020204020204" pitchFamily="34" charset="-122"/>
                <a:ea typeface="微软雅黑" panose="020B0503020204020204" pitchFamily="34" charset="-122"/>
                <a:cs typeface="+mn-cs"/>
              </a:rPr>
              <a:t>描述了对象块存储的物理位置，以及一个将设备聚合到物理位置的桶列表。</a:t>
            </a:r>
            <a:endParaRPr lang="zh-CN" altLang="en-US" dirty="0"/>
          </a:p>
          <a:p>
            <a:endParaRPr lang="zh-CN" altLang="en-US" dirty="0"/>
          </a:p>
        </p:txBody>
      </p:sp>
    </p:spTree>
    <p:extLst>
      <p:ext uri="{BB962C8B-B14F-4D97-AF65-F5344CB8AC3E}">
        <p14:creationId xmlns:p14="http://schemas.microsoft.com/office/powerpoint/2010/main" val="3639049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Ceph</a:t>
            </a:r>
            <a:r>
              <a:rPr lang="zh-CN" altLang="en-US" dirty="0"/>
              <a:t>的客户端仅支持</a:t>
            </a:r>
            <a:r>
              <a:rPr lang="en-US" altLang="zh-CN" dirty="0"/>
              <a:t>Linux</a:t>
            </a:r>
            <a:r>
              <a:rPr lang="zh-CN" altLang="en-US" dirty="0"/>
              <a:t>，需安装</a:t>
            </a:r>
            <a:r>
              <a:rPr lang="en-US" altLang="zh-CN" dirty="0"/>
              <a:t>Ceph</a:t>
            </a:r>
            <a:r>
              <a:rPr lang="zh-CN" altLang="en-US" dirty="0"/>
              <a:t>客户端软件。</a:t>
            </a:r>
          </a:p>
          <a:p>
            <a:pPr lvl="0"/>
            <a:r>
              <a:rPr lang="en-US" altLang="zh-CN" dirty="0"/>
              <a:t>OSD</a:t>
            </a:r>
            <a:r>
              <a:rPr lang="zh-CN" altLang="en-US" dirty="0"/>
              <a:t>：</a:t>
            </a:r>
            <a:r>
              <a:rPr lang="en-US" altLang="zh-CN" dirty="0"/>
              <a:t>Object Store Daemon</a:t>
            </a:r>
            <a:r>
              <a:rPr lang="zh-CN" altLang="en-US" dirty="0"/>
              <a:t>，提供数据存放服务，并可主动向</a:t>
            </a:r>
            <a:r>
              <a:rPr lang="en-US" altLang="zh-CN" dirty="0"/>
              <a:t>Mon</a:t>
            </a:r>
            <a:r>
              <a:rPr lang="zh-CN" altLang="en-US" dirty="0"/>
              <a:t>节点报告其状态。使用</a:t>
            </a:r>
            <a:r>
              <a:rPr lang="en-US" altLang="zh-CN" dirty="0"/>
              <a:t>CRUSH</a:t>
            </a:r>
            <a:r>
              <a:rPr lang="zh-CN" altLang="en-US" dirty="0"/>
              <a:t>算法保证高可用，通过故障域定义（主机、机架、设备列、机房等），配合</a:t>
            </a:r>
            <a:r>
              <a:rPr lang="en-US" altLang="zh-CN" dirty="0"/>
              <a:t>CRUSH </a:t>
            </a:r>
            <a:r>
              <a:rPr lang="en-US" altLang="zh-CN" dirty="0" err="1"/>
              <a:t>Ruleset</a:t>
            </a:r>
            <a:r>
              <a:rPr lang="zh-CN" altLang="en-US" dirty="0"/>
              <a:t>（数据分布规则）使用。当</a:t>
            </a:r>
            <a:r>
              <a:rPr lang="en-US" altLang="zh-CN" dirty="0"/>
              <a:t>OSD</a:t>
            </a:r>
            <a:r>
              <a:rPr lang="zh-CN" altLang="en-US" dirty="0"/>
              <a:t>节点发生故障时，数据自动迁移。</a:t>
            </a:r>
            <a:endParaRPr lang="en-US" altLang="zh-CN" dirty="0"/>
          </a:p>
          <a:p>
            <a:pPr lvl="0"/>
            <a:r>
              <a:rPr lang="en-US" altLang="zh-CN" dirty="0"/>
              <a:t>MDS</a:t>
            </a:r>
            <a:r>
              <a:rPr lang="zh-CN" altLang="en-US" dirty="0"/>
              <a:t>：</a:t>
            </a:r>
            <a:r>
              <a:rPr lang="en-US" altLang="zh-CN" dirty="0"/>
              <a:t>Metadata Server</a:t>
            </a:r>
            <a:r>
              <a:rPr lang="zh-CN" altLang="en-US" dirty="0"/>
              <a:t>节点，存放元数据信息，供</a:t>
            </a:r>
            <a:r>
              <a:rPr lang="en-US" altLang="zh-CN" dirty="0"/>
              <a:t>CEPH FS</a:t>
            </a:r>
            <a:r>
              <a:rPr lang="zh-CN" altLang="en-US" dirty="0"/>
              <a:t>服务使用。</a:t>
            </a:r>
            <a:endParaRPr lang="en-US" altLang="zh-CN" dirty="0"/>
          </a:p>
          <a:p>
            <a:pPr lvl="0"/>
            <a:r>
              <a:rPr lang="en-US" altLang="zh-CN" dirty="0"/>
              <a:t>MON</a:t>
            </a:r>
            <a:r>
              <a:rPr lang="zh-CN" altLang="en-US" dirty="0"/>
              <a:t>：一个</a:t>
            </a:r>
            <a:r>
              <a:rPr lang="en-US" altLang="zh-CN" dirty="0"/>
              <a:t>Ceph</a:t>
            </a:r>
            <a:r>
              <a:rPr lang="zh-CN" altLang="en-US" dirty="0"/>
              <a:t>集群需要多个</a:t>
            </a:r>
            <a:r>
              <a:rPr lang="en-US" altLang="zh-CN" dirty="0"/>
              <a:t>Monitor</a:t>
            </a:r>
            <a:r>
              <a:rPr lang="zh-CN" altLang="en-US" dirty="0"/>
              <a:t>组成的小集群，它们通过</a:t>
            </a:r>
            <a:r>
              <a:rPr lang="en-US" altLang="zh-CN" dirty="0" err="1"/>
              <a:t>Paxos</a:t>
            </a:r>
            <a:r>
              <a:rPr lang="zh-CN" altLang="en-US" dirty="0"/>
              <a:t>同步数据，用来保存</a:t>
            </a:r>
            <a:r>
              <a:rPr lang="en-US" altLang="zh-CN" dirty="0"/>
              <a:t>OSD</a:t>
            </a:r>
            <a:r>
              <a:rPr lang="zh-CN" altLang="en-US" dirty="0"/>
              <a:t>的元数据。</a:t>
            </a:r>
            <a:r>
              <a:rPr lang="en-US" altLang="zh-CN" dirty="0"/>
              <a:t>Monitor</a:t>
            </a:r>
            <a:r>
              <a:rPr lang="zh-CN" altLang="en-US" dirty="0"/>
              <a:t>节点采用</a:t>
            </a:r>
            <a:r>
              <a:rPr lang="en-US" altLang="zh-CN" dirty="0" err="1"/>
              <a:t>Paxos</a:t>
            </a:r>
            <a:r>
              <a:rPr lang="zh-CN" altLang="en-US" dirty="0"/>
              <a:t>仲裁算法保障高可用，必须有大于</a:t>
            </a:r>
            <a:r>
              <a:rPr lang="en-US" altLang="zh-CN" dirty="0"/>
              <a:t>N/2</a:t>
            </a:r>
            <a:r>
              <a:rPr lang="zh-CN" altLang="en-US" dirty="0"/>
              <a:t>的节点正常，集群才能正常工作，因此建议单数部署。</a:t>
            </a:r>
            <a:endParaRPr lang="en-US" altLang="zh-CN" dirty="0"/>
          </a:p>
          <a:p>
            <a:pPr lvl="0"/>
            <a:r>
              <a:rPr lang="en-US" altLang="zh-CN" dirty="0"/>
              <a:t>CRUSH</a:t>
            </a:r>
            <a:r>
              <a:rPr lang="zh-CN" altLang="en-US" dirty="0"/>
              <a:t>：</a:t>
            </a:r>
            <a:r>
              <a:rPr lang="en-US" altLang="zh-CN" dirty="0"/>
              <a:t>CRUSH</a:t>
            </a:r>
            <a:r>
              <a:rPr lang="zh-CN" altLang="en-US" dirty="0"/>
              <a:t>是</a:t>
            </a:r>
            <a:r>
              <a:rPr lang="en-US" altLang="zh-CN" dirty="0"/>
              <a:t>Ceph</a:t>
            </a:r>
            <a:r>
              <a:rPr lang="zh-CN" altLang="en-US" dirty="0"/>
              <a:t>使用的数据分布算法，类似一致性哈希，让数据分配到预期的地方。</a:t>
            </a:r>
            <a:r>
              <a:rPr lang="zh-CN" altLang="zh-CN" dirty="0">
                <a:sym typeface="微软雅黑" panose="020B0503020204020204" pitchFamily="34" charset="-122"/>
              </a:rPr>
              <a:t>在大规模集群下，实现数据的快速、准确存放，同时能够在硬件故障或扩展硬件设备时，做到尽可能小的数据迁移</a:t>
            </a:r>
            <a:r>
              <a:rPr lang="zh-CN" altLang="en-US" dirty="0">
                <a:sym typeface="微软雅黑" panose="020B0503020204020204" pitchFamily="34" charset="-122"/>
              </a:rPr>
              <a:t>。</a:t>
            </a:r>
            <a:endParaRPr lang="en-US" altLang="zh-CN" dirty="0"/>
          </a:p>
          <a:p>
            <a:pPr lvl="0"/>
            <a:r>
              <a:rPr lang="zh-CN" altLang="en-US" dirty="0"/>
              <a:t>存储池</a:t>
            </a:r>
            <a:r>
              <a:rPr lang="en-US" altLang="zh-CN" dirty="0"/>
              <a:t>Pool</a:t>
            </a:r>
            <a:r>
              <a:rPr lang="zh-CN" altLang="en-US" dirty="0"/>
              <a:t>：定义了存储池的大小限制、用户的权限、</a:t>
            </a:r>
            <a:r>
              <a:rPr lang="en-US" altLang="zh-CN" dirty="0"/>
              <a:t>PG</a:t>
            </a:r>
            <a:r>
              <a:rPr lang="zh-CN" altLang="en-US" dirty="0"/>
              <a:t>的数量、数据复制的份数以及</a:t>
            </a:r>
            <a:r>
              <a:rPr lang="en-US" altLang="zh-CN" dirty="0"/>
              <a:t>CRUSH </a:t>
            </a:r>
            <a:r>
              <a:rPr lang="en-US" altLang="zh-CN" dirty="0" err="1"/>
              <a:t>Ruleset</a:t>
            </a:r>
            <a:r>
              <a:rPr lang="zh-CN" altLang="en-US" dirty="0"/>
              <a:t>。</a:t>
            </a:r>
            <a:endParaRPr lang="en-US" altLang="zh-CN" dirty="0"/>
          </a:p>
          <a:p>
            <a:pPr lvl="1"/>
            <a:r>
              <a:rPr lang="en-US" altLang="zh-CN" dirty="0"/>
              <a:t>PG</a:t>
            </a:r>
            <a:r>
              <a:rPr lang="zh-CN" altLang="en-US" dirty="0"/>
              <a:t>：</a:t>
            </a:r>
            <a:r>
              <a:rPr lang="en-US" altLang="zh-CN" dirty="0"/>
              <a:t>Placement</a:t>
            </a:r>
            <a:r>
              <a:rPr lang="en-US" altLang="zh-CN" baseline="0" dirty="0"/>
              <a:t> </a:t>
            </a:r>
            <a:r>
              <a:rPr lang="en-US" altLang="zh-CN" dirty="0"/>
              <a:t>Group</a:t>
            </a:r>
            <a:r>
              <a:rPr lang="zh-CN" altLang="en-US" dirty="0"/>
              <a:t>，放置组   决定对象存放位置的</a:t>
            </a:r>
            <a:r>
              <a:rPr lang="en-US" altLang="zh-CN" dirty="0"/>
              <a:t>OSD</a:t>
            </a:r>
            <a:r>
              <a:rPr lang="zh-CN" altLang="en-US" dirty="0"/>
              <a:t>节点组合。组合会根据</a:t>
            </a:r>
            <a:r>
              <a:rPr lang="en-US" altLang="zh-CN" dirty="0"/>
              <a:t>OSD</a:t>
            </a:r>
            <a:r>
              <a:rPr lang="zh-CN" altLang="en-US" dirty="0"/>
              <a:t>节点的数量、状态和</a:t>
            </a:r>
            <a:r>
              <a:rPr lang="en-US" altLang="zh-CN" dirty="0"/>
              <a:t>CRUSH </a:t>
            </a:r>
            <a:r>
              <a:rPr lang="en-US" altLang="zh-CN" dirty="0" err="1"/>
              <a:t>Ruleset</a:t>
            </a:r>
            <a:r>
              <a:rPr lang="zh-CN" altLang="en-US" dirty="0"/>
              <a:t>的规则计算得出，动态变化；</a:t>
            </a:r>
            <a:endParaRPr lang="en-US" altLang="zh-CN" dirty="0"/>
          </a:p>
          <a:p>
            <a:pPr lvl="1"/>
            <a:r>
              <a:rPr lang="en-US" altLang="zh-CN" dirty="0"/>
              <a:t>CRUSH </a:t>
            </a:r>
            <a:r>
              <a:rPr lang="en-US" altLang="zh-CN" dirty="0" err="1"/>
              <a:t>Ruleset</a:t>
            </a:r>
            <a:r>
              <a:rPr lang="zh-CN" altLang="en-US" dirty="0"/>
              <a:t>：定义了对象复制的份数及选取</a:t>
            </a:r>
            <a:r>
              <a:rPr lang="en-US" altLang="zh-CN" dirty="0"/>
              <a:t>OSD</a:t>
            </a:r>
            <a:r>
              <a:rPr lang="zh-CN" altLang="en-US" dirty="0"/>
              <a:t>节点的规则；</a:t>
            </a:r>
          </a:p>
          <a:p>
            <a:pPr lvl="1"/>
            <a:r>
              <a:rPr lang="zh-CN" altLang="en-US" dirty="0"/>
              <a:t>对象</a:t>
            </a:r>
            <a:r>
              <a:rPr lang="en-US" altLang="zh-CN" dirty="0"/>
              <a:t>Object</a:t>
            </a:r>
            <a:r>
              <a:rPr lang="zh-CN" altLang="en-US" dirty="0"/>
              <a:t>：</a:t>
            </a:r>
            <a:r>
              <a:rPr lang="en-US" altLang="zh-CN" dirty="0"/>
              <a:t>Ceph</a:t>
            </a:r>
            <a:r>
              <a:rPr lang="zh-CN" altLang="en-US" dirty="0"/>
              <a:t>将所有数据都存放在对象中，每个对象对应</a:t>
            </a:r>
            <a:r>
              <a:rPr lang="en-US" altLang="zh-CN" dirty="0"/>
              <a:t>OSD</a:t>
            </a:r>
            <a:r>
              <a:rPr lang="zh-CN" altLang="en-US" dirty="0"/>
              <a:t>节点文件系统里的一个文件，缺省文件大小是</a:t>
            </a:r>
            <a:r>
              <a:rPr lang="en-US" altLang="zh-CN" dirty="0"/>
              <a:t>4M</a:t>
            </a:r>
            <a:r>
              <a:rPr lang="zh-CN" altLang="en-US" dirty="0"/>
              <a:t>。</a:t>
            </a:r>
          </a:p>
          <a:p>
            <a:pPr lvl="1"/>
            <a:endParaRPr lang="zh-CN" altLang="en-US" dirty="0"/>
          </a:p>
          <a:p>
            <a:pPr lvl="1"/>
            <a:endParaRPr lang="zh-CN" altLang="en-US" dirty="0"/>
          </a:p>
          <a:p>
            <a:pPr lvl="0"/>
            <a:endParaRPr lang="en-US" altLang="zh-CN" dirty="0"/>
          </a:p>
          <a:p>
            <a:pPr lvl="0"/>
            <a:endParaRPr lang="zh-CN" altLang="en-US" dirty="0"/>
          </a:p>
          <a:p>
            <a:pPr lvl="0"/>
            <a:endParaRPr lang="zh-CN" altLang="en-US" dirty="0"/>
          </a:p>
          <a:p>
            <a:pPr lvl="0"/>
            <a:endParaRPr lang="en-US" altLang="zh-CN" dirty="0"/>
          </a:p>
          <a:p>
            <a:endParaRPr lang="zh-CN" altLang="en-US" dirty="0"/>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46765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zh-CN" altLang="en-US" dirty="0"/>
              <a:t>无论使用哪种存储方式（对象、块、挂载），存储的数据都会被切分成对象（</a:t>
            </a:r>
            <a:r>
              <a:rPr lang="en-US" altLang="zh-CN" dirty="0"/>
              <a:t>Objects</a:t>
            </a:r>
            <a:r>
              <a:rPr lang="zh-CN" altLang="en-US" dirty="0"/>
              <a:t>）。</a:t>
            </a:r>
            <a:r>
              <a:rPr lang="en-US" altLang="zh-CN" dirty="0"/>
              <a:t>Objects size</a:t>
            </a:r>
            <a:r>
              <a:rPr lang="zh-CN" altLang="en-US" dirty="0"/>
              <a:t>大小可以由管理员调整，通常为</a:t>
            </a:r>
            <a:r>
              <a:rPr lang="en-US" altLang="zh-CN" dirty="0"/>
              <a:t>2M</a:t>
            </a:r>
            <a:r>
              <a:rPr lang="zh-CN" altLang="en-US" dirty="0"/>
              <a:t>或</a:t>
            </a:r>
            <a:r>
              <a:rPr lang="en-US" altLang="zh-CN" dirty="0"/>
              <a:t>4M</a:t>
            </a:r>
            <a:r>
              <a:rPr lang="zh-CN" altLang="en-US" dirty="0"/>
              <a:t>。每个对象都会有一个唯一的</a:t>
            </a:r>
            <a:r>
              <a:rPr lang="en-US" altLang="zh-CN" dirty="0"/>
              <a:t>OID</a:t>
            </a:r>
            <a:r>
              <a:rPr lang="zh-CN" altLang="en-US" dirty="0"/>
              <a:t>，由</a:t>
            </a:r>
            <a:r>
              <a:rPr lang="en-US" altLang="zh-CN" dirty="0" err="1"/>
              <a:t>ino</a:t>
            </a:r>
            <a:r>
              <a:rPr lang="zh-CN" altLang="en-US" dirty="0"/>
              <a:t>与</a:t>
            </a:r>
            <a:r>
              <a:rPr lang="en-US" altLang="zh-CN" dirty="0"/>
              <a:t>ono</a:t>
            </a:r>
            <a:r>
              <a:rPr lang="zh-CN" altLang="en-US" dirty="0"/>
              <a:t>生成，虽然这些名词看上去很复杂，其实相当简单。</a:t>
            </a:r>
            <a:r>
              <a:rPr lang="en-US" altLang="zh-CN" dirty="0" err="1"/>
              <a:t>ino</a:t>
            </a:r>
            <a:r>
              <a:rPr lang="zh-CN" altLang="en-US" dirty="0"/>
              <a:t>即是文件的</a:t>
            </a:r>
            <a:r>
              <a:rPr lang="en-US" altLang="zh-CN" dirty="0"/>
              <a:t>File ID</a:t>
            </a:r>
            <a:r>
              <a:rPr lang="zh-CN" altLang="en-US" dirty="0"/>
              <a:t>，用于在全局唯一标示每一个文件，而</a:t>
            </a:r>
            <a:r>
              <a:rPr lang="en-US" altLang="zh-CN" dirty="0"/>
              <a:t>ono</a:t>
            </a:r>
            <a:r>
              <a:rPr lang="zh-CN" altLang="en-US" dirty="0"/>
              <a:t>则是分片的编号。比如：一个文件</a:t>
            </a:r>
            <a:r>
              <a:rPr lang="en-US" altLang="zh-CN" dirty="0" err="1"/>
              <a:t>FileID</a:t>
            </a:r>
            <a:r>
              <a:rPr lang="zh-CN" altLang="en-US" dirty="0"/>
              <a:t>为</a:t>
            </a:r>
            <a:r>
              <a:rPr lang="en-US" altLang="zh-CN" dirty="0"/>
              <a:t>A</a:t>
            </a:r>
            <a:r>
              <a:rPr lang="zh-CN" altLang="en-US" dirty="0"/>
              <a:t>，它被切成了两个对象，一个对象编号</a:t>
            </a:r>
            <a:r>
              <a:rPr lang="en-US" altLang="zh-CN" dirty="0"/>
              <a:t>0</a:t>
            </a:r>
            <a:r>
              <a:rPr lang="zh-CN" altLang="en-US" dirty="0"/>
              <a:t>，另一个编号</a:t>
            </a:r>
            <a:r>
              <a:rPr lang="en-US" altLang="zh-CN" dirty="0"/>
              <a:t>1</a:t>
            </a:r>
            <a:r>
              <a:rPr lang="zh-CN" altLang="en-US" dirty="0"/>
              <a:t>，那么这两个文件的</a:t>
            </a:r>
            <a:r>
              <a:rPr lang="en-US" altLang="zh-CN" dirty="0" err="1"/>
              <a:t>oid</a:t>
            </a:r>
            <a:r>
              <a:rPr lang="zh-CN" altLang="en-US" dirty="0"/>
              <a:t>则为</a:t>
            </a:r>
            <a:r>
              <a:rPr lang="en-US" altLang="zh-CN" dirty="0"/>
              <a:t>A0</a:t>
            </a:r>
            <a:r>
              <a:rPr lang="zh-CN" altLang="en-US" dirty="0"/>
              <a:t>与</a:t>
            </a:r>
            <a:r>
              <a:rPr lang="en-US" altLang="zh-CN" dirty="0"/>
              <a:t>A1</a:t>
            </a:r>
            <a:r>
              <a:rPr lang="zh-CN" altLang="en-US" dirty="0"/>
              <a:t>。</a:t>
            </a:r>
            <a:r>
              <a:rPr lang="en-US" altLang="zh-CN" dirty="0" err="1"/>
              <a:t>Oid</a:t>
            </a:r>
            <a:r>
              <a:rPr lang="zh-CN" altLang="en-US" dirty="0"/>
              <a:t>的好处是可以唯一标示每个不同的对象，并且存储了对象与文件的从属关系。由于</a:t>
            </a:r>
            <a:r>
              <a:rPr lang="en-US" altLang="zh-CN" dirty="0"/>
              <a:t>ceph</a:t>
            </a:r>
            <a:r>
              <a:rPr lang="zh-CN" altLang="en-US" dirty="0"/>
              <a:t>的所有数据都虚拟成了整齐划一的对象，所以在读写时效率都会比较高。</a:t>
            </a:r>
          </a:p>
          <a:p>
            <a:r>
              <a:rPr lang="zh-CN" altLang="en-US" dirty="0"/>
              <a:t>但是对象并不会直接存储进</a:t>
            </a:r>
            <a:r>
              <a:rPr lang="en-US" altLang="zh-CN" dirty="0"/>
              <a:t>OSD</a:t>
            </a:r>
            <a:r>
              <a:rPr lang="zh-CN" altLang="en-US" dirty="0"/>
              <a:t>中，因为对象的</a:t>
            </a:r>
            <a:r>
              <a:rPr lang="en-US" altLang="zh-CN" dirty="0"/>
              <a:t>size</a:t>
            </a:r>
            <a:r>
              <a:rPr lang="zh-CN" altLang="en-US" dirty="0"/>
              <a:t>很小，在一个大规模的集群中可能有几百到几千万个对象。这么多对象光是遍历寻址，速度都是很缓慢的；并且如果将对象直接通过某种固定映射的哈希算法映射到</a:t>
            </a:r>
            <a:r>
              <a:rPr lang="en-US" altLang="zh-CN" dirty="0"/>
              <a:t>osd</a:t>
            </a:r>
            <a:r>
              <a:rPr lang="zh-CN" altLang="en-US" dirty="0"/>
              <a:t>上，当这个</a:t>
            </a:r>
            <a:r>
              <a:rPr lang="en-US" altLang="zh-CN" dirty="0"/>
              <a:t>osd</a:t>
            </a:r>
            <a:r>
              <a:rPr lang="zh-CN" altLang="en-US" dirty="0"/>
              <a:t>损坏时，对象无法自动迁移至其他</a:t>
            </a:r>
            <a:r>
              <a:rPr lang="en-US" altLang="zh-CN" dirty="0"/>
              <a:t>osd</a:t>
            </a:r>
            <a:r>
              <a:rPr lang="zh-CN" altLang="en-US" dirty="0"/>
              <a:t>上面（因为映射函数不允许）。为了解决这些问题，</a:t>
            </a:r>
            <a:r>
              <a:rPr lang="en-US" altLang="zh-CN" dirty="0"/>
              <a:t>ceph</a:t>
            </a:r>
            <a:r>
              <a:rPr lang="zh-CN" altLang="en-US" dirty="0"/>
              <a:t>引入了归置组的概念，即</a:t>
            </a:r>
            <a:r>
              <a:rPr lang="en-US" altLang="zh-CN" dirty="0"/>
              <a:t>PG</a:t>
            </a:r>
            <a:r>
              <a:rPr lang="zh-CN" altLang="en-US" dirty="0"/>
              <a:t>。</a:t>
            </a:r>
          </a:p>
          <a:p>
            <a:r>
              <a:rPr lang="en-US" altLang="zh-CN" dirty="0"/>
              <a:t>PG</a:t>
            </a:r>
            <a:r>
              <a:rPr lang="zh-CN" altLang="en-US" dirty="0"/>
              <a:t>是一个逻辑概念，我们</a:t>
            </a:r>
            <a:r>
              <a:rPr lang="en-US" altLang="zh-CN" dirty="0" err="1"/>
              <a:t>linux</a:t>
            </a:r>
            <a:r>
              <a:rPr lang="zh-CN" altLang="en-US" dirty="0"/>
              <a:t>系统中可以直接看到对象，但是无法直接看到</a:t>
            </a:r>
            <a:r>
              <a:rPr lang="en-US" altLang="zh-CN" dirty="0"/>
              <a:t>PG</a:t>
            </a:r>
            <a:r>
              <a:rPr lang="zh-CN" altLang="en-US" dirty="0"/>
              <a:t>。它在数据寻址时类似于数据库中的索引：每个对象都会固定映射进一个</a:t>
            </a:r>
            <a:r>
              <a:rPr lang="en-US" altLang="zh-CN" dirty="0"/>
              <a:t>PG</a:t>
            </a:r>
            <a:r>
              <a:rPr lang="zh-CN" altLang="en-US" dirty="0"/>
              <a:t>中，所以当我们要寻找一个对象时，只需要先找到对象所属的</a:t>
            </a:r>
            <a:r>
              <a:rPr lang="en-US" altLang="zh-CN" dirty="0"/>
              <a:t>PG</a:t>
            </a:r>
            <a:r>
              <a:rPr lang="zh-CN" altLang="en-US" dirty="0"/>
              <a:t>，然后遍历这个</a:t>
            </a:r>
            <a:r>
              <a:rPr lang="en-US" altLang="zh-CN" dirty="0"/>
              <a:t>PG</a:t>
            </a:r>
            <a:r>
              <a:rPr lang="zh-CN" altLang="en-US" dirty="0"/>
              <a:t>就可以了，无需遍历所有对象。而且在数据迁移时，也是以</a:t>
            </a:r>
            <a:r>
              <a:rPr lang="en-US" altLang="zh-CN" dirty="0"/>
              <a:t>PG</a:t>
            </a:r>
            <a:r>
              <a:rPr lang="zh-CN" altLang="en-US" dirty="0"/>
              <a:t>作为基本单位进行迁移，</a:t>
            </a:r>
            <a:r>
              <a:rPr lang="en-US" altLang="zh-CN" dirty="0"/>
              <a:t>ceph</a:t>
            </a:r>
            <a:r>
              <a:rPr lang="zh-CN" altLang="en-US" dirty="0"/>
              <a:t>不会直接操作对象。</a:t>
            </a:r>
          </a:p>
          <a:p>
            <a:r>
              <a:rPr lang="zh-CN" altLang="en-US" dirty="0"/>
              <a:t>对象时如何映射进</a:t>
            </a:r>
            <a:r>
              <a:rPr lang="en-US" altLang="zh-CN" dirty="0"/>
              <a:t>PG</a:t>
            </a:r>
            <a:r>
              <a:rPr lang="zh-CN" altLang="en-US" dirty="0"/>
              <a:t>的？还记得</a:t>
            </a:r>
            <a:r>
              <a:rPr lang="en-US" altLang="zh-CN" dirty="0"/>
              <a:t>OID</a:t>
            </a:r>
            <a:r>
              <a:rPr lang="zh-CN" altLang="en-US" dirty="0"/>
              <a:t>么？首先使用静态</a:t>
            </a:r>
            <a:r>
              <a:rPr lang="en-US" altLang="zh-CN" dirty="0"/>
              <a:t>hash</a:t>
            </a:r>
            <a:r>
              <a:rPr lang="zh-CN" altLang="en-US" dirty="0"/>
              <a:t>函数对</a:t>
            </a:r>
            <a:r>
              <a:rPr lang="en-US" altLang="zh-CN" dirty="0"/>
              <a:t>OID</a:t>
            </a:r>
            <a:r>
              <a:rPr lang="zh-CN" altLang="en-US" dirty="0"/>
              <a:t>做</a:t>
            </a:r>
            <a:r>
              <a:rPr lang="en-US" altLang="zh-CN" dirty="0"/>
              <a:t>hash</a:t>
            </a:r>
            <a:r>
              <a:rPr lang="zh-CN" altLang="en-US" dirty="0"/>
              <a:t>取出特征码，用特征码与</a:t>
            </a:r>
            <a:r>
              <a:rPr lang="en-US" altLang="zh-CN" dirty="0"/>
              <a:t>PG</a:t>
            </a:r>
            <a:r>
              <a:rPr lang="zh-CN" altLang="en-US" dirty="0"/>
              <a:t>的数量去模，得到的序号则是</a:t>
            </a:r>
            <a:r>
              <a:rPr lang="en-US" altLang="zh-CN" dirty="0"/>
              <a:t>PGID</a:t>
            </a:r>
            <a:r>
              <a:rPr lang="zh-CN" altLang="en-US" dirty="0"/>
              <a:t>。由于这种设计方式，</a:t>
            </a:r>
            <a:r>
              <a:rPr lang="en-US" altLang="zh-CN" dirty="0"/>
              <a:t>PG</a:t>
            </a:r>
            <a:r>
              <a:rPr lang="zh-CN" altLang="en-US" dirty="0"/>
              <a:t>的数量多寡直接决定了数据分布的均匀性，所以合理设置的</a:t>
            </a:r>
            <a:r>
              <a:rPr lang="en-US" altLang="zh-CN" dirty="0"/>
              <a:t>PG</a:t>
            </a:r>
            <a:r>
              <a:rPr lang="zh-CN" altLang="en-US" dirty="0"/>
              <a:t>数量可以很好的提升</a:t>
            </a:r>
            <a:r>
              <a:rPr lang="en-US" altLang="zh-CN" dirty="0"/>
              <a:t>CEPH</a:t>
            </a:r>
            <a:r>
              <a:rPr lang="zh-CN" altLang="en-US" dirty="0"/>
              <a:t>集群的性能并使数据均匀分布。</a:t>
            </a:r>
          </a:p>
          <a:p>
            <a:r>
              <a:rPr lang="zh-CN" altLang="en-US" dirty="0"/>
              <a:t>最后</a:t>
            </a:r>
            <a:r>
              <a:rPr lang="en-US" altLang="zh-CN" dirty="0"/>
              <a:t>PG</a:t>
            </a:r>
            <a:r>
              <a:rPr lang="zh-CN" altLang="en-US" dirty="0"/>
              <a:t>会根据管理员设置的副本数量进行复制，然后通过</a:t>
            </a:r>
            <a:r>
              <a:rPr lang="en-US" altLang="zh-CN" dirty="0"/>
              <a:t>crush</a:t>
            </a:r>
            <a:r>
              <a:rPr lang="zh-CN" altLang="en-US" dirty="0"/>
              <a:t>算法存储到不同的</a:t>
            </a:r>
            <a:r>
              <a:rPr lang="en-US" altLang="zh-CN" dirty="0"/>
              <a:t>OSD</a:t>
            </a:r>
            <a:r>
              <a:rPr lang="zh-CN" altLang="en-US" dirty="0"/>
              <a:t>节点上（其实是把</a:t>
            </a:r>
            <a:r>
              <a:rPr lang="en-US" altLang="zh-CN" dirty="0"/>
              <a:t>PG</a:t>
            </a:r>
            <a:r>
              <a:rPr lang="zh-CN" altLang="en-US" dirty="0"/>
              <a:t>中的所有对象存储到节点上），第一个</a:t>
            </a:r>
            <a:r>
              <a:rPr lang="en-US" altLang="zh-CN" dirty="0"/>
              <a:t>osd</a:t>
            </a:r>
            <a:r>
              <a:rPr lang="zh-CN" altLang="en-US" dirty="0"/>
              <a:t>节点即为主节点，其余均为从节点。</a:t>
            </a:r>
          </a:p>
        </p:txBody>
      </p:sp>
    </p:spTree>
    <p:extLst>
      <p:ext uri="{BB962C8B-B14F-4D97-AF65-F5344CB8AC3E}">
        <p14:creationId xmlns:p14="http://schemas.microsoft.com/office/powerpoint/2010/main" val="147638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en-US" altLang="zh-CN" dirty="0"/>
              <a:t>Pool</a:t>
            </a:r>
            <a:r>
              <a:rPr lang="zh-CN" altLang="en-US" dirty="0"/>
              <a:t>是管理员自定义的命名空间，像其他的命名空间一样，用来隔离对象与</a:t>
            </a:r>
            <a:r>
              <a:rPr lang="en-US" altLang="zh-CN" dirty="0"/>
              <a:t>PG</a:t>
            </a:r>
            <a:r>
              <a:rPr lang="zh-CN" altLang="en-US" dirty="0"/>
              <a:t>。我们在调用</a:t>
            </a:r>
            <a:r>
              <a:rPr lang="en-US" altLang="zh-CN" dirty="0"/>
              <a:t>API</a:t>
            </a:r>
            <a:r>
              <a:rPr lang="zh-CN" altLang="en-US" dirty="0"/>
              <a:t>存储即使用对象存储时，需要指定对象要存储进哪一个</a:t>
            </a:r>
            <a:r>
              <a:rPr lang="en-US" altLang="zh-CN" dirty="0"/>
              <a:t>POOL</a:t>
            </a:r>
            <a:r>
              <a:rPr lang="zh-CN" altLang="en-US" dirty="0"/>
              <a:t>中。除了隔离数据，我们也可以分别对不同的</a:t>
            </a:r>
            <a:r>
              <a:rPr lang="en-US" altLang="zh-CN" dirty="0"/>
              <a:t>POOL</a:t>
            </a:r>
            <a:r>
              <a:rPr lang="zh-CN" altLang="en-US" dirty="0"/>
              <a:t>设置不同的优化策略，比如副本数、数据清洗次数、数据块及对象大小等。</a:t>
            </a:r>
          </a:p>
        </p:txBody>
      </p:sp>
    </p:spTree>
    <p:extLst>
      <p:ext uri="{BB962C8B-B14F-4D97-AF65-F5344CB8AC3E}">
        <p14:creationId xmlns:p14="http://schemas.microsoft.com/office/powerpoint/2010/main" val="1063069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CRUSH</a:t>
            </a:r>
            <a:r>
              <a:rPr lang="zh-CN" altLang="en-US" dirty="0"/>
              <a:t>算法资源划分原理如下：</a:t>
            </a:r>
            <a:endParaRPr lang="en-US" altLang="zh-CN" dirty="0"/>
          </a:p>
          <a:p>
            <a:pPr lvl="1"/>
            <a:r>
              <a:rPr lang="zh-CN" altLang="zh-CN" dirty="0"/>
              <a:t>当用户要将数据存储到</a:t>
            </a:r>
            <a:r>
              <a:rPr lang="en-US" altLang="zh-CN" dirty="0"/>
              <a:t>Ceph</a:t>
            </a:r>
            <a:r>
              <a:rPr lang="zh-CN" altLang="zh-CN" dirty="0"/>
              <a:t>集群时，数据先被分割成多个</a:t>
            </a:r>
            <a:r>
              <a:rPr lang="en-US" altLang="zh-CN" dirty="0"/>
              <a:t>object</a:t>
            </a:r>
            <a:r>
              <a:rPr lang="zh-CN" altLang="en-US" dirty="0"/>
              <a:t>（</a:t>
            </a:r>
            <a:r>
              <a:rPr lang="zh-CN" altLang="zh-CN" dirty="0"/>
              <a:t>每个</a:t>
            </a:r>
            <a:r>
              <a:rPr lang="en-US" altLang="zh-CN" dirty="0"/>
              <a:t>object</a:t>
            </a:r>
            <a:r>
              <a:rPr lang="zh-CN" altLang="zh-CN" dirty="0"/>
              <a:t>一个</a:t>
            </a:r>
            <a:r>
              <a:rPr lang="en-US" altLang="zh-CN" dirty="0"/>
              <a:t>object id</a:t>
            </a:r>
            <a:r>
              <a:rPr lang="zh-CN" altLang="zh-CN" dirty="0"/>
              <a:t>，大小可设置，默认是</a:t>
            </a:r>
            <a:r>
              <a:rPr lang="en-US" altLang="zh-CN" dirty="0"/>
              <a:t>4MB</a:t>
            </a:r>
            <a:r>
              <a:rPr lang="zh-CN" altLang="en-US" dirty="0"/>
              <a:t>）</a:t>
            </a:r>
            <a:r>
              <a:rPr lang="zh-CN" altLang="zh-CN" dirty="0"/>
              <a:t>，</a:t>
            </a:r>
            <a:r>
              <a:rPr lang="en-US" altLang="zh-CN" dirty="0"/>
              <a:t>object</a:t>
            </a:r>
            <a:r>
              <a:rPr lang="zh-CN" altLang="zh-CN" dirty="0"/>
              <a:t>是</a:t>
            </a:r>
            <a:r>
              <a:rPr lang="en-US" altLang="zh-CN" dirty="0"/>
              <a:t>Ceph</a:t>
            </a:r>
            <a:r>
              <a:rPr lang="zh-CN" altLang="zh-CN" dirty="0"/>
              <a:t>存储的最小存储单元</a:t>
            </a:r>
            <a:r>
              <a:rPr lang="zh-CN" altLang="en-US" dirty="0"/>
              <a:t>；</a:t>
            </a:r>
            <a:endParaRPr lang="zh-CN" altLang="zh-CN" dirty="0"/>
          </a:p>
          <a:p>
            <a:pPr lvl="1"/>
            <a:r>
              <a:rPr lang="zh-CN" altLang="zh-CN" dirty="0"/>
              <a:t>由于</a:t>
            </a:r>
            <a:r>
              <a:rPr lang="en-US" altLang="zh-CN" dirty="0"/>
              <a:t>object</a:t>
            </a:r>
            <a:r>
              <a:rPr lang="zh-CN" altLang="zh-CN" dirty="0"/>
              <a:t>的数量很多，为了有效减少</a:t>
            </a:r>
            <a:r>
              <a:rPr lang="en-US" altLang="zh-CN" dirty="0"/>
              <a:t>object</a:t>
            </a:r>
            <a:r>
              <a:rPr lang="zh-CN" altLang="zh-CN" dirty="0"/>
              <a:t>到</a:t>
            </a:r>
            <a:r>
              <a:rPr lang="en-US" altLang="zh-CN" dirty="0"/>
              <a:t>OSD</a:t>
            </a:r>
            <a:r>
              <a:rPr lang="zh-CN" altLang="zh-CN" dirty="0"/>
              <a:t>的索引表、降低元数据的复杂度，使得写入和读取更加灵活，引入了</a:t>
            </a:r>
            <a:r>
              <a:rPr lang="en-US" altLang="zh-CN" dirty="0"/>
              <a:t>PG</a:t>
            </a:r>
            <a:r>
              <a:rPr lang="zh-CN" altLang="en-US" dirty="0"/>
              <a:t>（</a:t>
            </a:r>
            <a:r>
              <a:rPr lang="en-US" altLang="zh-CN" dirty="0"/>
              <a:t>Placement Group</a:t>
            </a:r>
            <a:r>
              <a:rPr lang="zh-CN" altLang="en-US" dirty="0"/>
              <a:t>）。</a:t>
            </a:r>
            <a:r>
              <a:rPr lang="en-US" altLang="zh-CN" dirty="0"/>
              <a:t>PG</a:t>
            </a:r>
            <a:r>
              <a:rPr lang="zh-CN" altLang="zh-CN" dirty="0"/>
              <a:t>用来管理</a:t>
            </a:r>
            <a:r>
              <a:rPr lang="en-US" altLang="zh-CN" dirty="0"/>
              <a:t>object</a:t>
            </a:r>
            <a:r>
              <a:rPr lang="zh-CN" altLang="zh-CN" dirty="0"/>
              <a:t>，每个</a:t>
            </a:r>
            <a:r>
              <a:rPr lang="en-US" altLang="zh-CN" dirty="0"/>
              <a:t>object</a:t>
            </a:r>
            <a:r>
              <a:rPr lang="zh-CN" altLang="zh-CN" dirty="0"/>
              <a:t>通过</a:t>
            </a:r>
            <a:r>
              <a:rPr lang="en-US" altLang="zh-CN" dirty="0"/>
              <a:t>Hash</a:t>
            </a:r>
            <a:r>
              <a:rPr lang="zh-CN" altLang="zh-CN" dirty="0"/>
              <a:t>，映射到某个</a:t>
            </a:r>
            <a:r>
              <a:rPr lang="en-US" altLang="zh-CN" dirty="0"/>
              <a:t>PG</a:t>
            </a:r>
            <a:r>
              <a:rPr lang="zh-CN" altLang="zh-CN" dirty="0"/>
              <a:t>中，一个</a:t>
            </a:r>
            <a:r>
              <a:rPr lang="en-US" altLang="zh-CN" dirty="0"/>
              <a:t>PG</a:t>
            </a:r>
            <a:r>
              <a:rPr lang="zh-CN" altLang="zh-CN" dirty="0"/>
              <a:t>可以包含多个</a:t>
            </a:r>
            <a:r>
              <a:rPr lang="en-US" altLang="zh-CN" dirty="0"/>
              <a:t>object</a:t>
            </a:r>
            <a:r>
              <a:rPr lang="zh-CN" altLang="en-US" dirty="0"/>
              <a:t>；</a:t>
            </a:r>
            <a:endParaRPr lang="zh-CN" altLang="zh-CN" dirty="0"/>
          </a:p>
          <a:p>
            <a:pPr lvl="1"/>
            <a:r>
              <a:rPr lang="en-US" altLang="zh-CN" dirty="0"/>
              <a:t>PG</a:t>
            </a:r>
            <a:r>
              <a:rPr lang="zh-CN" altLang="zh-CN" dirty="0"/>
              <a:t>再通过</a:t>
            </a:r>
            <a:r>
              <a:rPr lang="en-US" altLang="zh-CN" dirty="0"/>
              <a:t>CRUSH</a:t>
            </a:r>
            <a:r>
              <a:rPr lang="zh-CN" altLang="zh-CN" dirty="0"/>
              <a:t>计算，映射到</a:t>
            </a:r>
            <a:r>
              <a:rPr lang="en-US" altLang="zh-CN" dirty="0"/>
              <a:t>OSD</a:t>
            </a:r>
            <a:r>
              <a:rPr lang="zh-CN" altLang="zh-CN" dirty="0"/>
              <a:t>中。如果是三副本的，则每个</a:t>
            </a:r>
            <a:r>
              <a:rPr lang="en-US" altLang="zh-CN" dirty="0"/>
              <a:t>PG</a:t>
            </a:r>
            <a:r>
              <a:rPr lang="zh-CN" altLang="zh-CN" dirty="0"/>
              <a:t>都会映射到三个</a:t>
            </a:r>
            <a:r>
              <a:rPr lang="en-US" altLang="zh-CN" dirty="0"/>
              <a:t>OSD</a:t>
            </a:r>
            <a:r>
              <a:rPr lang="zh-CN" altLang="zh-CN" dirty="0"/>
              <a:t>，保证了数据的冗余。</a:t>
            </a:r>
            <a:endParaRPr lang="en-US" altLang="zh-CN" dirty="0"/>
          </a:p>
          <a:p>
            <a:r>
              <a:rPr lang="en-US" altLang="zh-CN" dirty="0"/>
              <a:t>CRUSH</a:t>
            </a:r>
            <a:r>
              <a:rPr lang="zh-CN" altLang="zh-CN" dirty="0"/>
              <a:t>算法并不是绝对不变的，会受其他因素影响，影响因素主要有：</a:t>
            </a:r>
          </a:p>
          <a:p>
            <a:pPr lvl="1"/>
            <a:r>
              <a:rPr lang="zh-CN" altLang="zh-CN" dirty="0"/>
              <a:t>当前系统状态（</a:t>
            </a:r>
            <a:r>
              <a:rPr lang="en-US" altLang="zh-CN" dirty="0"/>
              <a:t>Cluster Map</a:t>
            </a:r>
            <a:r>
              <a:rPr lang="zh-CN" altLang="zh-CN" dirty="0"/>
              <a:t>）</a:t>
            </a:r>
            <a:r>
              <a:rPr lang="zh-CN" altLang="en-US" dirty="0"/>
              <a:t>：</a:t>
            </a:r>
            <a:r>
              <a:rPr lang="zh-CN" altLang="zh-CN" dirty="0"/>
              <a:t>当系统中的</a:t>
            </a:r>
            <a:r>
              <a:rPr lang="en-US" altLang="zh-CN" dirty="0"/>
              <a:t>OSD</a:t>
            </a:r>
            <a:r>
              <a:rPr lang="zh-CN" altLang="zh-CN" dirty="0"/>
              <a:t>状态、数量发生变化，会引起</a:t>
            </a:r>
            <a:r>
              <a:rPr lang="en-US" altLang="zh-CN" dirty="0"/>
              <a:t>Cluster Map</a:t>
            </a:r>
            <a:r>
              <a:rPr lang="zh-CN" altLang="zh-CN" dirty="0"/>
              <a:t>发生变化，就会影响</a:t>
            </a:r>
            <a:r>
              <a:rPr lang="en-US" altLang="zh-CN" dirty="0"/>
              <a:t>PG</a:t>
            </a:r>
            <a:r>
              <a:rPr lang="zh-CN" altLang="zh-CN" dirty="0"/>
              <a:t>与</a:t>
            </a:r>
            <a:r>
              <a:rPr lang="en-US" altLang="zh-CN" dirty="0"/>
              <a:t>OSD</a:t>
            </a:r>
            <a:r>
              <a:rPr lang="zh-CN" altLang="zh-CN" dirty="0"/>
              <a:t>的映射关系</a:t>
            </a:r>
            <a:r>
              <a:rPr lang="zh-CN" altLang="en-US" dirty="0"/>
              <a:t>；</a:t>
            </a:r>
            <a:endParaRPr lang="zh-CN" altLang="zh-CN" dirty="0"/>
          </a:p>
          <a:p>
            <a:pPr lvl="1"/>
            <a:r>
              <a:rPr lang="zh-CN" altLang="zh-CN" dirty="0"/>
              <a:t>存储策略配置 （存储策略主要与数据安全相关）</a:t>
            </a:r>
            <a:r>
              <a:rPr lang="zh-CN" altLang="en-US" dirty="0"/>
              <a:t>：</a:t>
            </a:r>
            <a:r>
              <a:rPr lang="zh-CN" altLang="zh-CN" dirty="0"/>
              <a:t>通过策略可以指定同一个</a:t>
            </a:r>
            <a:r>
              <a:rPr lang="en-US" altLang="zh-CN" dirty="0"/>
              <a:t>PG</a:t>
            </a:r>
            <a:r>
              <a:rPr lang="zh-CN" altLang="zh-CN" dirty="0"/>
              <a:t>的</a:t>
            </a:r>
            <a:r>
              <a:rPr lang="en-US" altLang="zh-CN" dirty="0"/>
              <a:t>3</a:t>
            </a:r>
            <a:r>
              <a:rPr lang="zh-CN" altLang="zh-CN" dirty="0"/>
              <a:t>个</a:t>
            </a:r>
            <a:r>
              <a:rPr lang="en-US" altLang="zh-CN" dirty="0"/>
              <a:t>OSD</a:t>
            </a:r>
            <a:r>
              <a:rPr lang="zh-CN" altLang="zh-CN" dirty="0"/>
              <a:t>分别位于数据中心的不同服务器甚至不同机柜上，从而更加完善存储的可靠性。</a:t>
            </a:r>
          </a:p>
          <a:p>
            <a:endParaRPr lang="zh-CN" altLang="zh-CN" dirty="0"/>
          </a:p>
          <a:p>
            <a:endParaRPr lang="zh-CN" altLang="en-US" dirty="0"/>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518411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数据一致性：</a:t>
            </a:r>
            <a:endParaRPr lang="en-US" altLang="zh-CN" dirty="0"/>
          </a:p>
          <a:p>
            <a:pPr lvl="1"/>
            <a:r>
              <a:rPr lang="zh-CN" altLang="en-US" dirty="0"/>
              <a:t>作为维护数据一致和清洁的一部分，</a:t>
            </a:r>
            <a:r>
              <a:rPr lang="en-US" altLang="zh-CN" dirty="0"/>
              <a:t>OSD</a:t>
            </a:r>
            <a:r>
              <a:rPr lang="zh-CN" altLang="en-US" dirty="0"/>
              <a:t>也能清洗归置组内的对象。也就是说，</a:t>
            </a:r>
            <a:r>
              <a:rPr lang="en-US" altLang="zh-CN" dirty="0"/>
              <a:t>OSD</a:t>
            </a:r>
            <a:r>
              <a:rPr lang="zh-CN" altLang="en-US" dirty="0"/>
              <a:t>会比较归置组内位于不同</a:t>
            </a:r>
            <a:r>
              <a:rPr lang="en-US" altLang="zh-CN" dirty="0"/>
              <a:t>OSD</a:t>
            </a:r>
            <a:r>
              <a:rPr lang="zh-CN" altLang="en-US" dirty="0"/>
              <a:t>的各对象副本的元数据。</a:t>
            </a:r>
            <a:endParaRPr lang="en-US" altLang="zh-CN" dirty="0"/>
          </a:p>
          <a:p>
            <a:pPr lvl="2"/>
            <a:r>
              <a:rPr lang="zh-CN" altLang="en-US" dirty="0"/>
              <a:t>清洗（通常每天执行）是为捕获</a:t>
            </a:r>
            <a:r>
              <a:rPr lang="en-US" altLang="zh-CN" dirty="0"/>
              <a:t>OSD</a:t>
            </a:r>
            <a:r>
              <a:rPr lang="zh-CN" altLang="en-US" dirty="0"/>
              <a:t>缺陷和文件系统错误；</a:t>
            </a:r>
            <a:endParaRPr lang="en-US" altLang="zh-CN" dirty="0"/>
          </a:p>
          <a:p>
            <a:pPr lvl="2"/>
            <a:r>
              <a:rPr lang="en-US" altLang="zh-CN" dirty="0"/>
              <a:t>OSD</a:t>
            </a:r>
            <a:r>
              <a:rPr lang="zh-CN" altLang="en-US" dirty="0"/>
              <a:t>也能执行深度清洗（通常每周执行），即按位比较对象内的数据，能够捕捉那些在轻度清洗过程中未能发现的磁盘上的坏扇区；</a:t>
            </a:r>
          </a:p>
          <a:p>
            <a:pPr lvl="1"/>
            <a:r>
              <a:rPr lang="en-US" altLang="zh-CN" dirty="0"/>
              <a:t>Ceph</a:t>
            </a:r>
            <a:r>
              <a:rPr lang="zh-CN" altLang="en-US" dirty="0"/>
              <a:t>集群中为了保证数据一致性，可以选择</a:t>
            </a:r>
            <a:r>
              <a:rPr lang="en-US" altLang="zh-CN" dirty="0"/>
              <a:t>2</a:t>
            </a:r>
            <a:r>
              <a:rPr lang="zh-CN" altLang="en-US" dirty="0"/>
              <a:t>种方案：多副本和</a:t>
            </a:r>
            <a:r>
              <a:rPr lang="zh-CN" altLang="zh-CN" dirty="0"/>
              <a:t>纠删码</a:t>
            </a:r>
            <a:r>
              <a:rPr lang="zh-CN" altLang="en-US" dirty="0"/>
              <a:t>。</a:t>
            </a:r>
          </a:p>
          <a:p>
            <a:r>
              <a:rPr lang="zh-CN" altLang="zh-CN" dirty="0"/>
              <a:t>纠删码（</a:t>
            </a:r>
            <a:r>
              <a:rPr lang="en-US" altLang="zh-CN" dirty="0"/>
              <a:t>Erasure Coding</a:t>
            </a:r>
            <a:r>
              <a:rPr lang="zh-CN" altLang="zh-CN" dirty="0"/>
              <a:t>，</a:t>
            </a:r>
            <a:r>
              <a:rPr lang="en-US" altLang="zh-CN" dirty="0"/>
              <a:t>EC</a:t>
            </a:r>
            <a:r>
              <a:rPr lang="zh-CN" altLang="zh-CN" dirty="0"/>
              <a:t>）是一种编码容错技术，最早是在通信行业解决部分数据在传输中的损耗问题。其基本原理就是把传输的信号分段，加入一定的校验</a:t>
            </a:r>
            <a:r>
              <a:rPr lang="zh-CN" altLang="en-US" dirty="0"/>
              <a:t>，</a:t>
            </a:r>
            <a:r>
              <a:rPr lang="zh-CN" altLang="zh-CN" dirty="0"/>
              <a:t>再让各段间发生相互关联</a:t>
            </a:r>
            <a:r>
              <a:rPr lang="zh-CN" altLang="en-US" dirty="0"/>
              <a:t>。</a:t>
            </a:r>
            <a:r>
              <a:rPr lang="zh-CN" altLang="zh-CN" dirty="0"/>
              <a:t>即使在传输过程中丢失部分信号，接收端仍然能通过算法将完整的信息计算出来。在数据存储中，纠删码将数据分割成片段，把冗余数据块扩展和编码，并将其存储在不同的位置，比如磁盘、存储节点或者其他地理位置。</a:t>
            </a:r>
          </a:p>
          <a:p>
            <a:r>
              <a:rPr lang="zh-CN" altLang="zh-CN" dirty="0"/>
              <a:t>从纠删码基本的形态看，它是</a:t>
            </a:r>
            <a:r>
              <a:rPr lang="en-US" altLang="zh-CN" dirty="0"/>
              <a:t>k</a:t>
            </a:r>
            <a:r>
              <a:rPr lang="zh-CN" altLang="zh-CN" dirty="0"/>
              <a:t>个数据块</a:t>
            </a:r>
            <a:r>
              <a:rPr lang="en-US" altLang="zh-CN" dirty="0"/>
              <a:t>+m</a:t>
            </a:r>
            <a:r>
              <a:rPr lang="zh-CN" altLang="zh-CN" dirty="0"/>
              <a:t>个校验块的结构，其中</a:t>
            </a:r>
            <a:r>
              <a:rPr lang="en-US" altLang="zh-CN" dirty="0"/>
              <a:t>k</a:t>
            </a:r>
            <a:r>
              <a:rPr lang="zh-CN" altLang="zh-CN" dirty="0"/>
              <a:t>和</a:t>
            </a:r>
            <a:r>
              <a:rPr lang="en-US" altLang="zh-CN" dirty="0"/>
              <a:t>m</a:t>
            </a:r>
            <a:r>
              <a:rPr lang="zh-CN" altLang="zh-CN" dirty="0"/>
              <a:t>值可以按照一定的规则设定，可以用公式：</a:t>
            </a:r>
            <a:r>
              <a:rPr lang="en-US" altLang="zh-CN" dirty="0"/>
              <a:t>n=</a:t>
            </a:r>
            <a:r>
              <a:rPr lang="en-US" altLang="zh-CN" dirty="0" err="1"/>
              <a:t>k+m</a:t>
            </a:r>
            <a:r>
              <a:rPr lang="zh-CN" altLang="zh-CN" dirty="0"/>
              <a:t>来表示。变量</a:t>
            </a:r>
            <a:r>
              <a:rPr lang="en-US" altLang="zh-CN" dirty="0"/>
              <a:t>k</a:t>
            </a:r>
            <a:r>
              <a:rPr lang="zh-CN" altLang="zh-CN" dirty="0"/>
              <a:t>代表原始数据或符号的值</a:t>
            </a:r>
            <a:r>
              <a:rPr lang="zh-CN" altLang="en-US" dirty="0"/>
              <a:t>，</a:t>
            </a:r>
            <a:r>
              <a:rPr lang="zh-CN" altLang="zh-CN" dirty="0"/>
              <a:t>变量</a:t>
            </a:r>
            <a:r>
              <a:rPr lang="en-US" altLang="zh-CN" dirty="0"/>
              <a:t>m</a:t>
            </a:r>
            <a:r>
              <a:rPr lang="zh-CN" altLang="zh-CN" dirty="0"/>
              <a:t>代表故障后添加的提供保护的额外或冗余符号的值</a:t>
            </a:r>
            <a:r>
              <a:rPr lang="zh-CN" altLang="en-US" dirty="0"/>
              <a:t>，</a:t>
            </a:r>
            <a:r>
              <a:rPr lang="zh-CN" altLang="zh-CN" dirty="0"/>
              <a:t>变量</a:t>
            </a:r>
            <a:r>
              <a:rPr lang="en-US" altLang="zh-CN" dirty="0"/>
              <a:t>n</a:t>
            </a:r>
            <a:r>
              <a:rPr lang="zh-CN" altLang="zh-CN" dirty="0"/>
              <a:t>代表纠删码过程后创建的符号的总值。当小于或等于</a:t>
            </a:r>
            <a:r>
              <a:rPr lang="en-US" altLang="zh-CN" dirty="0"/>
              <a:t>m</a:t>
            </a:r>
            <a:r>
              <a:rPr lang="zh-CN" altLang="zh-CN" dirty="0"/>
              <a:t>个存储块（数据块或校验块）损坏的情况下，整体数据块可以通过计算剩余存储块上的数据得到，整体数据不会丢失。</a:t>
            </a:r>
            <a:endParaRPr lang="zh-CN" altLang="en-US" dirty="0"/>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486455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上</a:t>
            </a:r>
            <a:r>
              <a:rPr lang="zh-CN" altLang="zh-CN" dirty="0"/>
              <a:t>面的图描述了重均衡过程，其中的一些</a:t>
            </a:r>
            <a:r>
              <a:rPr lang="en-US" altLang="zh-CN" dirty="0"/>
              <a:t>PG</a:t>
            </a:r>
            <a:r>
              <a:rPr lang="zh-CN" altLang="en-US" dirty="0"/>
              <a:t>会</a:t>
            </a:r>
            <a:r>
              <a:rPr lang="zh-CN" altLang="zh-CN" dirty="0"/>
              <a:t>从</a:t>
            </a:r>
            <a:r>
              <a:rPr lang="zh-CN" altLang="en-US" dirty="0"/>
              <a:t>原先的</a:t>
            </a:r>
            <a:r>
              <a:rPr lang="en-US" altLang="zh-CN" dirty="0"/>
              <a:t>OSD1</a:t>
            </a:r>
            <a:r>
              <a:rPr lang="zh-CN" altLang="en-US" dirty="0"/>
              <a:t>和</a:t>
            </a:r>
            <a:r>
              <a:rPr lang="en-US" altLang="zh-CN" dirty="0"/>
              <a:t>OSD2</a:t>
            </a:r>
            <a:r>
              <a:rPr lang="zh-CN" altLang="zh-CN" dirty="0"/>
              <a:t>迁移到新</a:t>
            </a:r>
            <a:r>
              <a:rPr lang="en-US" altLang="zh-CN" dirty="0"/>
              <a:t>OSD3</a:t>
            </a:r>
            <a:r>
              <a:rPr lang="zh-CN" altLang="zh-CN" dirty="0"/>
              <a:t>。即使在重均衡中</a:t>
            </a:r>
            <a:r>
              <a:rPr lang="zh-CN" altLang="en-US" dirty="0"/>
              <a:t>，</a:t>
            </a:r>
            <a:r>
              <a:rPr lang="en-US" altLang="zh-CN" dirty="0"/>
              <a:t>CRUSH</a:t>
            </a:r>
            <a:r>
              <a:rPr lang="zh-CN" altLang="zh-CN" dirty="0"/>
              <a:t>都是稳定的，很多归置组仍维持最初的配置，且各</a:t>
            </a:r>
            <a:r>
              <a:rPr lang="en-US" altLang="zh-CN" dirty="0"/>
              <a:t>OSD</a:t>
            </a:r>
            <a:r>
              <a:rPr lang="zh-CN" altLang="zh-CN" dirty="0"/>
              <a:t>都腾出了些空间，所以重均衡完成后</a:t>
            </a:r>
            <a:r>
              <a:rPr lang="zh-CN" altLang="en-US" dirty="0"/>
              <a:t>，</a:t>
            </a:r>
            <a:r>
              <a:rPr lang="zh-CN" altLang="zh-CN" dirty="0"/>
              <a:t>新</a:t>
            </a:r>
            <a:r>
              <a:rPr lang="en-US" altLang="zh-CN" dirty="0"/>
              <a:t> OSD</a:t>
            </a:r>
            <a:r>
              <a:rPr lang="zh-CN" altLang="zh-CN" dirty="0"/>
              <a:t>上不会出现负载突增。</a:t>
            </a:r>
          </a:p>
          <a:p>
            <a:endParaRPr lang="zh-CN" altLang="en-US" dirty="0"/>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33208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584200" y="765175"/>
            <a:ext cx="5930900" cy="3336925"/>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3651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17" name="Group 3"/>
          <p:cNvGraphicFramePr>
            <a:graphicFrameLocks noGrp="1"/>
          </p:cNvGraphicFramePr>
          <p:nvPr userDrawn="1">
            <p:extLst>
              <p:ext uri="{D42A27DB-BD31-4B8C-83A1-F6EECF244321}">
                <p14:modId xmlns:p14="http://schemas.microsoft.com/office/powerpoint/2010/main" val="3577508034"/>
              </p:ext>
            </p:extLst>
          </p:nvPr>
        </p:nvGraphicFramePr>
        <p:xfrm>
          <a:off x="1007533" y="1254489"/>
          <a:ext cx="10464801" cy="1082675"/>
        </p:xfrm>
        <a:graphic>
          <a:graphicData uri="http://schemas.openxmlformats.org/drawingml/2006/table">
            <a:tbl>
              <a:tblPr/>
              <a:tblGrid>
                <a:gridCol w="3120249">
                  <a:extLst>
                    <a:ext uri="{9D8B030D-6E8A-4147-A177-3AD203B41FA5}">
                      <a16:colId xmlns:a16="http://schemas.microsoft.com/office/drawing/2014/main" val="20000"/>
                    </a:ext>
                  </a:extLst>
                </a:gridCol>
                <a:gridCol w="1968219">
                  <a:extLst>
                    <a:ext uri="{9D8B030D-6E8A-4147-A177-3AD203B41FA5}">
                      <a16:colId xmlns:a16="http://schemas.microsoft.com/office/drawing/2014/main" val="20001"/>
                    </a:ext>
                  </a:extLst>
                </a:gridCol>
                <a:gridCol w="3024336">
                  <a:extLst>
                    <a:ext uri="{9D8B030D-6E8A-4147-A177-3AD203B41FA5}">
                      <a16:colId xmlns:a16="http://schemas.microsoft.com/office/drawing/2014/main" val="20002"/>
                    </a:ext>
                  </a:extLst>
                </a:gridCol>
                <a:gridCol w="235199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课程编码</a:t>
                      </a: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适用产品</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产品版本</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课程版本</a:t>
                      </a:r>
                      <a:endParaRPr kumimoji="1" lang="en-US" altLang="zh-CN" sz="18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 name="Group 21"/>
          <p:cNvGraphicFramePr>
            <a:graphicFrameLocks noGrp="1"/>
          </p:cNvGraphicFramePr>
          <p:nvPr userDrawn="1">
            <p:extLst>
              <p:ext uri="{D42A27DB-BD31-4B8C-83A1-F6EECF244321}">
                <p14:modId xmlns:p14="http://schemas.microsoft.com/office/powerpoint/2010/main" val="585112825"/>
              </p:ext>
            </p:extLst>
          </p:nvPr>
        </p:nvGraphicFramePr>
        <p:xfrm>
          <a:off x="1007533" y="2776901"/>
          <a:ext cx="10464800" cy="3038475"/>
        </p:xfrm>
        <a:graphic>
          <a:graphicData uri="http://schemas.openxmlformats.org/drawingml/2006/table">
            <a:tbl>
              <a:tblPr/>
              <a:tblGrid>
                <a:gridCol w="3120248">
                  <a:extLst>
                    <a:ext uri="{9D8B030D-6E8A-4147-A177-3AD203B41FA5}">
                      <a16:colId xmlns:a16="http://schemas.microsoft.com/office/drawing/2014/main" val="20000"/>
                    </a:ext>
                  </a:extLst>
                </a:gridCol>
                <a:gridCol w="1968219">
                  <a:extLst>
                    <a:ext uri="{9D8B030D-6E8A-4147-A177-3AD203B41FA5}">
                      <a16:colId xmlns:a16="http://schemas.microsoft.com/office/drawing/2014/main" val="20001"/>
                    </a:ext>
                  </a:extLst>
                </a:gridCol>
                <a:gridCol w="3024336">
                  <a:extLst>
                    <a:ext uri="{9D8B030D-6E8A-4147-A177-3AD203B41FA5}">
                      <a16:colId xmlns:a16="http://schemas.microsoft.com/office/drawing/2014/main" val="20002"/>
                    </a:ext>
                  </a:extLst>
                </a:gridCol>
                <a:gridCol w="235199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作者</a:t>
                      </a:r>
                      <a:r>
                        <a:rPr kumimoji="1" lang="en-US" altLang="zh-CN" sz="1800" b="1" i="0" u="none" strike="noStrike" cap="none" normalizeH="0" baseline="0" dirty="0">
                          <a:ln>
                            <a:noFill/>
                          </a:ln>
                          <a:solidFill>
                            <a:schemeClr val="tx1"/>
                          </a:solidFill>
                          <a:effectLst/>
                          <a:latin typeface="+mn-ea"/>
                          <a:ea typeface="+mn-ea"/>
                        </a:rPr>
                        <a:t>/</a:t>
                      </a:r>
                      <a:r>
                        <a:rPr kumimoji="1" lang="zh-CN" altLang="en-US" sz="1800" b="1" i="0" u="none" strike="noStrike" cap="none" normalizeH="0" baseline="0" dirty="0">
                          <a:ln>
                            <a:noFill/>
                          </a:ln>
                          <a:solidFill>
                            <a:schemeClr val="tx1"/>
                          </a:solidFill>
                          <a:effectLst/>
                          <a:latin typeface="+mn-ea"/>
                          <a:ea typeface="+mn-ea"/>
                        </a:rPr>
                        <a:t>工号</a:t>
                      </a: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时间</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审核人</a:t>
                      </a:r>
                      <a:r>
                        <a:rPr kumimoji="1" lang="en-US" altLang="zh-CN" sz="1800" b="1" i="0" u="none" strike="noStrike" cap="none" normalizeH="0" baseline="0" dirty="0">
                          <a:ln>
                            <a:noFill/>
                          </a:ln>
                          <a:solidFill>
                            <a:schemeClr val="tx1"/>
                          </a:solidFill>
                          <a:effectLst/>
                          <a:latin typeface="+mn-ea"/>
                          <a:ea typeface="+mn-ea"/>
                        </a:rPr>
                        <a:t>/</a:t>
                      </a:r>
                      <a:r>
                        <a:rPr kumimoji="1" lang="zh-CN" altLang="en-US" sz="1800" b="1" i="0" u="none" strike="noStrike" cap="none" normalizeH="0" baseline="0" dirty="0">
                          <a:ln>
                            <a:noFill/>
                          </a:ln>
                          <a:solidFill>
                            <a:schemeClr val="tx1"/>
                          </a:solidFill>
                          <a:effectLst/>
                          <a:latin typeface="+mn-ea"/>
                          <a:ea typeface="+mn-ea"/>
                        </a:rPr>
                        <a:t>工号</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ea"/>
                          <a:ea typeface="+mn-ea"/>
                        </a:rPr>
                        <a:t>新开发/优化</a:t>
                      </a:r>
                      <a:endParaRPr kumimoji="1" lang="zh-CN" altLang="en-US" sz="18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5" name="文本占位符 7"/>
          <p:cNvSpPr>
            <a:spLocks noGrp="1"/>
          </p:cNvSpPr>
          <p:nvPr>
            <p:ph type="body" sz="quarter" idx="17" hasCustomPrompt="1"/>
          </p:nvPr>
        </p:nvSpPr>
        <p:spPr>
          <a:xfrm>
            <a:off x="1007533" y="1825691"/>
            <a:ext cx="3120248"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课程编码</a:t>
            </a:r>
          </a:p>
        </p:txBody>
      </p:sp>
      <p:sp>
        <p:nvSpPr>
          <p:cNvPr id="36" name="文本占位符 7"/>
          <p:cNvSpPr>
            <a:spLocks noGrp="1"/>
          </p:cNvSpPr>
          <p:nvPr>
            <p:ph type="body" sz="quarter" idx="18" hasCustomPrompt="1"/>
          </p:nvPr>
        </p:nvSpPr>
        <p:spPr>
          <a:xfrm>
            <a:off x="4127781" y="1825691"/>
            <a:ext cx="1968219"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适用的产品</a:t>
            </a:r>
          </a:p>
        </p:txBody>
      </p:sp>
      <p:sp>
        <p:nvSpPr>
          <p:cNvPr id="37" name="文本占位符 7"/>
          <p:cNvSpPr>
            <a:spLocks noGrp="1"/>
          </p:cNvSpPr>
          <p:nvPr>
            <p:ph type="body" sz="quarter" idx="19" hasCustomPrompt="1"/>
          </p:nvPr>
        </p:nvSpPr>
        <p:spPr>
          <a:xfrm>
            <a:off x="6096000" y="1825691"/>
            <a:ext cx="3024336"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V5R2</a:t>
            </a:r>
            <a:endParaRPr lang="zh-CN" altLang="en-US" dirty="0"/>
          </a:p>
        </p:txBody>
      </p:sp>
      <p:sp>
        <p:nvSpPr>
          <p:cNvPr id="38" name="文本占位符 7"/>
          <p:cNvSpPr>
            <a:spLocks noGrp="1"/>
          </p:cNvSpPr>
          <p:nvPr>
            <p:ph type="body" sz="quarter" idx="20" hasCustomPrompt="1"/>
          </p:nvPr>
        </p:nvSpPr>
        <p:spPr>
          <a:xfrm>
            <a:off x="9120336" y="1825691"/>
            <a:ext cx="2351997"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V1R1</a:t>
            </a:r>
            <a:endParaRPr lang="zh-CN" altLang="en-US" dirty="0"/>
          </a:p>
        </p:txBody>
      </p:sp>
      <p:sp>
        <p:nvSpPr>
          <p:cNvPr id="43" name="文本占位符 7"/>
          <p:cNvSpPr>
            <a:spLocks noGrp="1"/>
          </p:cNvSpPr>
          <p:nvPr>
            <p:ph type="body" sz="quarter" idx="13" hasCustomPrompt="1"/>
          </p:nvPr>
        </p:nvSpPr>
        <p:spPr>
          <a:xfrm>
            <a:off x="1007435" y="3373862"/>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4" name="文本占位符 7"/>
          <p:cNvSpPr>
            <a:spLocks noGrp="1"/>
          </p:cNvSpPr>
          <p:nvPr>
            <p:ph type="body" sz="quarter" idx="14" hasCustomPrompt="1"/>
          </p:nvPr>
        </p:nvSpPr>
        <p:spPr>
          <a:xfrm>
            <a:off x="4127781" y="3373862"/>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45" name="文本占位符 7"/>
          <p:cNvSpPr>
            <a:spLocks noGrp="1"/>
          </p:cNvSpPr>
          <p:nvPr>
            <p:ph type="body" sz="quarter" idx="15" hasCustomPrompt="1"/>
          </p:nvPr>
        </p:nvSpPr>
        <p:spPr>
          <a:xfrm>
            <a:off x="6096000" y="3373862"/>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6" name="文本占位符 7"/>
          <p:cNvSpPr>
            <a:spLocks noGrp="1"/>
          </p:cNvSpPr>
          <p:nvPr>
            <p:ph type="body" sz="quarter" idx="16" hasCustomPrompt="1"/>
          </p:nvPr>
        </p:nvSpPr>
        <p:spPr>
          <a:xfrm>
            <a:off x="9120336" y="3337858"/>
            <a:ext cx="2352261"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新开发</a:t>
            </a:r>
          </a:p>
        </p:txBody>
      </p:sp>
      <p:sp>
        <p:nvSpPr>
          <p:cNvPr id="63" name="Rectangle 2"/>
          <p:cNvSpPr>
            <a:spLocks noChangeArrowheads="1"/>
          </p:cNvSpPr>
          <p:nvPr userDrawn="1"/>
        </p:nvSpPr>
        <p:spPr bwMode="auto">
          <a:xfrm>
            <a:off x="952501" y="368660"/>
            <a:ext cx="2803239" cy="479425"/>
          </a:xfrm>
          <a:prstGeom prst="rect">
            <a:avLst/>
          </a:prstGeom>
          <a:noFill/>
          <a:ln w="9525">
            <a:noFill/>
            <a:miter lim="800000"/>
            <a:headEnd/>
            <a:tailEnd/>
          </a:ln>
        </p:spPr>
        <p:txBody>
          <a:bodyPr lIns="78258" tIns="39127" rIns="78258" bIns="39127" anchor="ctr"/>
          <a:lstStyle/>
          <a:p>
            <a:pPr algn="l" defTabSz="1001624" rtl="0" eaLnBrk="0" fontAlgn="t" hangingPunct="0">
              <a:spcBef>
                <a:spcPct val="0"/>
              </a:spcBef>
              <a:spcAft>
                <a:spcPct val="0"/>
              </a:spcAft>
            </a:pPr>
            <a:r>
              <a:rPr lang="zh-CN" altLang="en-US" sz="3500" b="1" kern="1200" dirty="0">
                <a:solidFill>
                  <a:schemeClr val="tx1">
                    <a:lumMod val="75000"/>
                    <a:lumOff val="25000"/>
                  </a:schemeClr>
                </a:solidFill>
                <a:latin typeface="+mn-lt"/>
                <a:ea typeface="+mn-ea"/>
                <a:cs typeface="Arial" panose="020B0604020202020204" pitchFamily="34" charset="0"/>
              </a:rPr>
              <a:t>修订记录</a:t>
            </a:r>
          </a:p>
        </p:txBody>
      </p:sp>
      <p:sp>
        <p:nvSpPr>
          <p:cNvPr id="64" name="Text Box 58"/>
          <p:cNvSpPr txBox="1">
            <a:spLocks noChangeArrowheads="1"/>
          </p:cNvSpPr>
          <p:nvPr userDrawn="1"/>
        </p:nvSpPr>
        <p:spPr bwMode="auto">
          <a:xfrm>
            <a:off x="8904312" y="296652"/>
            <a:ext cx="2772308" cy="701675"/>
          </a:xfrm>
          <a:prstGeom prst="rect">
            <a:avLst/>
          </a:prstGeom>
          <a:noFill/>
          <a:ln w="9525" algn="ctr">
            <a:noFill/>
            <a:miter lim="800000"/>
            <a:headEnd/>
            <a:tailEnd/>
          </a:ln>
        </p:spPr>
        <p:txBody>
          <a:bodyPr wrap="square">
            <a:spAutoFit/>
          </a:bodyPr>
          <a:lstStyle/>
          <a:p>
            <a:pPr>
              <a:spcBef>
                <a:spcPct val="50000"/>
              </a:spcBef>
            </a:pPr>
            <a:r>
              <a:rPr lang="zh-CN" altLang="en-US" sz="4000" i="0" dirty="0">
                <a:solidFill>
                  <a:schemeClr val="bg2">
                    <a:lumMod val="50000"/>
                  </a:schemeClr>
                </a:solidFill>
                <a:latin typeface="+mn-lt"/>
                <a:ea typeface="+mn-ea"/>
                <a:cs typeface="Arial" panose="020B0604020202020204" pitchFamily="34" charset="0"/>
              </a:rPr>
              <a:t>本页不打印</a:t>
            </a:r>
          </a:p>
        </p:txBody>
      </p:sp>
      <p:sp>
        <p:nvSpPr>
          <p:cNvPr id="39" name="文本占位符 7"/>
          <p:cNvSpPr>
            <a:spLocks noGrp="1"/>
          </p:cNvSpPr>
          <p:nvPr>
            <p:ph type="body" sz="quarter" idx="21" hasCustomPrompt="1"/>
          </p:nvPr>
        </p:nvSpPr>
        <p:spPr>
          <a:xfrm>
            <a:off x="1007435" y="3877918"/>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0" name="文本占位符 7"/>
          <p:cNvSpPr>
            <a:spLocks noGrp="1"/>
          </p:cNvSpPr>
          <p:nvPr>
            <p:ph type="body" sz="quarter" idx="22" hasCustomPrompt="1"/>
          </p:nvPr>
        </p:nvSpPr>
        <p:spPr>
          <a:xfrm>
            <a:off x="4127781" y="3877918"/>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41" name="文本占位符 7"/>
          <p:cNvSpPr>
            <a:spLocks noGrp="1"/>
          </p:cNvSpPr>
          <p:nvPr>
            <p:ph type="body" sz="quarter" idx="23" hasCustomPrompt="1"/>
          </p:nvPr>
        </p:nvSpPr>
        <p:spPr>
          <a:xfrm>
            <a:off x="6096000" y="3877918"/>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2" name="文本占位符 7"/>
          <p:cNvSpPr>
            <a:spLocks noGrp="1"/>
          </p:cNvSpPr>
          <p:nvPr>
            <p:ph type="body" sz="quarter" idx="24" hasCustomPrompt="1"/>
          </p:nvPr>
        </p:nvSpPr>
        <p:spPr>
          <a:xfrm>
            <a:off x="9120336" y="3841914"/>
            <a:ext cx="2352261"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65" name="文本占位符 7"/>
          <p:cNvSpPr>
            <a:spLocks noGrp="1"/>
          </p:cNvSpPr>
          <p:nvPr>
            <p:ph type="body" sz="quarter" idx="25" hasCustomPrompt="1"/>
          </p:nvPr>
        </p:nvSpPr>
        <p:spPr>
          <a:xfrm>
            <a:off x="1007435" y="4345970"/>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66" name="文本占位符 7"/>
          <p:cNvSpPr>
            <a:spLocks noGrp="1"/>
          </p:cNvSpPr>
          <p:nvPr>
            <p:ph type="body" sz="quarter" idx="26" hasCustomPrompt="1"/>
          </p:nvPr>
        </p:nvSpPr>
        <p:spPr>
          <a:xfrm>
            <a:off x="4127781" y="4345970"/>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67" name="文本占位符 7"/>
          <p:cNvSpPr>
            <a:spLocks noGrp="1"/>
          </p:cNvSpPr>
          <p:nvPr>
            <p:ph type="body" sz="quarter" idx="27" hasCustomPrompt="1"/>
          </p:nvPr>
        </p:nvSpPr>
        <p:spPr>
          <a:xfrm>
            <a:off x="6096000" y="4345970"/>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68" name="文本占位符 7"/>
          <p:cNvSpPr>
            <a:spLocks noGrp="1"/>
          </p:cNvSpPr>
          <p:nvPr>
            <p:ph type="body" sz="quarter" idx="28" hasCustomPrompt="1"/>
          </p:nvPr>
        </p:nvSpPr>
        <p:spPr>
          <a:xfrm>
            <a:off x="9120336" y="4345970"/>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69" name="文本占位符 7"/>
          <p:cNvSpPr>
            <a:spLocks noGrp="1"/>
          </p:cNvSpPr>
          <p:nvPr>
            <p:ph type="body" sz="quarter" idx="29" hasCustomPrompt="1"/>
          </p:nvPr>
        </p:nvSpPr>
        <p:spPr>
          <a:xfrm>
            <a:off x="1007435" y="4886030"/>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0" name="文本占位符 7"/>
          <p:cNvSpPr>
            <a:spLocks noGrp="1"/>
          </p:cNvSpPr>
          <p:nvPr>
            <p:ph type="body" sz="quarter" idx="30" hasCustomPrompt="1"/>
          </p:nvPr>
        </p:nvSpPr>
        <p:spPr>
          <a:xfrm>
            <a:off x="4127781" y="4886030"/>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71" name="文本占位符 7"/>
          <p:cNvSpPr>
            <a:spLocks noGrp="1"/>
          </p:cNvSpPr>
          <p:nvPr>
            <p:ph type="body" sz="quarter" idx="31" hasCustomPrompt="1"/>
          </p:nvPr>
        </p:nvSpPr>
        <p:spPr>
          <a:xfrm>
            <a:off x="6096000" y="4886030"/>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2" name="文本占位符 7"/>
          <p:cNvSpPr>
            <a:spLocks noGrp="1"/>
          </p:cNvSpPr>
          <p:nvPr>
            <p:ph type="body" sz="quarter" idx="32" hasCustomPrompt="1"/>
          </p:nvPr>
        </p:nvSpPr>
        <p:spPr>
          <a:xfrm>
            <a:off x="9120336" y="4886030"/>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73" name="文本占位符 7"/>
          <p:cNvSpPr>
            <a:spLocks noGrp="1"/>
          </p:cNvSpPr>
          <p:nvPr>
            <p:ph type="body" sz="quarter" idx="33" hasCustomPrompt="1"/>
          </p:nvPr>
        </p:nvSpPr>
        <p:spPr>
          <a:xfrm>
            <a:off x="1007435" y="5354082"/>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4" name="文本占位符 7"/>
          <p:cNvSpPr>
            <a:spLocks noGrp="1"/>
          </p:cNvSpPr>
          <p:nvPr>
            <p:ph type="body" sz="quarter" idx="34" hasCustomPrompt="1"/>
          </p:nvPr>
        </p:nvSpPr>
        <p:spPr>
          <a:xfrm>
            <a:off x="4127781" y="5354082"/>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75" name="文本占位符 7"/>
          <p:cNvSpPr>
            <a:spLocks noGrp="1"/>
          </p:cNvSpPr>
          <p:nvPr>
            <p:ph type="body" sz="quarter" idx="35" hasCustomPrompt="1"/>
          </p:nvPr>
        </p:nvSpPr>
        <p:spPr>
          <a:xfrm>
            <a:off x="6096000" y="5354082"/>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6" name="文本占位符 7"/>
          <p:cNvSpPr>
            <a:spLocks noGrp="1"/>
          </p:cNvSpPr>
          <p:nvPr>
            <p:ph type="body" sz="quarter" idx="36" hasCustomPrompt="1"/>
          </p:nvPr>
        </p:nvSpPr>
        <p:spPr>
          <a:xfrm>
            <a:off x="9120336" y="5354082"/>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总标题">
    <p:spTree>
      <p:nvGrpSpPr>
        <p:cNvPr id="1" name=""/>
        <p:cNvGrpSpPr/>
        <p:nvPr/>
      </p:nvGrpSpPr>
      <p:grpSpPr>
        <a:xfrm>
          <a:off x="0" y="0"/>
          <a:ext cx="0" cy="0"/>
          <a:chOff x="0" y="0"/>
          <a:chExt cx="0" cy="0"/>
        </a:xfrm>
      </p:grpSpPr>
      <p:pic>
        <p:nvPicPr>
          <p:cNvPr id="10"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p:nvPr>
        </p:nvSpPr>
        <p:spPr>
          <a:xfrm>
            <a:off x="1031295" y="4957156"/>
            <a:ext cx="10441567" cy="831600"/>
          </a:xfr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zh-CN" altLang="en-US" dirty="0"/>
              <a:t>单击此处编辑母版标题样式</a:t>
            </a:r>
          </a:p>
        </p:txBody>
      </p:sp>
      <p:sp>
        <p:nvSpPr>
          <p:cNvPr id="30" name="文本占位符 29"/>
          <p:cNvSpPr>
            <a:spLocks noGrp="1"/>
          </p:cNvSpPr>
          <p:nvPr>
            <p:ph type="body" sz="quarter" idx="10"/>
          </p:nvPr>
        </p:nvSpPr>
        <p:spPr>
          <a:xfrm>
            <a:off x="1031295" y="5816120"/>
            <a:ext cx="6912000" cy="493200"/>
          </a:xfr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zh-CN" altLang="en-US" dirty="0"/>
              <a:t>单击此处编辑母版文本样式</a:t>
            </a:r>
          </a:p>
        </p:txBody>
      </p:sp>
      <p:sp>
        <p:nvSpPr>
          <p:cNvPr id="7" name="Rectangle 54">
            <a:extLst>
              <a:ext uri="{FF2B5EF4-FFF2-40B4-BE49-F238E27FC236}">
                <a16:creationId xmlns:a16="http://schemas.microsoft.com/office/drawing/2014/main" id="{2078FA11-5569-4994-AEB7-1AF5CAC763B0}"/>
              </a:ext>
            </a:extLst>
          </p:cNvPr>
          <p:cNvSpPr>
            <a:spLocks noChangeArrowheads="1"/>
          </p:cNvSpPr>
          <p:nvPr userDrawn="1"/>
        </p:nvSpPr>
        <p:spPr bwMode="auto">
          <a:xfrm>
            <a:off x="947428" y="6500581"/>
            <a:ext cx="260474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zh-CN" altLang="en-US" sz="1200" baseline="0" dirty="0">
                <a:latin typeface="+mn-ea"/>
                <a:ea typeface="+mn-ea"/>
                <a:cs typeface="Arial" pitchFamily="34" charset="0"/>
              </a:rPr>
              <a:t>版权所有</a:t>
            </a:r>
            <a:r>
              <a:rPr lang="en-US" altLang="zh-CN" sz="1200" baseline="0" dirty="0">
                <a:latin typeface="+mn-ea"/>
                <a:ea typeface="+mn-ea"/>
                <a:cs typeface="Arial" pitchFamily="34" charset="0"/>
              </a:rPr>
              <a:t>© 2019 </a:t>
            </a:r>
            <a:r>
              <a:rPr lang="zh-CN" altLang="en-US" sz="1200" baseline="0" dirty="0">
                <a:latin typeface="+mn-ea"/>
                <a:ea typeface="+mn-ea"/>
                <a:cs typeface="Arial" pitchFamily="34" charset="0"/>
              </a:rPr>
              <a:t>华为技术有限公司</a:t>
            </a:r>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p:spPr>
        <p:txBody>
          <a:bodyPr/>
          <a:lstStyle>
            <a:lvl1pPr algn="just">
              <a:defRPr>
                <a:latin typeface="+mn-ea"/>
                <a:ea typeface="+mn-ea"/>
                <a:cs typeface="Arial" panose="020B0604020202020204" pitchFamily="34" charset="0"/>
              </a:defRPr>
            </a:lvl1pPr>
            <a:lvl5pPr>
              <a:buNone/>
              <a:defRPr/>
            </a:lvl5pPr>
          </a:lstStyle>
          <a:p>
            <a:pPr eaLnBrk="1" hangingPunct="1"/>
            <a:r>
              <a:rPr lang="zh-CN" altLang="en-US" dirty="0"/>
              <a:t>本章主要讲述</a:t>
            </a:r>
            <a:r>
              <a:rPr lang="en-US" altLang="zh-CN" dirty="0"/>
              <a:t>...</a:t>
            </a:r>
            <a:endParaRPr lang="zh-CN" altLang="en-US" dirty="0"/>
          </a:p>
        </p:txBody>
      </p:sp>
      <p:sp>
        <p:nvSpPr>
          <p:cNvPr id="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zh-CN" altLang="en-US" sz="3500" b="1" dirty="0">
                <a:solidFill>
                  <a:schemeClr val="tx1">
                    <a:lumMod val="75000"/>
                    <a:lumOff val="25000"/>
                  </a:schemeClr>
                </a:solidFill>
                <a:latin typeface="+mn-ea"/>
                <a:ea typeface="+mn-ea"/>
                <a:cs typeface="Arial" pitchFamily="34" charset="0"/>
              </a:rPr>
              <a:t>前言</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8"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9"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73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p:spPr>
        <p:txBody>
          <a:bodyPr/>
          <a:lstStyle>
            <a:lvl1pPr marL="301625" marR="0" indent="-301625" algn="just" defTabSz="801688" rtl="0" eaLnBrk="1" fontAlgn="base" latinLnBrk="0" hangingPunct="1">
              <a:lnSpc>
                <a:spcPct val="140000"/>
              </a:lnSpc>
              <a:spcBef>
                <a:spcPct val="30000"/>
              </a:spcBef>
              <a:spcAft>
                <a:spcPct val="0"/>
              </a:spcAft>
              <a:buClr>
                <a:srgbClr val="808080"/>
              </a:buClr>
              <a:buSzPct val="60000"/>
              <a:buFont typeface="Wingdings" pitchFamily="2" charset="2"/>
              <a:buChar char="l"/>
              <a:tabLst/>
              <a:defRPr>
                <a:latin typeface="+mn-ea"/>
                <a:ea typeface="+mn-ea"/>
                <a:cs typeface="Arial" panose="020B0604020202020204" pitchFamily="34" charset="0"/>
              </a:defRPr>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25" marR="0" lvl="0" indent="-301625" algn="l" defTabSz="80168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zh-CN" altLang="en-US" sz="2200" b="0" i="0" u="none" strike="noStrike" kern="0" cap="none" spc="0" normalizeH="0" baseline="0" noProof="0" dirty="0">
                <a:ln>
                  <a:noFill/>
                </a:ln>
                <a:solidFill>
                  <a:srgbClr val="000000"/>
                </a:solidFill>
                <a:effectLst/>
                <a:uLnTx/>
                <a:uFillTx/>
                <a:latin typeface="+mn-lt"/>
                <a:ea typeface="+mn-ea"/>
                <a:cs typeface="+mn-cs"/>
              </a:rPr>
              <a:t>学完本课程后，您将能够：</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目标</a:t>
            </a:r>
            <a:endParaRPr lang="en-US" altLang="zh-CN" sz="3500" b="1" dirty="0">
              <a:solidFill>
                <a:schemeClr val="tx1">
                  <a:lumMod val="75000"/>
                  <a:lumOff val="25000"/>
                </a:schemeClr>
              </a:solidFill>
              <a:latin typeface="+mn-ea"/>
              <a:ea typeface="+mn-ea"/>
              <a:cs typeface="Arial" pitchFamily="34" charset="0"/>
            </a:endParaRP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8"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9"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3" y="1233487"/>
            <a:ext cx="10558800" cy="4680000"/>
          </a:xfr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a:latin typeface="+mn-ea"/>
                <a:ea typeface="+mn-ea"/>
                <a:cs typeface="Arial" panose="020B0604020202020204" pitchFamily="34" charset="0"/>
              </a:defRPr>
            </a:lvl1pPr>
            <a:lvl2pPr>
              <a:buFont typeface="Wingdings" pitchFamily="2" charset="2"/>
              <a:buChar char="p"/>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目录</a:t>
            </a: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9"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30"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本节概述和学习目标</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extLst>
    <p:ext uri="{DCECCB84-F9BA-43D5-87BE-67443E8EF086}">
      <p15:sldGuideLst xmlns:p15="http://schemas.microsoft.com/office/powerpoint/2012/main">
        <p15:guide id="1" orient="horz" pos="66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a:t>单击此处编辑母版标题样式</a:t>
            </a:r>
          </a:p>
        </p:txBody>
      </p:sp>
      <p:sp>
        <p:nvSpPr>
          <p:cNvPr id="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5" name="组合 4"/>
          <p:cNvGrpSpPr/>
          <p:nvPr userDrawn="1"/>
        </p:nvGrpSpPr>
        <p:grpSpPr>
          <a:xfrm>
            <a:off x="587388" y="505779"/>
            <a:ext cx="374708" cy="445558"/>
            <a:chOff x="-1647825" y="2492375"/>
            <a:chExt cx="1947863" cy="2316163"/>
          </a:xfrm>
          <a:solidFill>
            <a:schemeClr val="bg1"/>
          </a:solidFill>
        </p:grpSpPr>
        <p:sp>
          <p:nvSpPr>
            <p:cNvPr id="6"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7"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8" name="文本占位符 6"/>
          <p:cNvSpPr>
            <a:spLocks noGrp="1"/>
          </p:cNvSpPr>
          <p:nvPr>
            <p:ph type="body" sz="quarter" idx="10" hasCustomPrompt="1"/>
          </p:nvPr>
        </p:nvSpPr>
        <p:spPr>
          <a:xfrm>
            <a:off x="912285" y="1233488"/>
            <a:ext cx="10560048" cy="4680000"/>
          </a:xfrm>
        </p:spPr>
        <p:txBody>
          <a:bodyPr/>
          <a:lstStyle>
            <a:lvl1pPr algn="just">
              <a:defRPr>
                <a:latin typeface="+mn-ea"/>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2081568548"/>
      </p:ext>
    </p:extLst>
  </p:cSld>
  <p:clrMapOvr>
    <a:masterClrMapping/>
  </p:clrMapOvr>
  <p:extLst>
    <p:ext uri="{DCECCB84-F9BA-43D5-87BE-67443E8EF086}">
      <p15:sldGuideLst xmlns:p15="http://schemas.microsoft.com/office/powerpoint/2012/main">
        <p15:guide id="1" orient="horz" pos="66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a:t>单击此处编辑母版标题样式</a:t>
            </a:r>
          </a:p>
        </p:txBody>
      </p:sp>
    </p:spTree>
    <p:extLst>
      <p:ext uri="{BB962C8B-B14F-4D97-AF65-F5344CB8AC3E}">
        <p14:creationId xmlns:p14="http://schemas.microsoft.com/office/powerpoint/2010/main" val="9168545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思考题</a:t>
            </a: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5"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6"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p:spPr>
        <p:txBody>
          <a:bodyPr/>
          <a:lstStyle>
            <a:lvl1pPr algn="just">
              <a:defRPr>
                <a:latin typeface="+mn-ea"/>
                <a:ea typeface="+mn-ea"/>
                <a:cs typeface="Arial" panose="020B0604020202020204" pitchFamily="34" charset="0"/>
              </a:defRPr>
            </a:lvl1pPr>
            <a:lvl5pPr>
              <a:buNone/>
              <a:defRPr/>
            </a:lvl5pPr>
          </a:lstStyle>
          <a:p>
            <a:r>
              <a:rPr lang="zh-CN" altLang="en-US" dirty="0"/>
              <a:t>此版式用于每一节的总结</a:t>
            </a:r>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016224"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本节小结</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016224"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本章总结</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4" name="文本占位符 6"/>
          <p:cNvSpPr>
            <a:spLocks noGrp="1"/>
          </p:cNvSpPr>
          <p:nvPr>
            <p:ph type="body" sz="quarter" idx="1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p:spPr>
        <p:txBody>
          <a:bodyPr/>
          <a:lstStyle>
            <a:lvl1pPr algn="just">
              <a:defRPr>
                <a:latin typeface="+mn-ea"/>
                <a:ea typeface="+mn-ea"/>
                <a:cs typeface="Arial" panose="020B0604020202020204" pitchFamily="34" charset="0"/>
              </a:defRPr>
            </a:lvl1pPr>
            <a:lvl5pPr>
              <a:buNone/>
              <a:defRPr/>
            </a:lvl5pPr>
          </a:lstStyle>
          <a:p>
            <a:r>
              <a:rPr lang="zh-CN" altLang="en-US" dirty="0"/>
              <a:t>此版式用于提供给学员更多学习信息。</a:t>
            </a:r>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更多信息</a:t>
            </a: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mn-ea"/>
                <a:ea typeface="+mn-ea"/>
                <a:cs typeface="Arial" pitchFamily="34" charset="0"/>
              </a:rPr>
              <a:t>学习推荐</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1664" y="0"/>
            <a:ext cx="12192000"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endParaRPr>
          </a:p>
        </p:txBody>
      </p:sp>
      <p:grpSp>
        <p:nvGrpSpPr>
          <p:cNvPr id="4" name="组合 3"/>
          <p:cNvGrpSpPr/>
          <p:nvPr userDrawn="1"/>
        </p:nvGrpSpPr>
        <p:grpSpPr>
          <a:xfrm>
            <a:off x="4234241" y="2642208"/>
            <a:ext cx="3971726" cy="1573584"/>
            <a:chOff x="4826327" y="2503488"/>
            <a:chExt cx="3971726" cy="1573584"/>
          </a:xfrm>
        </p:grpSpPr>
        <p:sp>
          <p:nvSpPr>
            <p:cNvPr id="5" name="Text Box 9">
              <a:extLst>
                <a:ext uri="{FF2B5EF4-FFF2-40B4-BE49-F238E27FC236}">
                  <a16:creationId xmlns:a16="http://schemas.microsoft.com/office/drawing/2014/main" id="{9D36E720-0E25-41AB-8346-B547D8B86001}"/>
                </a:ext>
              </a:extLst>
            </p:cNvPr>
            <p:cNvSpPr txBox="1">
              <a:spLocks noChangeArrowheads="1"/>
            </p:cNvSpPr>
            <p:nvPr/>
          </p:nvSpPr>
          <p:spPr bwMode="auto">
            <a:xfrm>
              <a:off x="4826327" y="3443951"/>
              <a:ext cx="3971726" cy="633121"/>
            </a:xfrm>
            <a:prstGeom prst="rect">
              <a:avLst/>
            </a:prstGeom>
            <a:noFill/>
            <a:ln w="9525">
              <a:noFill/>
              <a:miter lim="800000"/>
              <a:headEnd/>
              <a:tailEnd/>
            </a:ln>
          </p:spPr>
          <p:txBody>
            <a:bodyPr wrap="none" lIns="78358" tIns="39179" rIns="78358" bIns="39179">
              <a:spAutoFit/>
            </a:bodyPr>
            <a:lstStyle/>
            <a:p>
              <a:pPr defTabSz="784225" eaLnBrk="0" hangingPunct="0">
                <a:buSzPct val="100000"/>
                <a:defRPr/>
              </a:pPr>
              <a:r>
                <a:rPr lang="zh-CN" altLang="zh-CN" sz="3600" dirty="0">
                  <a:solidFill>
                    <a:schemeClr val="bg1"/>
                  </a:solidFill>
                  <a:effectLst>
                    <a:outerShdw blurRad="38100" dist="38100" dir="2700000" algn="tl">
                      <a:srgbClr val="000000">
                        <a:alpha val="43137"/>
                      </a:srgbClr>
                    </a:outerShdw>
                  </a:effectLst>
                  <a:latin typeface="+mn-ea"/>
                  <a:ea typeface="+mn-ea"/>
                  <a:cs typeface="Arial" panose="020B0604020202020204" pitchFamily="34" charset="0"/>
                  <a:sym typeface="FrutigerNext LT Regular" pitchFamily="34" charset="0"/>
                </a:rPr>
                <a:t>www.huawei.com</a:t>
              </a:r>
            </a:p>
          </p:txBody>
        </p:sp>
        <p:sp>
          <p:nvSpPr>
            <p:cNvPr id="6" name="Text Box 8">
              <a:extLst>
                <a:ext uri="{FF2B5EF4-FFF2-40B4-BE49-F238E27FC236}">
                  <a16:creationId xmlns:a16="http://schemas.microsoft.com/office/drawing/2014/main" id="{11ED55EC-FD16-4B98-B04D-4605D3C0D784}"/>
                </a:ext>
              </a:extLst>
            </p:cNvPr>
            <p:cNvSpPr txBox="1">
              <a:spLocks noChangeArrowheads="1"/>
            </p:cNvSpPr>
            <p:nvPr/>
          </p:nvSpPr>
          <p:spPr bwMode="auto">
            <a:xfrm>
              <a:off x="5820286" y="2503488"/>
              <a:ext cx="1735601" cy="910120"/>
            </a:xfrm>
            <a:prstGeom prst="rect">
              <a:avLst/>
            </a:prstGeom>
            <a:noFill/>
            <a:ln w="9525">
              <a:noFill/>
              <a:miter lim="800000"/>
              <a:headEnd/>
              <a:tailEnd/>
            </a:ln>
          </p:spPr>
          <p:txBody>
            <a:bodyPr wrap="none" lIns="78358" tIns="39179" rIns="78358" bIns="39179">
              <a:spAutoFit/>
            </a:bodyPr>
            <a:lstStyle/>
            <a:p>
              <a:pPr defTabSz="784225" eaLnBrk="0" fontAlgn="base" hangingPunct="0">
                <a:buSzPct val="100000"/>
                <a:defRPr/>
              </a:pPr>
              <a:r>
                <a:rPr lang="zh-CN" altLang="en-US" sz="5400" dirty="0">
                  <a:solidFill>
                    <a:schemeClr val="bg1"/>
                  </a:solidFill>
                  <a:effectLst>
                    <a:outerShdw blurRad="38100" dist="38100" dir="2700000" algn="tl">
                      <a:srgbClr val="000000">
                        <a:alpha val="43137"/>
                      </a:srgbClr>
                    </a:outerShdw>
                  </a:effectLst>
                  <a:latin typeface="+mn-ea"/>
                  <a:ea typeface="+mn-ea"/>
                  <a:sym typeface="FrutigerNext LT Regular" pitchFamily="34" charset="0"/>
                </a:rPr>
                <a:t>谢 谢</a:t>
              </a:r>
              <a:endParaRPr lang="zh-CN" altLang="zh-CN" sz="5400" dirty="0">
                <a:solidFill>
                  <a:schemeClr val="bg1"/>
                </a:solidFill>
                <a:effectLst>
                  <a:outerShdw blurRad="38100" dist="38100" dir="2700000" algn="tl">
                    <a:srgbClr val="000000">
                      <a:alpha val="43137"/>
                    </a:srgbClr>
                  </a:outerShdw>
                </a:effectLst>
                <a:latin typeface="+mn-ea"/>
                <a:ea typeface="+mn-ea"/>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2" name="Rectangle 6"/>
          <p:cNvSpPr>
            <a:spLocks noGrp="1" noChangeArrowheads="1"/>
          </p:cNvSpPr>
          <p:nvPr>
            <p:ph type="title"/>
          </p:nvPr>
        </p:nvSpPr>
        <p:spPr bwMode="auto">
          <a:xfrm>
            <a:off x="869951" y="260648"/>
            <a:ext cx="10327216"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7173" name="Rectangle 57"/>
          <p:cNvSpPr>
            <a:spLocks noGrp="1" noChangeArrowheads="1"/>
          </p:cNvSpPr>
          <p:nvPr>
            <p:ph type="body" idx="1"/>
          </p:nvPr>
        </p:nvSpPr>
        <p:spPr bwMode="auto">
          <a:xfrm>
            <a:off x="869951" y="1248073"/>
            <a:ext cx="10572749"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Rectangle 69">
            <a:extLst>
              <a:ext uri="{FF2B5EF4-FFF2-40B4-BE49-F238E27FC236}">
                <a16:creationId xmlns:a16="http://schemas.microsoft.com/office/drawing/2014/main" id="{6ED2DBAA-9261-44D2-836C-78E5FB250BAC}"/>
              </a:ext>
            </a:extLst>
          </p:cNvPr>
          <p:cNvSpPr>
            <a:spLocks noChangeArrowheads="1"/>
          </p:cNvSpPr>
          <p:nvPr userDrawn="1"/>
        </p:nvSpPr>
        <p:spPr bwMode="auto">
          <a:xfrm>
            <a:off x="155340" y="6500581"/>
            <a:ext cx="67312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zh-CN" altLang="en-US" sz="1200" baseline="0" dirty="0">
                <a:latin typeface="+mn-lt"/>
                <a:ea typeface="黑体" panose="02010609060101010101" pitchFamily="49" charset="-122"/>
                <a:cs typeface="Arial" pitchFamily="34" charset="0"/>
              </a:rPr>
              <a:t>第</a:t>
            </a:r>
            <a:fld id="{2F2CF7F5-F178-4429-B6CA-28062DF31937}" type="slidenum">
              <a:rPr lang="en-US" altLang="zh-CN" sz="1200" smtClean="0">
                <a:latin typeface="+mn-lt"/>
                <a:ea typeface="黑体" panose="02010609060101010101" pitchFamily="49" charset="-122"/>
                <a:cs typeface="Arial" pitchFamily="34" charset="0"/>
              </a:rPr>
              <a:pPr defTabSz="801668" eaLnBrk="0" fontAlgn="base" hangingPunct="0">
                <a:defRPr/>
              </a:pPr>
              <a:t>‹#›</a:t>
            </a:fld>
            <a:r>
              <a:rPr lang="zh-CN" altLang="en-US" sz="1200" dirty="0">
                <a:latin typeface="+mn-lt"/>
                <a:ea typeface="黑体" panose="02010609060101010101" pitchFamily="49" charset="-122"/>
                <a:cs typeface="Arial" pitchFamily="34" charset="0"/>
              </a:rPr>
              <a:t>页</a:t>
            </a:r>
            <a:endParaRPr lang="en-US" altLang="zh-CN" sz="1200" dirty="0">
              <a:latin typeface="+mn-lt"/>
              <a:ea typeface="黑体" panose="02010609060101010101" pitchFamily="49" charset="-122"/>
              <a:cs typeface="Arial" pitchFamily="34" charset="0"/>
            </a:endParaRPr>
          </a:p>
        </p:txBody>
      </p:sp>
      <p:sp>
        <p:nvSpPr>
          <p:cNvPr id="13" name="Rectangle 54">
            <a:extLst>
              <a:ext uri="{FF2B5EF4-FFF2-40B4-BE49-F238E27FC236}">
                <a16:creationId xmlns:a16="http://schemas.microsoft.com/office/drawing/2014/main" id="{2078FA11-5569-4994-AEB7-1AF5CAC763B0}"/>
              </a:ext>
            </a:extLst>
          </p:cNvPr>
          <p:cNvSpPr>
            <a:spLocks noChangeArrowheads="1"/>
          </p:cNvSpPr>
          <p:nvPr userDrawn="1"/>
        </p:nvSpPr>
        <p:spPr bwMode="auto">
          <a:xfrm>
            <a:off x="947428" y="6500581"/>
            <a:ext cx="260474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zh-CN" altLang="en-US" sz="1200" baseline="0" dirty="0">
                <a:latin typeface="+mn-lt"/>
                <a:ea typeface="+mn-ea"/>
                <a:cs typeface="Arial" panose="020B0604020202020204" pitchFamily="34" charset="0"/>
              </a:rPr>
              <a:t>版权所有</a:t>
            </a:r>
            <a:r>
              <a:rPr lang="en-US" altLang="zh-CN" sz="1200" baseline="0" dirty="0">
                <a:latin typeface="+mn-lt"/>
                <a:ea typeface="+mn-ea"/>
                <a:cs typeface="Arial" panose="020B0604020202020204" pitchFamily="34" charset="0"/>
              </a:rPr>
              <a:t>© 2019 </a:t>
            </a:r>
            <a:r>
              <a:rPr lang="zh-CN" altLang="en-US" sz="1200" baseline="0" dirty="0">
                <a:latin typeface="+mn-lt"/>
                <a:ea typeface="+mn-ea"/>
                <a:cs typeface="Arial" panose="020B0604020202020204" pitchFamily="34" charset="0"/>
              </a:rPr>
              <a:t>华为技术有限公司</a:t>
            </a:r>
          </a:p>
        </p:txBody>
      </p:sp>
      <p:pic>
        <p:nvPicPr>
          <p:cNvPr id="8" name="图片 7"/>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74" r:id="rId7"/>
    <p:sldLayoutId id="2147483873" r:id="rId8"/>
    <p:sldLayoutId id="2147483863" r:id="rId9"/>
    <p:sldLayoutId id="2147483862" r:id="rId10"/>
    <p:sldLayoutId id="2147483851" r:id="rId11"/>
    <p:sldLayoutId id="2147483852" r:id="rId12"/>
    <p:sldLayoutId id="2147483850" r:id="rId13"/>
    <p:sldLayoutId id="2147483861" r:id="rId14"/>
    <p:sldLayoutId id="2147483866" r:id="rId15"/>
  </p:sldLayoutIdLst>
  <p:hf hdr="0" ftr="0" dt="0"/>
  <p:txStyles>
    <p:titleStyle>
      <a:lvl1pPr algn="l" defTabSz="801688" rtl="0" eaLnBrk="0" fontAlgn="base" hangingPunct="0">
        <a:spcBef>
          <a:spcPct val="0"/>
        </a:spcBef>
        <a:spcAft>
          <a:spcPct val="0"/>
        </a:spcAft>
        <a:defRPr sz="350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wikibon.org/w/images/9/97/EnterpriseHypervisorProjection.png"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12.emf"/><Relationship Id="rId7" Type="http://schemas.openxmlformats.org/officeDocument/2006/relationships/image" Target="../media/image16.emf"/><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emf"/><Relationship Id="rId4" Type="http://schemas.openxmlformats.org/officeDocument/2006/relationships/image" Target="../media/image13.png"/><Relationship Id="rId9" Type="http://schemas.openxmlformats.org/officeDocument/2006/relationships/image" Target="../media/image18.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jpeg"/><Relationship Id="rId3" Type="http://schemas.openxmlformats.org/officeDocument/2006/relationships/image" Target="../media/image20.jpe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3.png"/><Relationship Id="rId11" Type="http://schemas.openxmlformats.org/officeDocument/2006/relationships/image" Target="../media/image28.jpe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tiff"/><Relationship Id="rId4" Type="http://schemas.openxmlformats.org/officeDocument/2006/relationships/image" Target="../media/image21.png"/><Relationship Id="rId9" Type="http://schemas.openxmlformats.org/officeDocument/2006/relationships/image" Target="../media/image26.emf"/><Relationship Id="rId1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标题 1"/>
          <p:cNvSpPr>
            <a:spLocks noGrp="1"/>
          </p:cNvSpPr>
          <p:nvPr>
            <p:ph type="ctrTitle" sz="quarter"/>
          </p:nvPr>
        </p:nvSpPr>
        <p:spPr/>
        <p:txBody>
          <a:bodyPr/>
          <a:lstStyle/>
          <a:p>
            <a:r>
              <a:rPr lang="en-US" altLang="zh-CN" dirty="0" err="1">
                <a:latin typeface="微软雅黑" panose="020B0503020204020204" pitchFamily="34" charset="-122"/>
                <a:ea typeface="微软雅黑" panose="020B0503020204020204" pitchFamily="34" charset="-122"/>
                <a:sym typeface="微软雅黑" panose="020B0503020204020204" pitchFamily="34" charset="-122"/>
              </a:rPr>
              <a:t>Ceph</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分布式存储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认识</a:t>
            </a:r>
            <a:r>
              <a:rPr lang="en-US" altLang="zh-CN" dirty="0"/>
              <a:t>Server SAN</a:t>
            </a:r>
            <a:endParaRPr lang="zh-CN" altLang="en-US" dirty="0"/>
          </a:p>
        </p:txBody>
      </p:sp>
      <p:sp>
        <p:nvSpPr>
          <p:cNvPr id="5" name="文本占位符 3"/>
          <p:cNvSpPr>
            <a:spLocks noGrp="1"/>
          </p:cNvSpPr>
          <p:nvPr>
            <p:ph type="body" sz="quarter" idx="10"/>
          </p:nvPr>
        </p:nvSpPr>
        <p:spPr>
          <a:xfrm>
            <a:off x="1583937" y="1232756"/>
            <a:ext cx="7847831" cy="4716524"/>
          </a:xfrm>
        </p:spPr>
        <p:txBody>
          <a:bodyPr/>
          <a:lstStyle/>
          <a:p>
            <a:pPr>
              <a:lnSpc>
                <a:spcPct val="120000"/>
              </a:lnSpc>
              <a:buNone/>
              <a:defRPr/>
            </a:pPr>
            <a:r>
              <a:rPr kumimoji="1" lang="zh-CN" altLang="en-US" sz="2000" b="1" dirty="0"/>
              <a:t>概念</a:t>
            </a:r>
            <a:endParaRPr kumimoji="1" lang="en-US" altLang="zh-CN" sz="2000" b="1" dirty="0"/>
          </a:p>
          <a:p>
            <a:r>
              <a:rPr lang="zh-CN" altLang="en-US" sz="1800" dirty="0">
                <a:sym typeface="+mn-lt"/>
              </a:rPr>
              <a:t>由多个独立服务器自带的存储组成一个存储资源池，同时融合了计算和存储资源</a:t>
            </a:r>
            <a:endParaRPr lang="en-US" altLang="zh-CN" sz="1800" dirty="0">
              <a:sym typeface="+mn-lt"/>
            </a:endParaRPr>
          </a:p>
          <a:p>
            <a:pPr>
              <a:lnSpc>
                <a:spcPct val="120000"/>
              </a:lnSpc>
              <a:buNone/>
              <a:defRPr/>
            </a:pPr>
            <a:r>
              <a:rPr kumimoji="1" lang="zh-CN" altLang="en-US" sz="2000" b="1" dirty="0">
                <a:sym typeface="+mn-lt"/>
              </a:rPr>
              <a:t>特征</a:t>
            </a:r>
            <a:endParaRPr kumimoji="1" lang="en-US" altLang="zh-CN" sz="2000" b="1" dirty="0">
              <a:sym typeface="+mn-lt"/>
            </a:endParaRPr>
          </a:p>
          <a:p>
            <a:r>
              <a:rPr lang="zh-CN" altLang="en-US" sz="1800" dirty="0">
                <a:sym typeface="+mn-lt"/>
              </a:rPr>
              <a:t>专有设备变通用设备</a:t>
            </a:r>
            <a:endParaRPr lang="en-US" altLang="zh-CN" sz="1800" dirty="0">
              <a:sym typeface="+mn-lt"/>
            </a:endParaRPr>
          </a:p>
          <a:p>
            <a:r>
              <a:rPr lang="zh-CN" altLang="en-US" sz="1800" dirty="0">
                <a:sym typeface="+mn-lt"/>
              </a:rPr>
              <a:t>计算与存储线性扩展</a:t>
            </a:r>
          </a:p>
          <a:p>
            <a:r>
              <a:rPr lang="zh-CN" altLang="en-US" sz="1800" dirty="0">
                <a:sym typeface="+mn-lt"/>
              </a:rPr>
              <a:t>简单管理、低</a:t>
            </a:r>
            <a:r>
              <a:rPr lang="en-US" altLang="zh-CN" sz="1800" dirty="0">
                <a:sym typeface="+mn-lt"/>
              </a:rPr>
              <a:t>TCO</a:t>
            </a:r>
            <a:endParaRPr lang="zh-CN" altLang="en-US" sz="1800" dirty="0">
              <a:sym typeface="+mn-lt"/>
            </a:endParaRPr>
          </a:p>
          <a:p>
            <a:pPr>
              <a:lnSpc>
                <a:spcPct val="120000"/>
              </a:lnSpc>
              <a:defRPr/>
            </a:pPr>
            <a:endParaRPr lang="en-US" altLang="zh-CN"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SDS</a:t>
            </a:r>
            <a:r>
              <a:rPr lang="zh-CN" altLang="en-US"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介绍</a:t>
            </a:r>
          </a:p>
        </p:txBody>
      </p:sp>
      <p:sp>
        <p:nvSpPr>
          <p:cNvPr id="8" name="文本占位符 7"/>
          <p:cNvSpPr>
            <a:spLocks noGrp="1"/>
          </p:cNvSpPr>
          <p:nvPr>
            <p:ph type="body" sz="quarter" idx="10"/>
          </p:nvPr>
        </p:nvSpPr>
        <p:spPr>
          <a:xfrm>
            <a:off x="912285" y="1233488"/>
            <a:ext cx="10560048" cy="5148262"/>
          </a:xfrm>
        </p:spPr>
        <p:txBody>
          <a:bodyPr/>
          <a:lstStyle/>
          <a:p>
            <a:pPr algn="l"/>
            <a:r>
              <a:rPr lang="zh-CN" altLang="en-US" dirty="0">
                <a:latin typeface="微软雅黑" panose="020B0503020204020204" pitchFamily="34" charset="-122"/>
                <a:ea typeface="微软雅黑" panose="020B0503020204020204" pitchFamily="34" charset="-122"/>
                <a:sym typeface="微软雅黑" panose="020B0503020204020204" pitchFamily="34" charset="-122"/>
              </a:rPr>
              <a:t>软件定义存储 </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(Software Defined Storage</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，简称“</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SDS”) </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将硬件存储资源整合起来，并通过软件的编程来定义这些资源。</a:t>
            </a:r>
            <a:br>
              <a:rPr lang="zh-CN" altLang="en-US" dirty="0">
                <a:latin typeface="微软雅黑" panose="020B0503020204020204" pitchFamily="34" charset="-122"/>
                <a:ea typeface="微软雅黑" panose="020B0503020204020204" pitchFamily="34" charset="-122"/>
                <a:sym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0" name="组合 49"/>
          <p:cNvGrpSpPr/>
          <p:nvPr/>
        </p:nvGrpSpPr>
        <p:grpSpPr>
          <a:xfrm>
            <a:off x="1204851" y="2384884"/>
            <a:ext cx="9974916" cy="3996866"/>
            <a:chOff x="2351583" y="3320988"/>
            <a:chExt cx="8388933" cy="3060761"/>
          </a:xfrm>
        </p:grpSpPr>
        <p:sp>
          <p:nvSpPr>
            <p:cNvPr id="2" name="矩形 1"/>
            <p:cNvSpPr/>
            <p:nvPr/>
          </p:nvSpPr>
          <p:spPr bwMode="auto">
            <a:xfrm>
              <a:off x="2351583" y="3320988"/>
              <a:ext cx="8388933" cy="3060761"/>
            </a:xfrm>
            <a:prstGeom prst="rect">
              <a:avLst/>
            </a:prstGeom>
            <a:solidFill>
              <a:srgbClr val="F2F2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2"/>
            <p:cNvSpPr/>
            <p:nvPr/>
          </p:nvSpPr>
          <p:spPr bwMode="auto">
            <a:xfrm>
              <a:off x="2553044" y="4022492"/>
              <a:ext cx="5307152" cy="2277094"/>
            </a:xfrm>
            <a:prstGeom prst="rect">
              <a:avLst/>
            </a:prstGeom>
            <a:solidFill>
              <a:srgbClr val="F1D5B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bwMode="auto">
            <a:xfrm>
              <a:off x="3211181" y="5213401"/>
              <a:ext cx="2148371" cy="999986"/>
            </a:xfrm>
            <a:prstGeom prst="rect">
              <a:avLst/>
            </a:prstGeom>
            <a:solidFill>
              <a:srgbClr val="FFF5E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zh-CN" altLang="en-US" sz="1200" b="1"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传统存储资源</a:t>
              </a:r>
            </a:p>
          </p:txBody>
        </p:sp>
        <p:sp>
          <p:nvSpPr>
            <p:cNvPr id="5" name="矩形 4"/>
            <p:cNvSpPr/>
            <p:nvPr/>
          </p:nvSpPr>
          <p:spPr bwMode="auto">
            <a:xfrm>
              <a:off x="3219799" y="4718164"/>
              <a:ext cx="4536325" cy="253764"/>
            </a:xfrm>
            <a:prstGeom prst="rect">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存储业务</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API</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5"/>
            <p:cNvSpPr/>
            <p:nvPr/>
          </p:nvSpPr>
          <p:spPr bwMode="auto">
            <a:xfrm>
              <a:off x="3462897" y="3605860"/>
              <a:ext cx="589797" cy="26121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APP 1</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15"/>
            <p:cNvSpPr/>
            <p:nvPr/>
          </p:nvSpPr>
          <p:spPr bwMode="auto">
            <a:xfrm>
              <a:off x="5479434" y="5213401"/>
              <a:ext cx="2283311" cy="999986"/>
            </a:xfrm>
            <a:prstGeom prst="rect">
              <a:avLst/>
            </a:prstGeom>
            <a:solidFill>
              <a:srgbClr val="FFF5E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SBS</a:t>
              </a:r>
              <a:r>
                <a:rPr kumimoji="0" lang="zh-CN" altLang="en-US" sz="1200" b="1"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存储资源</a:t>
              </a:r>
            </a:p>
          </p:txBody>
        </p:sp>
        <p:sp>
          <p:nvSpPr>
            <p:cNvPr id="17" name="矩形 16"/>
            <p:cNvSpPr/>
            <p:nvPr/>
          </p:nvSpPr>
          <p:spPr bwMode="auto">
            <a:xfrm>
              <a:off x="3226419" y="4427997"/>
              <a:ext cx="4536325" cy="253764"/>
            </a:xfrm>
            <a:prstGeom prst="rect">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存储管理（资源池、多租户等）</a:t>
              </a:r>
            </a:p>
          </p:txBody>
        </p:sp>
        <p:sp>
          <p:nvSpPr>
            <p:cNvPr id="18" name="矩形 17"/>
            <p:cNvSpPr/>
            <p:nvPr/>
          </p:nvSpPr>
          <p:spPr bwMode="auto">
            <a:xfrm>
              <a:off x="3226419" y="4137830"/>
              <a:ext cx="4536325" cy="253764"/>
            </a:xfrm>
            <a:prstGeom prst="rect">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应用存储策略</a:t>
              </a:r>
            </a:p>
          </p:txBody>
        </p:sp>
        <p:sp>
          <p:nvSpPr>
            <p:cNvPr id="19" name="矩形 18"/>
            <p:cNvSpPr/>
            <p:nvPr/>
          </p:nvSpPr>
          <p:spPr bwMode="auto">
            <a:xfrm>
              <a:off x="3380102" y="5529208"/>
              <a:ext cx="867888" cy="241693"/>
            </a:xfrm>
            <a:prstGeom prst="rect">
              <a:avLst/>
            </a:prstGeom>
            <a:solidFill>
              <a:srgbClr val="EF9D4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Vendor A</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矩形 22"/>
            <p:cNvSpPr/>
            <p:nvPr/>
          </p:nvSpPr>
          <p:spPr bwMode="auto">
            <a:xfrm>
              <a:off x="5662996" y="5523954"/>
              <a:ext cx="1979868" cy="236902"/>
            </a:xfrm>
            <a:prstGeom prst="rect">
              <a:avLst/>
            </a:prstGeom>
            <a:solidFill>
              <a:srgbClr val="FFB8B8"/>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Software-based storage</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矩形 23"/>
            <p:cNvSpPr/>
            <p:nvPr/>
          </p:nvSpPr>
          <p:spPr bwMode="auto">
            <a:xfrm>
              <a:off x="5664532" y="5861068"/>
              <a:ext cx="1978332" cy="264748"/>
            </a:xfrm>
            <a:prstGeom prst="rect">
              <a:avLst/>
            </a:prstGeom>
            <a:solidFill>
              <a:srgbClr val="DFDFDF"/>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Commodity Hardware</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24"/>
            <p:cNvSpPr/>
            <p:nvPr/>
          </p:nvSpPr>
          <p:spPr bwMode="auto">
            <a:xfrm>
              <a:off x="4309021" y="5529208"/>
              <a:ext cx="867888" cy="241693"/>
            </a:xfrm>
            <a:prstGeom prst="rect">
              <a:avLst/>
            </a:prstGeom>
            <a:solidFill>
              <a:srgbClr val="EF9D4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Vendor B</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矩形 25"/>
            <p:cNvSpPr/>
            <p:nvPr/>
          </p:nvSpPr>
          <p:spPr bwMode="auto">
            <a:xfrm>
              <a:off x="3380102" y="5838118"/>
              <a:ext cx="867888" cy="241693"/>
            </a:xfrm>
            <a:prstGeom prst="rect">
              <a:avLst/>
            </a:prstGeom>
            <a:solidFill>
              <a:srgbClr val="EF9D4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Vendor C</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28"/>
            <p:cNvSpPr/>
            <p:nvPr/>
          </p:nvSpPr>
          <p:spPr bwMode="auto">
            <a:xfrm>
              <a:off x="4309021" y="5842662"/>
              <a:ext cx="867888" cy="241693"/>
            </a:xfrm>
            <a:prstGeom prst="rect">
              <a:avLst/>
            </a:prstGeom>
            <a:solidFill>
              <a:srgbClr val="EF9D43"/>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Vendor D</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29"/>
            <p:cNvSpPr/>
            <p:nvPr/>
          </p:nvSpPr>
          <p:spPr bwMode="auto">
            <a:xfrm>
              <a:off x="4633961" y="3605860"/>
              <a:ext cx="589797" cy="26121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APP 2</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矩形 30"/>
            <p:cNvSpPr/>
            <p:nvPr/>
          </p:nvSpPr>
          <p:spPr bwMode="auto">
            <a:xfrm>
              <a:off x="5805024" y="3605860"/>
              <a:ext cx="589797" cy="26121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APP 3</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矩形 31"/>
            <p:cNvSpPr/>
            <p:nvPr/>
          </p:nvSpPr>
          <p:spPr bwMode="auto">
            <a:xfrm>
              <a:off x="6976088" y="3605859"/>
              <a:ext cx="780036" cy="261214"/>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rPr>
                <a:t>APP n</a:t>
              </a:r>
              <a:endPar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上下箭头 32"/>
            <p:cNvSpPr/>
            <p:nvPr/>
          </p:nvSpPr>
          <p:spPr bwMode="auto">
            <a:xfrm>
              <a:off x="4232202" y="4973445"/>
              <a:ext cx="145054" cy="257273"/>
            </a:xfrm>
            <a:prstGeom prst="upDownArrow">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上下箭头 33"/>
            <p:cNvSpPr/>
            <p:nvPr/>
          </p:nvSpPr>
          <p:spPr bwMode="auto">
            <a:xfrm>
              <a:off x="6580403" y="4964028"/>
              <a:ext cx="145054" cy="257273"/>
            </a:xfrm>
            <a:prstGeom prst="upDownArrow">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上箭头 34"/>
            <p:cNvSpPr/>
            <p:nvPr/>
          </p:nvSpPr>
          <p:spPr bwMode="auto">
            <a:xfrm>
              <a:off x="4784947" y="3903807"/>
              <a:ext cx="143912" cy="247619"/>
            </a:xfrm>
            <a:prstGeom prst="upArrow">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上箭头 35"/>
            <p:cNvSpPr/>
            <p:nvPr/>
          </p:nvSpPr>
          <p:spPr bwMode="auto">
            <a:xfrm>
              <a:off x="6163403" y="3893275"/>
              <a:ext cx="152148" cy="247619"/>
            </a:xfrm>
            <a:prstGeom prst="upArrow">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38" name="直接连接符 37"/>
            <p:cNvCxnSpPr/>
            <p:nvPr/>
          </p:nvCxnSpPr>
          <p:spPr bwMode="auto">
            <a:xfrm>
              <a:off x="2433599" y="4017084"/>
              <a:ext cx="7946877" cy="5408"/>
            </a:xfrm>
            <a:prstGeom prst="line">
              <a:avLst/>
            </a:prstGeom>
            <a:solidFill>
              <a:schemeClr val="accent1"/>
            </a:solidFill>
            <a:ln w="28575" cap="flat" cmpd="sng" algn="ctr">
              <a:solidFill>
                <a:srgbClr val="00B050"/>
              </a:solidFill>
              <a:prstDash val="dashDot"/>
              <a:round/>
              <a:headEnd type="none" w="med" len="med"/>
              <a:tailEnd type="none" w="med" len="med"/>
            </a:ln>
            <a:effectLst/>
          </p:spPr>
        </p:cxnSp>
        <p:cxnSp>
          <p:nvCxnSpPr>
            <p:cNvPr id="39" name="直接连接符 38"/>
            <p:cNvCxnSpPr/>
            <p:nvPr/>
          </p:nvCxnSpPr>
          <p:spPr bwMode="auto">
            <a:xfrm flipV="1">
              <a:off x="2433600" y="5116111"/>
              <a:ext cx="7946876" cy="25529"/>
            </a:xfrm>
            <a:prstGeom prst="line">
              <a:avLst/>
            </a:prstGeom>
            <a:solidFill>
              <a:schemeClr val="accent1"/>
            </a:solidFill>
            <a:ln w="28575" cap="flat" cmpd="sng" algn="ctr">
              <a:solidFill>
                <a:srgbClr val="00B050"/>
              </a:solidFill>
              <a:prstDash val="dashDot"/>
              <a:round/>
              <a:headEnd type="none" w="med" len="med"/>
              <a:tailEnd type="none" w="med" len="med"/>
            </a:ln>
            <a:effectLst/>
          </p:spPr>
        </p:cxnSp>
        <p:sp>
          <p:nvSpPr>
            <p:cNvPr id="40" name="文本框 39"/>
            <p:cNvSpPr txBox="1"/>
            <p:nvPr/>
          </p:nvSpPr>
          <p:spPr bwMode="auto">
            <a:xfrm>
              <a:off x="2726669" y="3446428"/>
              <a:ext cx="304430" cy="551572"/>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应用层</a:t>
              </a:r>
            </a:p>
          </p:txBody>
        </p:sp>
        <p:sp>
          <p:nvSpPr>
            <p:cNvPr id="42" name="文本框 41"/>
            <p:cNvSpPr txBox="1"/>
            <p:nvPr/>
          </p:nvSpPr>
          <p:spPr bwMode="auto">
            <a:xfrm>
              <a:off x="2726669" y="4264712"/>
              <a:ext cx="304430" cy="551572"/>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管理层</a:t>
              </a:r>
            </a:p>
          </p:txBody>
        </p:sp>
        <p:sp>
          <p:nvSpPr>
            <p:cNvPr id="43" name="文本框 42"/>
            <p:cNvSpPr txBox="1"/>
            <p:nvPr/>
          </p:nvSpPr>
          <p:spPr bwMode="auto">
            <a:xfrm>
              <a:off x="2719906" y="5437608"/>
              <a:ext cx="304430" cy="551572"/>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资源层</a:t>
              </a:r>
            </a:p>
          </p:txBody>
        </p:sp>
        <p:sp>
          <p:nvSpPr>
            <p:cNvPr id="44" name="文本框 43"/>
            <p:cNvSpPr txBox="1"/>
            <p:nvPr/>
          </p:nvSpPr>
          <p:spPr bwMode="auto">
            <a:xfrm>
              <a:off x="8068699" y="4041575"/>
              <a:ext cx="382083" cy="1987986"/>
            </a:xfrm>
            <a:prstGeom prst="rect">
              <a:avLst/>
            </a:prstGeom>
            <a:noFill/>
            <a:ln w="9525" algn="ctr">
              <a:noFill/>
              <a:miter lim="800000"/>
              <a:headEnd/>
              <a:tailEnd/>
            </a:ln>
          </p:spPr>
          <p:txBody>
            <a:bodyPr vert="eaVert" wrap="square" lIns="87802" tIns="43901" rIns="87802" bIns="43901" numCol="1" rtlCol="0" anchor="ctr" anchorCtr="0" compatLnSpc="1">
              <a:prstTxWarp prst="textNoShape">
                <a:avLst/>
              </a:prstTxWarp>
              <a:spAutoFit/>
            </a:bodyPr>
            <a:lstStyle/>
            <a:p>
              <a:r>
                <a:rPr lang="zh-CN" altLang="en-US" sz="1800" spc="300" dirty="0">
                  <a:latin typeface="微软雅黑" panose="020B0503020204020204" pitchFamily="34" charset="-122"/>
                  <a:ea typeface="微软雅黑" panose="020B0503020204020204" pitchFamily="34" charset="-122"/>
                  <a:sym typeface="微软雅黑" panose="020B0503020204020204" pitchFamily="34" charset="-122"/>
                </a:rPr>
                <a:t>软件定义的 存储</a:t>
              </a:r>
            </a:p>
          </p:txBody>
        </p:sp>
        <p:sp>
          <p:nvSpPr>
            <p:cNvPr id="45" name="文本框 44"/>
            <p:cNvSpPr txBox="1"/>
            <p:nvPr/>
          </p:nvSpPr>
          <p:spPr bwMode="auto">
            <a:xfrm>
              <a:off x="8450782" y="4154594"/>
              <a:ext cx="1787374" cy="77497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171450" indent="-171450">
                <a:lnSpc>
                  <a:spcPct val="125000"/>
                </a:lnSpc>
                <a:buSzPct val="60000"/>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可编程、策略驱动</a:t>
              </a: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nSpc>
                  <a:spcPct val="125000"/>
                </a:lnSpc>
                <a:buSzPct val="60000"/>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存储虚拟化、资源池化</a:t>
              </a: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nSpc>
                  <a:spcPct val="125000"/>
                </a:lnSpc>
                <a:buSzPct val="60000"/>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异构存储资源管理</a:t>
              </a: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nSpc>
                  <a:spcPct val="125000"/>
                </a:lnSpc>
                <a:buSzPct val="60000"/>
                <a:buFont typeface="Wingdings" panose="05000000000000000000" pitchFamily="2" charset="2"/>
                <a:buChar char="l"/>
              </a:pP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API</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呈现系统能力</a:t>
              </a:r>
            </a:p>
          </p:txBody>
        </p:sp>
        <p:sp>
          <p:nvSpPr>
            <p:cNvPr id="46" name="文本框 45"/>
            <p:cNvSpPr txBox="1"/>
            <p:nvPr/>
          </p:nvSpPr>
          <p:spPr bwMode="auto">
            <a:xfrm>
              <a:off x="8444899" y="5326224"/>
              <a:ext cx="2159679" cy="59820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buSzPct val="60000"/>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存储资源层：</a:t>
              </a: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nSpc>
                  <a:spcPct val="125000"/>
                </a:lnSpc>
                <a:buSzPct val="60000"/>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传统软硬件一体的存储资源</a:t>
              </a: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a:p>
              <a:pPr marL="171450" indent="-171450">
                <a:lnSpc>
                  <a:spcPct val="125000"/>
                </a:lnSpc>
                <a:buSzPct val="60000"/>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基于软件的</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标准硬件的存储</a:t>
              </a:r>
            </a:p>
          </p:txBody>
        </p:sp>
        <p:sp>
          <p:nvSpPr>
            <p:cNvPr id="49" name="矩形 48"/>
            <p:cNvSpPr/>
            <p:nvPr/>
          </p:nvSpPr>
          <p:spPr bwMode="auto">
            <a:xfrm>
              <a:off x="3044583" y="3377385"/>
              <a:ext cx="4943351" cy="2935321"/>
            </a:xfrm>
            <a:prstGeom prst="rect">
              <a:avLst/>
            </a:prstGeom>
            <a:noFill/>
            <a:ln w="1270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anose="020B0503020204020204" pitchFamily="34" charset="-122"/>
                <a:ea typeface="微软雅黑" panose="020B0503020204020204" pitchFamily="34" charset="-122"/>
                <a:sym typeface="微软雅黑" panose="020B0503020204020204" pitchFamily="34" charset="-122"/>
              </a:endParaRPr>
            </a:p>
          </p:txBody>
        </p:sp>
      </p:grpSp>
    </p:spTree>
    <p:extLst>
      <p:ext uri="{BB962C8B-B14F-4D97-AF65-F5344CB8AC3E}">
        <p14:creationId xmlns:p14="http://schemas.microsoft.com/office/powerpoint/2010/main" val="791872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传统</a:t>
            </a:r>
            <a:r>
              <a:rPr lang="en-US" altLang="zh-CN" dirty="0"/>
              <a:t>SAN</a:t>
            </a:r>
            <a:r>
              <a:rPr lang="zh-CN" altLang="en-US" dirty="0"/>
              <a:t>架构</a:t>
            </a:r>
          </a:p>
        </p:txBody>
      </p:sp>
      <p:grpSp>
        <p:nvGrpSpPr>
          <p:cNvPr id="481" name="组合 480"/>
          <p:cNvGrpSpPr/>
          <p:nvPr/>
        </p:nvGrpSpPr>
        <p:grpSpPr>
          <a:xfrm>
            <a:off x="1955466" y="1376772"/>
            <a:ext cx="6660740" cy="3686926"/>
            <a:chOff x="886032" y="1976043"/>
            <a:chExt cx="3613960" cy="2215140"/>
          </a:xfrm>
        </p:grpSpPr>
        <p:sp>
          <p:nvSpPr>
            <p:cNvPr id="346" name="Up-Down Arrow 528"/>
            <p:cNvSpPr/>
            <p:nvPr/>
          </p:nvSpPr>
          <p:spPr bwMode="auto">
            <a:xfrm>
              <a:off x="1016569" y="2763763"/>
              <a:ext cx="122396" cy="224661"/>
            </a:xfrm>
            <a:prstGeom prst="upDownArrow">
              <a:avLst/>
            </a:prstGeom>
            <a:solidFill>
              <a:schemeClr val="bg1">
                <a:lumMod val="5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700" dirty="0">
                <a:solidFill>
                  <a:prstClr val="black"/>
                </a:solidFill>
                <a:latin typeface="+mn-lt"/>
                <a:ea typeface="+mn-ea"/>
                <a:cs typeface="+mn-ea"/>
                <a:sym typeface="+mn-lt"/>
              </a:endParaRPr>
            </a:p>
          </p:txBody>
        </p:sp>
        <p:sp>
          <p:nvSpPr>
            <p:cNvPr id="347" name="Up-Down Arrow 528"/>
            <p:cNvSpPr/>
            <p:nvPr/>
          </p:nvSpPr>
          <p:spPr bwMode="auto">
            <a:xfrm>
              <a:off x="1206720" y="3276555"/>
              <a:ext cx="106364" cy="153070"/>
            </a:xfrm>
            <a:prstGeom prst="upDownArrow">
              <a:avLst/>
            </a:prstGeom>
            <a:solidFill>
              <a:schemeClr val="bg1">
                <a:lumMod val="5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700" dirty="0">
                <a:solidFill>
                  <a:prstClr val="black"/>
                </a:solidFill>
                <a:latin typeface="+mn-lt"/>
                <a:ea typeface="+mn-ea"/>
                <a:cs typeface="+mn-ea"/>
                <a:sym typeface="+mn-lt"/>
              </a:endParaRPr>
            </a:p>
          </p:txBody>
        </p:sp>
        <p:grpSp>
          <p:nvGrpSpPr>
            <p:cNvPr id="348" name="组合 347"/>
            <p:cNvGrpSpPr>
              <a:grpSpLocks/>
            </p:cNvGrpSpPr>
            <p:nvPr/>
          </p:nvGrpSpPr>
          <p:grpSpPr bwMode="auto">
            <a:xfrm>
              <a:off x="948100" y="3472388"/>
              <a:ext cx="619742" cy="339814"/>
              <a:chOff x="1338451" y="4632208"/>
              <a:chExt cx="1258651" cy="692894"/>
            </a:xfrm>
          </p:grpSpPr>
          <p:sp>
            <p:nvSpPr>
              <p:cNvPr id="349" name="圆柱形 348"/>
              <p:cNvSpPr/>
              <p:nvPr/>
            </p:nvSpPr>
            <p:spPr bwMode="auto">
              <a:xfrm>
                <a:off x="1921376" y="4632208"/>
                <a:ext cx="553077" cy="274591"/>
              </a:xfrm>
              <a:prstGeom prst="can">
                <a:avLst/>
              </a:prstGeom>
              <a:solidFill>
                <a:schemeClr val="bg1"/>
              </a:solidFill>
              <a:ln>
                <a:solidFill>
                  <a:schemeClr val="tx1">
                    <a:lumMod val="50000"/>
                    <a:lumOff val="5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50" name="圆柱形 349"/>
              <p:cNvSpPr/>
              <p:nvPr/>
            </p:nvSpPr>
            <p:spPr bwMode="auto">
              <a:xfrm>
                <a:off x="1992896" y="4842642"/>
                <a:ext cx="554666" cy="272025"/>
              </a:xfrm>
              <a:prstGeom prst="can">
                <a:avLst/>
              </a:prstGeom>
              <a:solidFill>
                <a:schemeClr val="bg1"/>
              </a:solidFill>
              <a:ln>
                <a:solidFill>
                  <a:schemeClr val="tx1">
                    <a:lumMod val="50000"/>
                    <a:lumOff val="5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51" name="圆柱形 350"/>
              <p:cNvSpPr/>
              <p:nvPr/>
            </p:nvSpPr>
            <p:spPr bwMode="auto">
              <a:xfrm>
                <a:off x="1921376" y="5050511"/>
                <a:ext cx="553077" cy="274591"/>
              </a:xfrm>
              <a:prstGeom prst="can">
                <a:avLst/>
              </a:prstGeom>
              <a:solidFill>
                <a:schemeClr val="bg1"/>
              </a:solidFill>
              <a:ln>
                <a:solidFill>
                  <a:schemeClr val="tx1">
                    <a:lumMod val="50000"/>
                    <a:lumOff val="5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52" name="圆柱形 351"/>
              <p:cNvSpPr>
                <a:spLocks noChangeArrowheads="1"/>
              </p:cNvSpPr>
              <p:nvPr/>
            </p:nvSpPr>
            <p:spPr bwMode="auto">
              <a:xfrm>
                <a:off x="1430283" y="4849058"/>
                <a:ext cx="395736" cy="273309"/>
              </a:xfrm>
              <a:prstGeom prst="can">
                <a:avLst>
                  <a:gd name="adj" fmla="val 25000"/>
                </a:avLst>
              </a:prstGeom>
              <a:gradFill flip="none" rotWithShape="1">
                <a:gsLst>
                  <a:gs pos="100000">
                    <a:srgbClr val="B0D7FA"/>
                  </a:gs>
                  <a:gs pos="0">
                    <a:srgbClr val="DDEEFD"/>
                  </a:gs>
                </a:gsLst>
                <a:lin ang="5400000" scaled="1"/>
                <a:tileRect/>
              </a:gra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53" name="TextBox 140"/>
              <p:cNvSpPr txBox="1">
                <a:spLocks noChangeArrowheads="1"/>
              </p:cNvSpPr>
              <p:nvPr/>
            </p:nvSpPr>
            <p:spPr bwMode="auto">
              <a:xfrm>
                <a:off x="1950295" y="4877288"/>
                <a:ext cx="646807" cy="282786"/>
              </a:xfrm>
              <a:prstGeom prst="rect">
                <a:avLst/>
              </a:prstGeom>
              <a:noFill/>
              <a:ln w="9525">
                <a:noFill/>
                <a:miter lim="800000"/>
                <a:headEnd/>
                <a:tailEnd/>
              </a:ln>
            </p:spPr>
            <p:txBody>
              <a:bodyPr wrap="squar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900" dirty="0">
                    <a:solidFill>
                      <a:prstClr val="black"/>
                    </a:solidFill>
                    <a:latin typeface="+mn-lt"/>
                    <a:ea typeface="+mn-ea"/>
                    <a:cs typeface="+mn-ea"/>
                    <a:sym typeface="+mn-lt"/>
                  </a:rPr>
                  <a:t>HDD</a:t>
                </a:r>
                <a:endParaRPr lang="zh-CN" altLang="en-US" sz="900" dirty="0">
                  <a:solidFill>
                    <a:prstClr val="black"/>
                  </a:solidFill>
                  <a:latin typeface="+mn-lt"/>
                  <a:ea typeface="+mn-ea"/>
                  <a:cs typeface="+mn-ea"/>
                  <a:sym typeface="+mn-lt"/>
                </a:endParaRPr>
              </a:p>
            </p:txBody>
          </p:sp>
          <p:sp>
            <p:nvSpPr>
              <p:cNvPr id="354" name="TextBox 141"/>
              <p:cNvSpPr txBox="1">
                <a:spLocks noChangeArrowheads="1"/>
              </p:cNvSpPr>
              <p:nvPr/>
            </p:nvSpPr>
            <p:spPr bwMode="auto">
              <a:xfrm>
                <a:off x="1338451" y="4888838"/>
                <a:ext cx="608704" cy="245082"/>
              </a:xfrm>
              <a:prstGeom prst="rect">
                <a:avLst/>
              </a:prstGeom>
              <a:noFill/>
              <a:ln w="9525">
                <a:noFill/>
                <a:miter lim="800000"/>
                <a:headEnd/>
                <a:tailEnd/>
              </a:ln>
            </p:spPr>
            <p:txBody>
              <a:bodyPr wrap="squar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dirty="0">
                  <a:solidFill>
                    <a:prstClr val="black"/>
                  </a:solidFill>
                  <a:latin typeface="+mn-lt"/>
                  <a:ea typeface="+mn-ea"/>
                  <a:cs typeface="+mn-ea"/>
                  <a:sym typeface="+mn-lt"/>
                </a:endParaRPr>
              </a:p>
            </p:txBody>
          </p:sp>
        </p:grpSp>
        <p:sp>
          <p:nvSpPr>
            <p:cNvPr id="355" name="圆角矩形 354"/>
            <p:cNvSpPr/>
            <p:nvPr/>
          </p:nvSpPr>
          <p:spPr bwMode="auto">
            <a:xfrm>
              <a:off x="921047" y="3443767"/>
              <a:ext cx="705919" cy="506034"/>
            </a:xfrm>
            <a:prstGeom prst="roundRect">
              <a:avLst/>
            </a:prstGeom>
            <a:noFill/>
            <a:ln>
              <a:solidFill>
                <a:schemeClr val="tx2">
                  <a:lumMod val="60000"/>
                  <a:lumOff val="40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zh-CN" altLang="en-US" sz="2400" dirty="0">
                <a:solidFill>
                  <a:prstClr val="black"/>
                </a:solidFill>
                <a:latin typeface="+mn-lt"/>
                <a:ea typeface="+mn-ea"/>
                <a:cs typeface="+mn-ea"/>
                <a:sym typeface="+mn-lt"/>
              </a:endParaRPr>
            </a:p>
          </p:txBody>
        </p:sp>
        <p:sp>
          <p:nvSpPr>
            <p:cNvPr id="356" name="TextBox 30"/>
            <p:cNvSpPr txBox="1"/>
            <p:nvPr/>
          </p:nvSpPr>
          <p:spPr>
            <a:xfrm>
              <a:off x="1070538" y="3813342"/>
              <a:ext cx="455054" cy="15717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r>
                <a:rPr lang="en-US" altLang="zh-CN" sz="1100" dirty="0">
                  <a:solidFill>
                    <a:prstClr val="black"/>
                  </a:solidFill>
                  <a:latin typeface="+mn-lt"/>
                  <a:ea typeface="+mn-ea"/>
                  <a:cs typeface="+mn-ea"/>
                  <a:sym typeface="+mn-lt"/>
                </a:rPr>
                <a:t>SAN/NAS</a:t>
              </a:r>
              <a:endParaRPr lang="zh-CN" altLang="en-US" sz="900" dirty="0">
                <a:solidFill>
                  <a:prstClr val="black"/>
                </a:solidFill>
                <a:latin typeface="+mn-lt"/>
                <a:ea typeface="+mn-ea"/>
                <a:cs typeface="+mn-ea"/>
                <a:sym typeface="+mn-lt"/>
              </a:endParaRPr>
            </a:p>
          </p:txBody>
        </p:sp>
        <p:grpSp>
          <p:nvGrpSpPr>
            <p:cNvPr id="357" name="组合 356"/>
            <p:cNvGrpSpPr>
              <a:grpSpLocks/>
            </p:cNvGrpSpPr>
            <p:nvPr/>
          </p:nvGrpSpPr>
          <p:grpSpPr bwMode="auto">
            <a:xfrm>
              <a:off x="1836373" y="3462707"/>
              <a:ext cx="619742" cy="339814"/>
              <a:chOff x="1338451" y="4632208"/>
              <a:chExt cx="1258651" cy="692894"/>
            </a:xfrm>
          </p:grpSpPr>
          <p:sp>
            <p:nvSpPr>
              <p:cNvPr id="358" name="圆柱形 357"/>
              <p:cNvSpPr/>
              <p:nvPr/>
            </p:nvSpPr>
            <p:spPr bwMode="auto">
              <a:xfrm>
                <a:off x="1921376" y="4632208"/>
                <a:ext cx="553077" cy="274591"/>
              </a:xfrm>
              <a:prstGeom prst="can">
                <a:avLst/>
              </a:prstGeom>
              <a:solidFill>
                <a:schemeClr val="bg1"/>
              </a:solidFill>
              <a:ln>
                <a:solidFill>
                  <a:schemeClr val="tx1">
                    <a:lumMod val="50000"/>
                    <a:lumOff val="5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59" name="圆柱形 358"/>
              <p:cNvSpPr/>
              <p:nvPr/>
            </p:nvSpPr>
            <p:spPr bwMode="auto">
              <a:xfrm>
                <a:off x="1992896" y="4842642"/>
                <a:ext cx="554666" cy="272025"/>
              </a:xfrm>
              <a:prstGeom prst="can">
                <a:avLst/>
              </a:prstGeom>
              <a:solidFill>
                <a:schemeClr val="bg1"/>
              </a:solidFill>
              <a:ln>
                <a:solidFill>
                  <a:schemeClr val="tx1">
                    <a:lumMod val="50000"/>
                    <a:lumOff val="5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60" name="圆柱形 359"/>
              <p:cNvSpPr/>
              <p:nvPr/>
            </p:nvSpPr>
            <p:spPr bwMode="auto">
              <a:xfrm>
                <a:off x="1921376" y="5050511"/>
                <a:ext cx="553077" cy="274591"/>
              </a:xfrm>
              <a:prstGeom prst="can">
                <a:avLst/>
              </a:prstGeom>
              <a:solidFill>
                <a:schemeClr val="bg1"/>
              </a:solidFill>
              <a:ln>
                <a:solidFill>
                  <a:schemeClr val="tx1">
                    <a:lumMod val="50000"/>
                    <a:lumOff val="5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61" name="圆柱形 360"/>
              <p:cNvSpPr>
                <a:spLocks noChangeArrowheads="1"/>
              </p:cNvSpPr>
              <p:nvPr/>
            </p:nvSpPr>
            <p:spPr bwMode="auto">
              <a:xfrm>
                <a:off x="1430283" y="4849058"/>
                <a:ext cx="395736" cy="273309"/>
              </a:xfrm>
              <a:prstGeom prst="can">
                <a:avLst>
                  <a:gd name="adj" fmla="val 25000"/>
                </a:avLst>
              </a:prstGeom>
              <a:gradFill flip="none" rotWithShape="1">
                <a:gsLst>
                  <a:gs pos="100000">
                    <a:srgbClr val="B0D7FA"/>
                  </a:gs>
                  <a:gs pos="0">
                    <a:srgbClr val="DDEEFD"/>
                  </a:gs>
                </a:gsLst>
                <a:lin ang="5400000" scaled="1"/>
                <a:tileRect/>
              </a:gra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62" name="TextBox 140"/>
              <p:cNvSpPr txBox="1">
                <a:spLocks noChangeArrowheads="1"/>
              </p:cNvSpPr>
              <p:nvPr/>
            </p:nvSpPr>
            <p:spPr bwMode="auto">
              <a:xfrm>
                <a:off x="1950295" y="4877288"/>
                <a:ext cx="646807" cy="282786"/>
              </a:xfrm>
              <a:prstGeom prst="rect">
                <a:avLst/>
              </a:prstGeom>
              <a:noFill/>
              <a:ln w="9525">
                <a:noFill/>
                <a:miter lim="800000"/>
                <a:headEnd/>
                <a:tailEnd/>
              </a:ln>
            </p:spPr>
            <p:txBody>
              <a:bodyPr wrap="squar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900" dirty="0">
                    <a:solidFill>
                      <a:prstClr val="black"/>
                    </a:solidFill>
                    <a:latin typeface="+mn-lt"/>
                    <a:ea typeface="+mn-ea"/>
                    <a:cs typeface="+mn-ea"/>
                    <a:sym typeface="+mn-lt"/>
                  </a:rPr>
                  <a:t>HDD</a:t>
                </a:r>
                <a:endParaRPr lang="zh-CN" altLang="en-US" sz="900" dirty="0">
                  <a:solidFill>
                    <a:prstClr val="black"/>
                  </a:solidFill>
                  <a:latin typeface="+mn-lt"/>
                  <a:ea typeface="+mn-ea"/>
                  <a:cs typeface="+mn-ea"/>
                  <a:sym typeface="+mn-lt"/>
                </a:endParaRPr>
              </a:p>
            </p:txBody>
          </p:sp>
          <p:sp>
            <p:nvSpPr>
              <p:cNvPr id="363" name="TextBox 141"/>
              <p:cNvSpPr txBox="1">
                <a:spLocks noChangeArrowheads="1"/>
              </p:cNvSpPr>
              <p:nvPr/>
            </p:nvSpPr>
            <p:spPr bwMode="auto">
              <a:xfrm>
                <a:off x="1338451" y="4888838"/>
                <a:ext cx="608704" cy="245082"/>
              </a:xfrm>
              <a:prstGeom prst="rect">
                <a:avLst/>
              </a:prstGeom>
              <a:noFill/>
              <a:ln w="9525">
                <a:noFill/>
                <a:miter lim="800000"/>
                <a:headEnd/>
                <a:tailEnd/>
              </a:ln>
            </p:spPr>
            <p:txBody>
              <a:bodyPr wrap="squar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dirty="0">
                  <a:solidFill>
                    <a:prstClr val="black"/>
                  </a:solidFill>
                  <a:latin typeface="+mn-lt"/>
                  <a:ea typeface="+mn-ea"/>
                  <a:cs typeface="+mn-ea"/>
                  <a:sym typeface="+mn-lt"/>
                </a:endParaRPr>
              </a:p>
            </p:txBody>
          </p:sp>
        </p:grpSp>
        <p:sp>
          <p:nvSpPr>
            <p:cNvPr id="364" name="圆角矩形 363"/>
            <p:cNvSpPr/>
            <p:nvPr/>
          </p:nvSpPr>
          <p:spPr bwMode="auto">
            <a:xfrm>
              <a:off x="1809321" y="3434086"/>
              <a:ext cx="705919" cy="506034"/>
            </a:xfrm>
            <a:prstGeom prst="roundRect">
              <a:avLst/>
            </a:prstGeom>
            <a:noFill/>
            <a:ln>
              <a:solidFill>
                <a:schemeClr val="tx2">
                  <a:lumMod val="60000"/>
                  <a:lumOff val="40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zh-CN" altLang="en-US" sz="2400" dirty="0">
                <a:solidFill>
                  <a:prstClr val="black"/>
                </a:solidFill>
                <a:latin typeface="+mn-lt"/>
                <a:ea typeface="+mn-ea"/>
                <a:cs typeface="+mn-ea"/>
                <a:sym typeface="+mn-lt"/>
              </a:endParaRPr>
            </a:p>
          </p:txBody>
        </p:sp>
        <p:sp>
          <p:nvSpPr>
            <p:cNvPr id="365" name="TextBox 30"/>
            <p:cNvSpPr txBox="1"/>
            <p:nvPr/>
          </p:nvSpPr>
          <p:spPr>
            <a:xfrm>
              <a:off x="1958814" y="3803661"/>
              <a:ext cx="455054" cy="15717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r>
                <a:rPr lang="en-US" altLang="zh-CN" sz="1100" dirty="0">
                  <a:solidFill>
                    <a:prstClr val="black"/>
                  </a:solidFill>
                  <a:latin typeface="+mn-lt"/>
                  <a:ea typeface="+mn-ea"/>
                  <a:cs typeface="+mn-ea"/>
                  <a:sym typeface="+mn-lt"/>
                </a:rPr>
                <a:t>SAN/NAS</a:t>
              </a:r>
              <a:endParaRPr lang="zh-CN" altLang="en-US" sz="1050" dirty="0">
                <a:solidFill>
                  <a:prstClr val="black"/>
                </a:solidFill>
                <a:latin typeface="+mn-lt"/>
                <a:ea typeface="+mn-ea"/>
                <a:cs typeface="+mn-ea"/>
                <a:sym typeface="+mn-lt"/>
              </a:endParaRPr>
            </a:p>
          </p:txBody>
        </p:sp>
        <p:grpSp>
          <p:nvGrpSpPr>
            <p:cNvPr id="366" name="组合 365"/>
            <p:cNvGrpSpPr>
              <a:grpSpLocks/>
            </p:cNvGrpSpPr>
            <p:nvPr/>
          </p:nvGrpSpPr>
          <p:grpSpPr bwMode="auto">
            <a:xfrm>
              <a:off x="1810045" y="1982722"/>
              <a:ext cx="694028" cy="289337"/>
              <a:chOff x="1274302" y="1196975"/>
              <a:chExt cx="1342800" cy="444215"/>
            </a:xfrm>
          </p:grpSpPr>
          <p:sp>
            <p:nvSpPr>
              <p:cNvPr id="367" name="圆角矩形 56"/>
              <p:cNvSpPr/>
              <p:nvPr/>
            </p:nvSpPr>
            <p:spPr bwMode="auto">
              <a:xfrm>
                <a:off x="1274302" y="1196975"/>
                <a:ext cx="1342800" cy="444215"/>
              </a:xfrm>
              <a:prstGeom prst="round2SameRect">
                <a:avLst/>
              </a:prstGeom>
              <a:solidFill>
                <a:schemeClr val="tx2">
                  <a:lumMod val="60000"/>
                  <a:lumOff val="40000"/>
                </a:schemeClr>
              </a:solidFill>
              <a:ln>
                <a:solidFill>
                  <a:schemeClr val="tx1"/>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900" kern="0" dirty="0">
                  <a:solidFill>
                    <a:prstClr val="black"/>
                  </a:solidFill>
                  <a:latin typeface="+mn-lt"/>
                  <a:ea typeface="+mn-ea"/>
                  <a:cs typeface="+mn-ea"/>
                  <a:sym typeface="+mn-lt"/>
                </a:endParaRPr>
              </a:p>
            </p:txBody>
          </p:sp>
          <p:sp>
            <p:nvSpPr>
              <p:cNvPr id="368" name="TextBox 14"/>
              <p:cNvSpPr txBox="1"/>
              <p:nvPr/>
            </p:nvSpPr>
            <p:spPr bwMode="auto">
              <a:xfrm>
                <a:off x="1339821" y="1251241"/>
                <a:ext cx="1189119" cy="312287"/>
              </a:xfrm>
              <a:prstGeom prst="rect">
                <a:avLst/>
              </a:prstGeom>
              <a:noFill/>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600" dirty="0">
                    <a:solidFill>
                      <a:prstClr val="white"/>
                    </a:solidFill>
                    <a:latin typeface="+mn-lt"/>
                    <a:ea typeface="+mn-ea"/>
                    <a:cs typeface="+mn-ea"/>
                    <a:sym typeface="+mn-lt"/>
                  </a:rPr>
                  <a:t>Server</a:t>
                </a:r>
                <a:endParaRPr lang="zh-CN" altLang="en-US" sz="1600" dirty="0">
                  <a:solidFill>
                    <a:prstClr val="white"/>
                  </a:solidFill>
                  <a:latin typeface="+mn-lt"/>
                  <a:ea typeface="+mn-ea"/>
                  <a:cs typeface="+mn-ea"/>
                  <a:sym typeface="+mn-lt"/>
                </a:endParaRPr>
              </a:p>
            </p:txBody>
          </p:sp>
        </p:grpSp>
        <p:sp>
          <p:nvSpPr>
            <p:cNvPr id="369" name="矩形 368"/>
            <p:cNvSpPr>
              <a:spLocks noChangeArrowheads="1"/>
            </p:cNvSpPr>
            <p:nvPr/>
          </p:nvSpPr>
          <p:spPr bwMode="auto">
            <a:xfrm>
              <a:off x="1815769" y="2278454"/>
              <a:ext cx="689236" cy="496118"/>
            </a:xfrm>
            <a:prstGeom prst="rect">
              <a:avLst/>
            </a:prstGeom>
            <a:solidFill>
              <a:schemeClr val="accent5">
                <a:lumMod val="40000"/>
                <a:lumOff val="60000"/>
              </a:schemeClr>
            </a:solidFill>
            <a:ln>
              <a:noFill/>
            </a:ln>
            <a:effectLst>
              <a:outerShdw blurRad="63500" algn="ctr" rotWithShape="0">
                <a:prstClr val="black">
                  <a:alpha val="70000"/>
                </a:prstClr>
              </a:outerShdw>
            </a:effectLst>
          </p:spPr>
          <p:txBody>
            <a:bodyPr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dirty="0">
                <a:solidFill>
                  <a:prstClr val="black"/>
                </a:solidFill>
                <a:latin typeface="+mn-lt"/>
                <a:ea typeface="+mn-ea"/>
                <a:cs typeface="+mn-ea"/>
                <a:sym typeface="+mn-lt"/>
              </a:endParaRPr>
            </a:p>
          </p:txBody>
        </p:sp>
        <p:sp>
          <p:nvSpPr>
            <p:cNvPr id="370" name="圆角矩形 104"/>
            <p:cNvSpPr>
              <a:spLocks noChangeArrowheads="1"/>
            </p:cNvSpPr>
            <p:nvPr/>
          </p:nvSpPr>
          <p:spPr bwMode="auto">
            <a:xfrm>
              <a:off x="1880146" y="2391352"/>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71" name="TextBox 105"/>
            <p:cNvSpPr txBox="1">
              <a:spLocks noChangeArrowheads="1"/>
            </p:cNvSpPr>
            <p:nvPr/>
          </p:nvSpPr>
          <p:spPr bwMode="auto">
            <a:xfrm>
              <a:off x="1814864" y="2384952"/>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sp>
          <p:nvSpPr>
            <p:cNvPr id="372" name="圆角矩形 104"/>
            <p:cNvSpPr>
              <a:spLocks noChangeArrowheads="1"/>
            </p:cNvSpPr>
            <p:nvPr/>
          </p:nvSpPr>
          <p:spPr bwMode="auto">
            <a:xfrm>
              <a:off x="2189649" y="2391351"/>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73" name="TextBox 105"/>
            <p:cNvSpPr txBox="1">
              <a:spLocks noChangeArrowheads="1"/>
            </p:cNvSpPr>
            <p:nvPr/>
          </p:nvSpPr>
          <p:spPr bwMode="auto">
            <a:xfrm>
              <a:off x="2137261" y="2384950"/>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sp>
          <p:nvSpPr>
            <p:cNvPr id="374" name="圆角矩形 104"/>
            <p:cNvSpPr>
              <a:spLocks noChangeArrowheads="1"/>
            </p:cNvSpPr>
            <p:nvPr/>
          </p:nvSpPr>
          <p:spPr bwMode="auto">
            <a:xfrm>
              <a:off x="1875768" y="2570553"/>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75" name="TextBox 105"/>
            <p:cNvSpPr txBox="1">
              <a:spLocks noChangeArrowheads="1"/>
            </p:cNvSpPr>
            <p:nvPr/>
          </p:nvSpPr>
          <p:spPr bwMode="auto">
            <a:xfrm>
              <a:off x="1823379" y="2564154"/>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sp>
          <p:nvSpPr>
            <p:cNvPr id="376" name="圆角矩形 104"/>
            <p:cNvSpPr>
              <a:spLocks noChangeArrowheads="1"/>
            </p:cNvSpPr>
            <p:nvPr/>
          </p:nvSpPr>
          <p:spPr bwMode="auto">
            <a:xfrm>
              <a:off x="2189649" y="2570553"/>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77" name="TextBox 105"/>
            <p:cNvSpPr txBox="1">
              <a:spLocks noChangeArrowheads="1"/>
            </p:cNvSpPr>
            <p:nvPr/>
          </p:nvSpPr>
          <p:spPr bwMode="auto">
            <a:xfrm>
              <a:off x="2137260" y="2564154"/>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sp>
          <p:nvSpPr>
            <p:cNvPr id="380" name="圆角矩形 379"/>
            <p:cNvSpPr/>
            <p:nvPr/>
          </p:nvSpPr>
          <p:spPr>
            <a:xfrm>
              <a:off x="886032" y="2994516"/>
              <a:ext cx="749290" cy="281079"/>
            </a:xfrm>
            <a:prstGeom prst="round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037"/>
              <a:r>
                <a:rPr lang="en-US" altLang="zh-CN" sz="1200" dirty="0">
                  <a:solidFill>
                    <a:prstClr val="black"/>
                  </a:solidFill>
                  <a:cs typeface="+mn-ea"/>
                  <a:sym typeface="+mn-lt"/>
                </a:rPr>
                <a:t>FC/IP Network</a:t>
              </a:r>
              <a:endParaRPr lang="zh-CN" altLang="en-US" sz="1200" dirty="0">
                <a:solidFill>
                  <a:prstClr val="black"/>
                </a:solidFill>
                <a:cs typeface="+mn-ea"/>
                <a:sym typeface="+mn-lt"/>
              </a:endParaRPr>
            </a:p>
          </p:txBody>
        </p:sp>
        <p:sp>
          <p:nvSpPr>
            <p:cNvPr id="381" name="圆角矩形 380"/>
            <p:cNvSpPr/>
            <p:nvPr/>
          </p:nvSpPr>
          <p:spPr>
            <a:xfrm>
              <a:off x="1783124" y="2995852"/>
              <a:ext cx="749290" cy="281154"/>
            </a:xfrm>
            <a:prstGeom prst="round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037"/>
              <a:r>
                <a:rPr lang="en-US" altLang="zh-CN" sz="1200" dirty="0">
                  <a:solidFill>
                    <a:prstClr val="black"/>
                  </a:solidFill>
                  <a:cs typeface="+mn-ea"/>
                  <a:sym typeface="+mn-lt"/>
                </a:rPr>
                <a:t>FC/IP Network</a:t>
              </a:r>
              <a:endParaRPr lang="zh-CN" altLang="en-US" sz="1200" dirty="0">
                <a:solidFill>
                  <a:prstClr val="black"/>
                </a:solidFill>
                <a:cs typeface="+mn-ea"/>
                <a:sym typeface="+mn-lt"/>
              </a:endParaRPr>
            </a:p>
          </p:txBody>
        </p:sp>
        <p:sp>
          <p:nvSpPr>
            <p:cNvPr id="382" name="Up-Down Arrow 528"/>
            <p:cNvSpPr/>
            <p:nvPr/>
          </p:nvSpPr>
          <p:spPr bwMode="auto">
            <a:xfrm>
              <a:off x="1339952" y="2765099"/>
              <a:ext cx="122396" cy="224661"/>
            </a:xfrm>
            <a:prstGeom prst="upDownArrow">
              <a:avLst/>
            </a:prstGeom>
            <a:solidFill>
              <a:schemeClr val="bg1">
                <a:lumMod val="5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700" dirty="0">
                <a:solidFill>
                  <a:prstClr val="black"/>
                </a:solidFill>
                <a:latin typeface="+mn-lt"/>
                <a:ea typeface="+mn-ea"/>
                <a:cs typeface="+mn-ea"/>
                <a:sym typeface="+mn-lt"/>
              </a:endParaRPr>
            </a:p>
          </p:txBody>
        </p:sp>
        <p:sp>
          <p:nvSpPr>
            <p:cNvPr id="383" name="Up-Down Arrow 528"/>
            <p:cNvSpPr/>
            <p:nvPr/>
          </p:nvSpPr>
          <p:spPr bwMode="auto">
            <a:xfrm>
              <a:off x="2090919" y="3269877"/>
              <a:ext cx="106364" cy="153070"/>
            </a:xfrm>
            <a:prstGeom prst="upDownArrow">
              <a:avLst/>
            </a:prstGeom>
            <a:solidFill>
              <a:schemeClr val="bg1">
                <a:lumMod val="5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700" dirty="0">
                <a:solidFill>
                  <a:prstClr val="black"/>
                </a:solidFill>
                <a:latin typeface="+mn-lt"/>
                <a:ea typeface="+mn-ea"/>
                <a:cs typeface="+mn-ea"/>
                <a:sym typeface="+mn-lt"/>
              </a:endParaRPr>
            </a:p>
          </p:txBody>
        </p:sp>
        <p:grpSp>
          <p:nvGrpSpPr>
            <p:cNvPr id="384" name="组合 383"/>
            <p:cNvGrpSpPr>
              <a:grpSpLocks/>
            </p:cNvGrpSpPr>
            <p:nvPr/>
          </p:nvGrpSpPr>
          <p:grpSpPr bwMode="auto">
            <a:xfrm>
              <a:off x="915101" y="1976043"/>
              <a:ext cx="694028" cy="289337"/>
              <a:chOff x="1274302" y="1196975"/>
              <a:chExt cx="1342800" cy="444215"/>
            </a:xfrm>
          </p:grpSpPr>
          <p:sp>
            <p:nvSpPr>
              <p:cNvPr id="385" name="圆角矩形 56"/>
              <p:cNvSpPr/>
              <p:nvPr/>
            </p:nvSpPr>
            <p:spPr bwMode="auto">
              <a:xfrm>
                <a:off x="1274302" y="1196975"/>
                <a:ext cx="1342800" cy="444215"/>
              </a:xfrm>
              <a:prstGeom prst="round2SameRect">
                <a:avLst/>
              </a:prstGeom>
              <a:solidFill>
                <a:schemeClr val="tx2">
                  <a:lumMod val="60000"/>
                  <a:lumOff val="40000"/>
                </a:schemeClr>
              </a:solidFill>
              <a:ln>
                <a:solidFill>
                  <a:schemeClr val="tx1"/>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900" kern="0" dirty="0">
                  <a:solidFill>
                    <a:prstClr val="white"/>
                  </a:solidFill>
                  <a:latin typeface="+mn-lt"/>
                  <a:ea typeface="+mn-ea"/>
                  <a:cs typeface="+mn-ea"/>
                  <a:sym typeface="+mn-lt"/>
                </a:endParaRPr>
              </a:p>
            </p:txBody>
          </p:sp>
          <p:sp>
            <p:nvSpPr>
              <p:cNvPr id="386" name="TextBox 14"/>
              <p:cNvSpPr txBox="1"/>
              <p:nvPr/>
            </p:nvSpPr>
            <p:spPr bwMode="auto">
              <a:xfrm>
                <a:off x="1339821" y="1251238"/>
                <a:ext cx="1189121" cy="312287"/>
              </a:xfrm>
              <a:prstGeom prst="rect">
                <a:avLst/>
              </a:prstGeom>
              <a:noFill/>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600" dirty="0">
                    <a:solidFill>
                      <a:prstClr val="white"/>
                    </a:solidFill>
                    <a:latin typeface="+mn-lt"/>
                    <a:ea typeface="+mn-ea"/>
                    <a:cs typeface="+mn-ea"/>
                    <a:sym typeface="+mn-lt"/>
                  </a:rPr>
                  <a:t>Server</a:t>
                </a:r>
                <a:endParaRPr lang="zh-CN" altLang="en-US" sz="1600" dirty="0">
                  <a:solidFill>
                    <a:prstClr val="white"/>
                  </a:solidFill>
                  <a:latin typeface="+mn-lt"/>
                  <a:ea typeface="+mn-ea"/>
                  <a:cs typeface="+mn-ea"/>
                  <a:sym typeface="+mn-lt"/>
                </a:endParaRPr>
              </a:p>
            </p:txBody>
          </p:sp>
        </p:grpSp>
        <p:sp>
          <p:nvSpPr>
            <p:cNvPr id="387" name="矩形 386"/>
            <p:cNvSpPr>
              <a:spLocks noChangeArrowheads="1"/>
            </p:cNvSpPr>
            <p:nvPr/>
          </p:nvSpPr>
          <p:spPr bwMode="auto">
            <a:xfrm>
              <a:off x="920824" y="2271775"/>
              <a:ext cx="689236" cy="496118"/>
            </a:xfrm>
            <a:prstGeom prst="rect">
              <a:avLst/>
            </a:prstGeom>
            <a:solidFill>
              <a:schemeClr val="accent5">
                <a:lumMod val="40000"/>
                <a:lumOff val="60000"/>
              </a:schemeClr>
            </a:solidFill>
            <a:ln>
              <a:noFill/>
            </a:ln>
            <a:effectLst>
              <a:outerShdw blurRad="63500" algn="ctr" rotWithShape="0">
                <a:prstClr val="black">
                  <a:alpha val="70000"/>
                </a:prstClr>
              </a:outerShdw>
            </a:effectLst>
          </p:spPr>
          <p:txBody>
            <a:bodyPr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dirty="0">
                <a:solidFill>
                  <a:prstClr val="black"/>
                </a:solidFill>
                <a:latin typeface="+mn-lt"/>
                <a:ea typeface="+mn-ea"/>
                <a:cs typeface="+mn-ea"/>
                <a:sym typeface="+mn-lt"/>
              </a:endParaRPr>
            </a:p>
          </p:txBody>
        </p:sp>
        <p:sp>
          <p:nvSpPr>
            <p:cNvPr id="388" name="圆角矩形 104"/>
            <p:cNvSpPr>
              <a:spLocks noChangeArrowheads="1"/>
            </p:cNvSpPr>
            <p:nvPr/>
          </p:nvSpPr>
          <p:spPr bwMode="auto">
            <a:xfrm>
              <a:off x="991647" y="2384675"/>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89" name="TextBox 105"/>
            <p:cNvSpPr txBox="1">
              <a:spLocks noChangeArrowheads="1"/>
            </p:cNvSpPr>
            <p:nvPr/>
          </p:nvSpPr>
          <p:spPr bwMode="auto">
            <a:xfrm>
              <a:off x="939258" y="2378274"/>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600" dirty="0">
                <a:solidFill>
                  <a:prstClr val="black"/>
                </a:solidFill>
                <a:latin typeface="+mn-lt"/>
                <a:ea typeface="+mn-ea"/>
                <a:cs typeface="+mn-ea"/>
                <a:sym typeface="+mn-lt"/>
              </a:endParaRPr>
            </a:p>
          </p:txBody>
        </p:sp>
        <p:sp>
          <p:nvSpPr>
            <p:cNvPr id="390" name="圆角矩形 104"/>
            <p:cNvSpPr>
              <a:spLocks noChangeArrowheads="1"/>
            </p:cNvSpPr>
            <p:nvPr/>
          </p:nvSpPr>
          <p:spPr bwMode="auto">
            <a:xfrm>
              <a:off x="1294706" y="2384672"/>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kern="0" dirty="0">
                <a:solidFill>
                  <a:prstClr val="black"/>
                </a:solidFill>
                <a:latin typeface="+mn-lt"/>
                <a:ea typeface="+mn-ea"/>
                <a:cs typeface="+mn-ea"/>
                <a:sym typeface="+mn-lt"/>
              </a:endParaRPr>
            </a:p>
          </p:txBody>
        </p:sp>
        <p:sp>
          <p:nvSpPr>
            <p:cNvPr id="391" name="TextBox 105"/>
            <p:cNvSpPr txBox="1">
              <a:spLocks noChangeArrowheads="1"/>
            </p:cNvSpPr>
            <p:nvPr/>
          </p:nvSpPr>
          <p:spPr bwMode="auto">
            <a:xfrm>
              <a:off x="1242317" y="2378272"/>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600" dirty="0">
                <a:solidFill>
                  <a:prstClr val="black"/>
                </a:solidFill>
                <a:latin typeface="+mn-lt"/>
                <a:ea typeface="+mn-ea"/>
                <a:cs typeface="+mn-ea"/>
                <a:sym typeface="+mn-lt"/>
              </a:endParaRPr>
            </a:p>
          </p:txBody>
        </p:sp>
        <p:sp>
          <p:nvSpPr>
            <p:cNvPr id="392" name="圆角矩形 104"/>
            <p:cNvSpPr>
              <a:spLocks noChangeArrowheads="1"/>
            </p:cNvSpPr>
            <p:nvPr/>
          </p:nvSpPr>
          <p:spPr bwMode="auto">
            <a:xfrm>
              <a:off x="987271" y="2563874"/>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93" name="TextBox 105"/>
            <p:cNvSpPr txBox="1">
              <a:spLocks noChangeArrowheads="1"/>
            </p:cNvSpPr>
            <p:nvPr/>
          </p:nvSpPr>
          <p:spPr bwMode="auto">
            <a:xfrm>
              <a:off x="928436" y="2557475"/>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sp>
          <p:nvSpPr>
            <p:cNvPr id="394" name="圆角矩形 104"/>
            <p:cNvSpPr>
              <a:spLocks noChangeArrowheads="1"/>
            </p:cNvSpPr>
            <p:nvPr/>
          </p:nvSpPr>
          <p:spPr bwMode="auto">
            <a:xfrm>
              <a:off x="1294705" y="2563874"/>
              <a:ext cx="260193" cy="136009"/>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700" kern="0" dirty="0">
                <a:solidFill>
                  <a:prstClr val="black"/>
                </a:solidFill>
                <a:latin typeface="+mn-lt"/>
                <a:ea typeface="+mn-ea"/>
                <a:cs typeface="+mn-ea"/>
                <a:sym typeface="+mn-lt"/>
              </a:endParaRPr>
            </a:p>
          </p:txBody>
        </p:sp>
        <p:sp>
          <p:nvSpPr>
            <p:cNvPr id="395" name="TextBox 105"/>
            <p:cNvSpPr txBox="1">
              <a:spLocks noChangeArrowheads="1"/>
            </p:cNvSpPr>
            <p:nvPr/>
          </p:nvSpPr>
          <p:spPr bwMode="auto">
            <a:xfrm>
              <a:off x="1242316" y="2557475"/>
              <a:ext cx="377979" cy="166424"/>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sp>
          <p:nvSpPr>
            <p:cNvPr id="396" name="Up-Down Arrow 528"/>
            <p:cNvSpPr/>
            <p:nvPr/>
          </p:nvSpPr>
          <p:spPr bwMode="auto">
            <a:xfrm>
              <a:off x="1913662" y="2765100"/>
              <a:ext cx="122396" cy="224661"/>
            </a:xfrm>
            <a:prstGeom prst="upDownArrow">
              <a:avLst/>
            </a:prstGeom>
            <a:solidFill>
              <a:schemeClr val="bg1">
                <a:lumMod val="5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700" dirty="0">
                <a:solidFill>
                  <a:prstClr val="black"/>
                </a:solidFill>
                <a:latin typeface="+mn-lt"/>
                <a:ea typeface="+mn-ea"/>
                <a:cs typeface="+mn-ea"/>
                <a:sym typeface="+mn-lt"/>
              </a:endParaRPr>
            </a:p>
          </p:txBody>
        </p:sp>
        <p:sp>
          <p:nvSpPr>
            <p:cNvPr id="397" name="Up-Down Arrow 528"/>
            <p:cNvSpPr/>
            <p:nvPr/>
          </p:nvSpPr>
          <p:spPr bwMode="auto">
            <a:xfrm>
              <a:off x="2237044" y="2766434"/>
              <a:ext cx="122396" cy="224661"/>
            </a:xfrm>
            <a:prstGeom prst="upDownArrow">
              <a:avLst/>
            </a:prstGeom>
            <a:solidFill>
              <a:schemeClr val="bg1">
                <a:lumMod val="5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700" dirty="0">
                <a:solidFill>
                  <a:prstClr val="black"/>
                </a:solidFill>
                <a:latin typeface="+mn-lt"/>
                <a:ea typeface="+mn-ea"/>
                <a:cs typeface="+mn-ea"/>
                <a:sym typeface="+mn-lt"/>
              </a:endParaRPr>
            </a:p>
          </p:txBody>
        </p:sp>
        <p:sp>
          <p:nvSpPr>
            <p:cNvPr id="398" name="TextBox 140"/>
            <p:cNvSpPr txBox="1">
              <a:spLocks noChangeArrowheads="1"/>
            </p:cNvSpPr>
            <p:nvPr/>
          </p:nvSpPr>
          <p:spPr bwMode="auto">
            <a:xfrm>
              <a:off x="921681" y="3601926"/>
              <a:ext cx="318477" cy="138686"/>
            </a:xfrm>
            <a:prstGeom prst="rect">
              <a:avLst/>
            </a:prstGeom>
            <a:noFill/>
            <a:ln w="9525">
              <a:noFill/>
              <a:miter lim="800000"/>
              <a:headEnd/>
              <a:tailEnd/>
            </a:ln>
          </p:spPr>
          <p:txBody>
            <a:bodyPr wrap="squar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900" dirty="0">
                  <a:solidFill>
                    <a:prstClr val="black"/>
                  </a:solidFill>
                  <a:latin typeface="+mn-lt"/>
                  <a:ea typeface="+mn-ea"/>
                  <a:cs typeface="+mn-ea"/>
                  <a:sym typeface="+mn-lt"/>
                </a:rPr>
                <a:t>Cache</a:t>
              </a:r>
              <a:endParaRPr lang="zh-CN" altLang="en-US" sz="900" dirty="0">
                <a:solidFill>
                  <a:prstClr val="black"/>
                </a:solidFill>
                <a:latin typeface="+mn-lt"/>
                <a:ea typeface="+mn-ea"/>
                <a:cs typeface="+mn-ea"/>
                <a:sym typeface="+mn-lt"/>
              </a:endParaRPr>
            </a:p>
          </p:txBody>
        </p:sp>
        <p:sp>
          <p:nvSpPr>
            <p:cNvPr id="399" name="TextBox 140"/>
            <p:cNvSpPr txBox="1">
              <a:spLocks noChangeArrowheads="1"/>
            </p:cNvSpPr>
            <p:nvPr/>
          </p:nvSpPr>
          <p:spPr bwMode="auto">
            <a:xfrm>
              <a:off x="1816400" y="3568205"/>
              <a:ext cx="318478" cy="138686"/>
            </a:xfrm>
            <a:prstGeom prst="rect">
              <a:avLst/>
            </a:prstGeom>
            <a:noFill/>
            <a:ln w="9525">
              <a:noFill/>
              <a:miter lim="800000"/>
              <a:headEnd/>
              <a:tailEnd/>
            </a:ln>
          </p:spPr>
          <p:txBody>
            <a:bodyPr wrap="squar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900" dirty="0">
                  <a:solidFill>
                    <a:prstClr val="black"/>
                  </a:solidFill>
                  <a:latin typeface="+mn-lt"/>
                  <a:ea typeface="+mn-ea"/>
                  <a:cs typeface="+mn-ea"/>
                  <a:sym typeface="+mn-lt"/>
                </a:rPr>
                <a:t>Cache</a:t>
              </a:r>
              <a:endParaRPr lang="zh-CN" altLang="en-US" sz="900" dirty="0">
                <a:solidFill>
                  <a:prstClr val="black"/>
                </a:solidFill>
                <a:latin typeface="+mn-lt"/>
                <a:ea typeface="+mn-ea"/>
                <a:cs typeface="+mn-ea"/>
                <a:sym typeface="+mn-lt"/>
              </a:endParaRPr>
            </a:p>
          </p:txBody>
        </p:sp>
        <p:grpSp>
          <p:nvGrpSpPr>
            <p:cNvPr id="400" name="组合 399"/>
            <p:cNvGrpSpPr/>
            <p:nvPr/>
          </p:nvGrpSpPr>
          <p:grpSpPr>
            <a:xfrm>
              <a:off x="2700037" y="2050362"/>
              <a:ext cx="1799955" cy="1876430"/>
              <a:chOff x="2265143" y="1665697"/>
              <a:chExt cx="1800511" cy="1585424"/>
            </a:xfrm>
          </p:grpSpPr>
          <p:grpSp>
            <p:nvGrpSpPr>
              <p:cNvPr id="401" name="组合 177"/>
              <p:cNvGrpSpPr/>
              <p:nvPr/>
            </p:nvGrpSpPr>
            <p:grpSpPr>
              <a:xfrm>
                <a:off x="2301820" y="1668516"/>
                <a:ext cx="791606" cy="496932"/>
                <a:chOff x="329586" y="1167805"/>
                <a:chExt cx="1756610" cy="827881"/>
              </a:xfrm>
            </p:grpSpPr>
            <p:sp>
              <p:nvSpPr>
                <p:cNvPr id="468" name="矩形 467"/>
                <p:cNvSpPr/>
                <p:nvPr/>
              </p:nvSpPr>
              <p:spPr bwMode="auto">
                <a:xfrm>
                  <a:off x="395536" y="1249800"/>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69" name="矩形 468"/>
                <p:cNvSpPr/>
                <p:nvPr/>
              </p:nvSpPr>
              <p:spPr bwMode="auto">
                <a:xfrm>
                  <a:off x="1242377" y="1248622"/>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70" name="矩形 469"/>
                <p:cNvSpPr/>
                <p:nvPr/>
              </p:nvSpPr>
              <p:spPr bwMode="auto">
                <a:xfrm>
                  <a:off x="395536" y="1663647"/>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71" name="矩形 470"/>
                <p:cNvSpPr/>
                <p:nvPr/>
              </p:nvSpPr>
              <p:spPr bwMode="auto">
                <a:xfrm>
                  <a:off x="1242377" y="1663647"/>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72" name="矩形 471"/>
                <p:cNvSpPr/>
                <p:nvPr/>
              </p:nvSpPr>
              <p:spPr bwMode="auto">
                <a:xfrm>
                  <a:off x="329586" y="1167805"/>
                  <a:ext cx="1756610" cy="827881"/>
                </a:xfrm>
                <a:prstGeom prst="rect">
                  <a:avLst/>
                </a:prstGeom>
                <a:noFill/>
                <a:ln w="12700">
                  <a:solidFill>
                    <a:schemeClr val="tx1"/>
                  </a:solidFill>
                  <a:prstDash val="sys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buFont typeface="Wingdings" pitchFamily="2" charset="2"/>
                    <a:buChar char="n"/>
                  </a:pPr>
                  <a:endParaRPr lang="zh-CN" altLang="en-US" sz="1600">
                    <a:solidFill>
                      <a:prstClr val="black"/>
                    </a:solidFill>
                    <a:latin typeface="+mn-lt"/>
                    <a:ea typeface="+mn-ea"/>
                  </a:endParaRPr>
                </a:p>
              </p:txBody>
            </p:sp>
            <p:cxnSp>
              <p:nvCxnSpPr>
                <p:cNvPr id="473" name="直接连接符 472"/>
                <p:cNvCxnSpPr>
                  <a:stCxn id="468" idx="2"/>
                  <a:endCxn id="471" idx="0"/>
                </p:cNvCxnSpPr>
                <p:nvPr/>
              </p:nvCxnSpPr>
              <p:spPr bwMode="auto">
                <a:xfrm>
                  <a:off x="755576" y="1491630"/>
                  <a:ext cx="846842" cy="172017"/>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74" name="直接连接符 473"/>
                <p:cNvCxnSpPr>
                  <a:stCxn id="468" idx="3"/>
                  <a:endCxn id="469" idx="1"/>
                </p:cNvCxnSpPr>
                <p:nvPr/>
              </p:nvCxnSpPr>
              <p:spPr bwMode="auto">
                <a:xfrm flipV="1">
                  <a:off x="1115616" y="1369537"/>
                  <a:ext cx="126762" cy="1178"/>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75" name="直接连接符 474"/>
                <p:cNvCxnSpPr>
                  <a:stCxn id="469" idx="2"/>
                  <a:endCxn id="470" idx="0"/>
                </p:cNvCxnSpPr>
                <p:nvPr/>
              </p:nvCxnSpPr>
              <p:spPr bwMode="auto">
                <a:xfrm flipH="1">
                  <a:off x="755576" y="1490452"/>
                  <a:ext cx="846842" cy="173195"/>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76" name="直接连接符 475"/>
                <p:cNvCxnSpPr>
                  <a:stCxn id="468" idx="2"/>
                  <a:endCxn id="470" idx="0"/>
                </p:cNvCxnSpPr>
                <p:nvPr/>
              </p:nvCxnSpPr>
              <p:spPr bwMode="auto">
                <a:xfrm>
                  <a:off x="755576" y="1491630"/>
                  <a:ext cx="0" cy="172017"/>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77" name="直接连接符 476"/>
                <p:cNvCxnSpPr>
                  <a:stCxn id="469" idx="2"/>
                  <a:endCxn id="471" idx="0"/>
                </p:cNvCxnSpPr>
                <p:nvPr/>
              </p:nvCxnSpPr>
              <p:spPr bwMode="auto">
                <a:xfrm>
                  <a:off x="1602418" y="1490452"/>
                  <a:ext cx="0" cy="173195"/>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78" name="直接连接符 477"/>
                <p:cNvCxnSpPr>
                  <a:stCxn id="470" idx="3"/>
                  <a:endCxn id="471" idx="1"/>
                </p:cNvCxnSpPr>
                <p:nvPr/>
              </p:nvCxnSpPr>
              <p:spPr bwMode="auto">
                <a:xfrm>
                  <a:off x="1115616" y="1784562"/>
                  <a:ext cx="126762" cy="0"/>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402" name="组合 189"/>
              <p:cNvGrpSpPr/>
              <p:nvPr/>
            </p:nvGrpSpPr>
            <p:grpSpPr>
              <a:xfrm>
                <a:off x="3152834" y="1665697"/>
                <a:ext cx="791606" cy="496932"/>
                <a:chOff x="329586" y="1167805"/>
                <a:chExt cx="1756610" cy="827881"/>
              </a:xfrm>
            </p:grpSpPr>
            <p:sp>
              <p:nvSpPr>
                <p:cNvPr id="457" name="矩形 456"/>
                <p:cNvSpPr/>
                <p:nvPr/>
              </p:nvSpPr>
              <p:spPr bwMode="auto">
                <a:xfrm>
                  <a:off x="395536" y="1249800"/>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58" name="矩形 457"/>
                <p:cNvSpPr/>
                <p:nvPr/>
              </p:nvSpPr>
              <p:spPr bwMode="auto">
                <a:xfrm>
                  <a:off x="1242377" y="1248622"/>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59" name="矩形 458"/>
                <p:cNvSpPr/>
                <p:nvPr/>
              </p:nvSpPr>
              <p:spPr bwMode="auto">
                <a:xfrm>
                  <a:off x="395536" y="1663647"/>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60" name="矩形 459"/>
                <p:cNvSpPr/>
                <p:nvPr/>
              </p:nvSpPr>
              <p:spPr bwMode="auto">
                <a:xfrm>
                  <a:off x="1242379" y="1663647"/>
                  <a:ext cx="720080" cy="241829"/>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pPr>
                  <a:endParaRPr lang="zh-CN" altLang="en-US" sz="1400" dirty="0">
                    <a:solidFill>
                      <a:prstClr val="black"/>
                    </a:solidFill>
                    <a:latin typeface="+mn-lt"/>
                    <a:ea typeface="+mn-ea"/>
                  </a:endParaRPr>
                </a:p>
              </p:txBody>
            </p:sp>
            <p:sp>
              <p:nvSpPr>
                <p:cNvPr id="461" name="矩形 460"/>
                <p:cNvSpPr/>
                <p:nvPr/>
              </p:nvSpPr>
              <p:spPr bwMode="auto">
                <a:xfrm>
                  <a:off x="329586" y="1167805"/>
                  <a:ext cx="1756610" cy="827881"/>
                </a:xfrm>
                <a:prstGeom prst="rect">
                  <a:avLst/>
                </a:prstGeom>
                <a:noFill/>
                <a:ln w="12700">
                  <a:solidFill>
                    <a:schemeClr val="tx1"/>
                  </a:solidFill>
                  <a:prstDash val="sys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buFont typeface="Wingdings" pitchFamily="2" charset="2"/>
                    <a:buChar char="n"/>
                  </a:pPr>
                  <a:endParaRPr lang="zh-CN" altLang="en-US" sz="1600">
                    <a:solidFill>
                      <a:prstClr val="black"/>
                    </a:solidFill>
                    <a:latin typeface="+mn-lt"/>
                    <a:ea typeface="+mn-ea"/>
                  </a:endParaRPr>
                </a:p>
              </p:txBody>
            </p:sp>
            <p:cxnSp>
              <p:nvCxnSpPr>
                <p:cNvPr id="462" name="直接连接符 461"/>
                <p:cNvCxnSpPr>
                  <a:stCxn id="457" idx="2"/>
                  <a:endCxn id="460" idx="0"/>
                </p:cNvCxnSpPr>
                <p:nvPr/>
              </p:nvCxnSpPr>
              <p:spPr bwMode="auto">
                <a:xfrm>
                  <a:off x="755576" y="1491630"/>
                  <a:ext cx="846842" cy="172017"/>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63" name="直接连接符 462"/>
                <p:cNvCxnSpPr>
                  <a:stCxn id="457" idx="3"/>
                  <a:endCxn id="458" idx="1"/>
                </p:cNvCxnSpPr>
                <p:nvPr/>
              </p:nvCxnSpPr>
              <p:spPr bwMode="auto">
                <a:xfrm flipV="1">
                  <a:off x="1115616" y="1369537"/>
                  <a:ext cx="126762" cy="1178"/>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64" name="直接连接符 463"/>
                <p:cNvCxnSpPr>
                  <a:stCxn id="458" idx="2"/>
                  <a:endCxn id="459" idx="0"/>
                </p:cNvCxnSpPr>
                <p:nvPr/>
              </p:nvCxnSpPr>
              <p:spPr bwMode="auto">
                <a:xfrm flipH="1">
                  <a:off x="755576" y="1490452"/>
                  <a:ext cx="846842" cy="173195"/>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65" name="直接连接符 464"/>
                <p:cNvCxnSpPr>
                  <a:stCxn id="457" idx="2"/>
                  <a:endCxn id="459" idx="0"/>
                </p:cNvCxnSpPr>
                <p:nvPr/>
              </p:nvCxnSpPr>
              <p:spPr bwMode="auto">
                <a:xfrm>
                  <a:off x="755576" y="1491630"/>
                  <a:ext cx="0" cy="172017"/>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66" name="直接连接符 465"/>
                <p:cNvCxnSpPr>
                  <a:stCxn id="458" idx="2"/>
                  <a:endCxn id="460" idx="0"/>
                </p:cNvCxnSpPr>
                <p:nvPr/>
              </p:nvCxnSpPr>
              <p:spPr bwMode="auto">
                <a:xfrm>
                  <a:off x="1602418" y="1490452"/>
                  <a:ext cx="0" cy="173195"/>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67" name="直接连接符 466"/>
                <p:cNvCxnSpPr>
                  <a:stCxn id="459" idx="3"/>
                  <a:endCxn id="460" idx="1"/>
                </p:cNvCxnSpPr>
                <p:nvPr/>
              </p:nvCxnSpPr>
              <p:spPr bwMode="auto">
                <a:xfrm>
                  <a:off x="1115616" y="1784562"/>
                  <a:ext cx="126762" cy="0"/>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403" name="直接连接符 402"/>
              <p:cNvCxnSpPr/>
              <p:nvPr/>
            </p:nvCxnSpPr>
            <p:spPr bwMode="auto">
              <a:xfrm>
                <a:off x="3093427" y="1786786"/>
                <a:ext cx="59407" cy="0"/>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04" name="直接连接符 403"/>
              <p:cNvCxnSpPr/>
              <p:nvPr/>
            </p:nvCxnSpPr>
            <p:spPr bwMode="auto">
              <a:xfrm>
                <a:off x="3093427" y="2035904"/>
                <a:ext cx="59407" cy="0"/>
              </a:xfrm>
              <a:prstGeom prst="line">
                <a:avLst/>
              </a:prstGeom>
              <a:ln w="12700" cap="flat" cmpd="sng" algn="ctr">
                <a:solidFill>
                  <a:schemeClr val="tx1"/>
                </a:solidFill>
                <a:prstDash val="sysDot"/>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05" name="矩形 404"/>
              <p:cNvSpPr/>
              <p:nvPr/>
            </p:nvSpPr>
            <p:spPr bwMode="auto">
              <a:xfrm>
                <a:off x="2301820" y="2343448"/>
                <a:ext cx="1630941" cy="384369"/>
              </a:xfrm>
              <a:prstGeom prst="rect">
                <a:avLst/>
              </a:prstGeom>
              <a:noFill/>
              <a:ln w="12700">
                <a:solidFill>
                  <a:schemeClr val="tx1"/>
                </a:solidFill>
                <a:prstDash val="sys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buFont typeface="Wingdings" pitchFamily="2" charset="2"/>
                  <a:buChar char="n"/>
                </a:pPr>
                <a:endParaRPr lang="zh-CN" altLang="en-US" sz="1600">
                  <a:solidFill>
                    <a:prstClr val="black"/>
                  </a:solidFill>
                  <a:latin typeface="+mn-lt"/>
                  <a:ea typeface="+mn-ea"/>
                </a:endParaRPr>
              </a:p>
            </p:txBody>
          </p:sp>
          <p:sp>
            <p:nvSpPr>
              <p:cNvPr id="406" name="下箭头 137"/>
              <p:cNvSpPr>
                <a:spLocks noChangeArrowheads="1"/>
              </p:cNvSpPr>
              <p:nvPr/>
            </p:nvSpPr>
            <p:spPr bwMode="auto">
              <a:xfrm rot="10800000">
                <a:off x="2538354" y="2188231"/>
                <a:ext cx="73449" cy="118849"/>
              </a:xfrm>
              <a:prstGeom prst="downArrow">
                <a:avLst>
                  <a:gd name="adj1" fmla="val 50000"/>
                  <a:gd name="adj2" fmla="val 50000"/>
                </a:avLst>
              </a:prstGeom>
              <a:no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07" name="下箭头 138"/>
              <p:cNvSpPr>
                <a:spLocks noChangeArrowheads="1"/>
              </p:cNvSpPr>
              <p:nvPr/>
            </p:nvSpPr>
            <p:spPr bwMode="auto">
              <a:xfrm rot="10800000">
                <a:off x="3028208" y="2188231"/>
                <a:ext cx="73449" cy="118849"/>
              </a:xfrm>
              <a:prstGeom prst="downArrow">
                <a:avLst>
                  <a:gd name="adj1" fmla="val 50000"/>
                  <a:gd name="adj2" fmla="val 50000"/>
                </a:avLst>
              </a:prstGeom>
              <a:no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08" name="下箭头 139"/>
              <p:cNvSpPr>
                <a:spLocks noChangeArrowheads="1"/>
              </p:cNvSpPr>
              <p:nvPr/>
            </p:nvSpPr>
            <p:spPr bwMode="auto">
              <a:xfrm rot="10800000">
                <a:off x="3567292" y="2185982"/>
                <a:ext cx="73449" cy="118849"/>
              </a:xfrm>
              <a:prstGeom prst="downArrow">
                <a:avLst>
                  <a:gd name="adj1" fmla="val 50000"/>
                  <a:gd name="adj2" fmla="val 50000"/>
                </a:avLst>
              </a:prstGeom>
              <a:no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09" name="圆柱形 408"/>
              <p:cNvSpPr/>
              <p:nvPr/>
            </p:nvSpPr>
            <p:spPr bwMode="auto">
              <a:xfrm>
                <a:off x="2493790" y="2397320"/>
                <a:ext cx="171775" cy="76887"/>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10" name="圆柱形 409"/>
              <p:cNvSpPr/>
              <p:nvPr/>
            </p:nvSpPr>
            <p:spPr bwMode="auto">
              <a:xfrm>
                <a:off x="2518643" y="2474218"/>
                <a:ext cx="171235" cy="76271"/>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11" name="圆柱形 410"/>
              <p:cNvSpPr/>
              <p:nvPr/>
            </p:nvSpPr>
            <p:spPr bwMode="auto">
              <a:xfrm>
                <a:off x="2493790" y="2582390"/>
                <a:ext cx="171775" cy="76886"/>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12" name="圆柱形 126"/>
              <p:cNvSpPr>
                <a:spLocks noChangeArrowheads="1"/>
              </p:cNvSpPr>
              <p:nvPr/>
            </p:nvSpPr>
            <p:spPr bwMode="auto">
              <a:xfrm>
                <a:off x="2322841" y="2474102"/>
                <a:ext cx="122595" cy="76511"/>
              </a:xfrm>
              <a:prstGeom prst="can">
                <a:avLst>
                  <a:gd name="adj" fmla="val 25000"/>
                </a:avLst>
              </a:prstGeom>
              <a:solidFill>
                <a:srgbClr val="66CCFF"/>
              </a:solid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13" name="TextBox 144"/>
              <p:cNvSpPr txBox="1">
                <a:spLocks noChangeArrowheads="1"/>
              </p:cNvSpPr>
              <p:nvPr/>
            </p:nvSpPr>
            <p:spPr bwMode="auto">
              <a:xfrm>
                <a:off x="2465643" y="2440047"/>
                <a:ext cx="26031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HDD</a:t>
                </a:r>
                <a:endParaRPr lang="zh-CN" altLang="en-US" dirty="0">
                  <a:solidFill>
                    <a:srgbClr val="000000"/>
                  </a:solidFill>
                  <a:latin typeface="+mn-lt"/>
                  <a:ea typeface="+mn-ea"/>
                </a:endParaRPr>
              </a:p>
            </p:txBody>
          </p:sp>
          <p:sp>
            <p:nvSpPr>
              <p:cNvPr id="414" name="TextBox 145"/>
              <p:cNvSpPr txBox="1">
                <a:spLocks noChangeArrowheads="1"/>
              </p:cNvSpPr>
              <p:nvPr/>
            </p:nvSpPr>
            <p:spPr bwMode="auto">
              <a:xfrm>
                <a:off x="2271128" y="2445995"/>
                <a:ext cx="23334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SSD</a:t>
                </a:r>
                <a:endParaRPr lang="zh-CN" altLang="en-US" dirty="0">
                  <a:solidFill>
                    <a:srgbClr val="000000"/>
                  </a:solidFill>
                  <a:latin typeface="+mn-lt"/>
                  <a:ea typeface="+mn-ea"/>
                </a:endParaRPr>
              </a:p>
            </p:txBody>
          </p:sp>
          <p:sp>
            <p:nvSpPr>
              <p:cNvPr id="415" name="圆柱形 414"/>
              <p:cNvSpPr/>
              <p:nvPr/>
            </p:nvSpPr>
            <p:spPr bwMode="auto">
              <a:xfrm>
                <a:off x="2941537" y="2415225"/>
                <a:ext cx="171775" cy="76887"/>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16" name="圆柱形 415"/>
              <p:cNvSpPr/>
              <p:nvPr/>
            </p:nvSpPr>
            <p:spPr bwMode="auto">
              <a:xfrm>
                <a:off x="2966390" y="2492122"/>
                <a:ext cx="171235" cy="76271"/>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17" name="圆柱形 416"/>
              <p:cNvSpPr/>
              <p:nvPr/>
            </p:nvSpPr>
            <p:spPr bwMode="auto">
              <a:xfrm>
                <a:off x="2941537" y="2600294"/>
                <a:ext cx="171775" cy="76886"/>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18" name="圆柱形 126"/>
              <p:cNvSpPr>
                <a:spLocks noChangeArrowheads="1"/>
              </p:cNvSpPr>
              <p:nvPr/>
            </p:nvSpPr>
            <p:spPr bwMode="auto">
              <a:xfrm>
                <a:off x="2770589" y="2492007"/>
                <a:ext cx="122595" cy="76511"/>
              </a:xfrm>
              <a:prstGeom prst="can">
                <a:avLst>
                  <a:gd name="adj" fmla="val 25000"/>
                </a:avLst>
              </a:prstGeom>
              <a:solidFill>
                <a:srgbClr val="66CCFF"/>
              </a:solid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19" name="TextBox 144"/>
              <p:cNvSpPr txBox="1">
                <a:spLocks noChangeArrowheads="1"/>
              </p:cNvSpPr>
              <p:nvPr/>
            </p:nvSpPr>
            <p:spPr bwMode="auto">
              <a:xfrm>
                <a:off x="2913392" y="2457951"/>
                <a:ext cx="26031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HDD</a:t>
                </a:r>
                <a:endParaRPr lang="zh-CN" altLang="en-US" dirty="0">
                  <a:solidFill>
                    <a:srgbClr val="000000"/>
                  </a:solidFill>
                  <a:latin typeface="+mn-lt"/>
                  <a:ea typeface="+mn-ea"/>
                </a:endParaRPr>
              </a:p>
            </p:txBody>
          </p:sp>
          <p:sp>
            <p:nvSpPr>
              <p:cNvPr id="420" name="TextBox 145"/>
              <p:cNvSpPr txBox="1">
                <a:spLocks noChangeArrowheads="1"/>
              </p:cNvSpPr>
              <p:nvPr/>
            </p:nvSpPr>
            <p:spPr bwMode="auto">
              <a:xfrm>
                <a:off x="2718875" y="2463901"/>
                <a:ext cx="23334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SSD</a:t>
                </a:r>
                <a:endParaRPr lang="zh-CN" altLang="en-US" dirty="0">
                  <a:solidFill>
                    <a:srgbClr val="000000"/>
                  </a:solidFill>
                  <a:latin typeface="+mn-lt"/>
                  <a:ea typeface="+mn-ea"/>
                </a:endParaRPr>
              </a:p>
            </p:txBody>
          </p:sp>
          <p:sp>
            <p:nvSpPr>
              <p:cNvPr id="421" name="圆柱形 420"/>
              <p:cNvSpPr/>
              <p:nvPr/>
            </p:nvSpPr>
            <p:spPr bwMode="auto">
              <a:xfrm>
                <a:off x="3487898" y="2413662"/>
                <a:ext cx="171775" cy="76887"/>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22" name="圆柱形 421"/>
              <p:cNvSpPr/>
              <p:nvPr/>
            </p:nvSpPr>
            <p:spPr bwMode="auto">
              <a:xfrm>
                <a:off x="3512750" y="2490561"/>
                <a:ext cx="171235" cy="76271"/>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23" name="圆柱形 422"/>
              <p:cNvSpPr/>
              <p:nvPr/>
            </p:nvSpPr>
            <p:spPr bwMode="auto">
              <a:xfrm>
                <a:off x="3487898" y="2598733"/>
                <a:ext cx="171775" cy="76886"/>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24" name="圆柱形 126"/>
              <p:cNvSpPr>
                <a:spLocks noChangeArrowheads="1"/>
              </p:cNvSpPr>
              <p:nvPr/>
            </p:nvSpPr>
            <p:spPr bwMode="auto">
              <a:xfrm>
                <a:off x="3316949" y="2490446"/>
                <a:ext cx="122595" cy="76511"/>
              </a:xfrm>
              <a:prstGeom prst="can">
                <a:avLst>
                  <a:gd name="adj" fmla="val 25000"/>
                </a:avLst>
              </a:prstGeom>
              <a:solidFill>
                <a:srgbClr val="66CCFF"/>
              </a:solid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25" name="TextBox 144"/>
              <p:cNvSpPr txBox="1">
                <a:spLocks noChangeArrowheads="1"/>
              </p:cNvSpPr>
              <p:nvPr/>
            </p:nvSpPr>
            <p:spPr bwMode="auto">
              <a:xfrm>
                <a:off x="3459751" y="2456390"/>
                <a:ext cx="26031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HDD</a:t>
                </a:r>
                <a:endParaRPr lang="zh-CN" altLang="en-US" dirty="0">
                  <a:solidFill>
                    <a:srgbClr val="000000"/>
                  </a:solidFill>
                  <a:latin typeface="+mn-lt"/>
                  <a:ea typeface="+mn-ea"/>
                </a:endParaRPr>
              </a:p>
            </p:txBody>
          </p:sp>
          <p:sp>
            <p:nvSpPr>
              <p:cNvPr id="426" name="TextBox 145"/>
              <p:cNvSpPr txBox="1">
                <a:spLocks noChangeArrowheads="1"/>
              </p:cNvSpPr>
              <p:nvPr/>
            </p:nvSpPr>
            <p:spPr bwMode="auto">
              <a:xfrm>
                <a:off x="3258835" y="2462339"/>
                <a:ext cx="23334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SSD</a:t>
                </a:r>
                <a:endParaRPr lang="zh-CN" altLang="en-US" dirty="0">
                  <a:solidFill>
                    <a:srgbClr val="000000"/>
                  </a:solidFill>
                  <a:latin typeface="+mn-lt"/>
                  <a:ea typeface="+mn-ea"/>
                </a:endParaRPr>
              </a:p>
            </p:txBody>
          </p:sp>
          <p:sp>
            <p:nvSpPr>
              <p:cNvPr id="427" name="文本框 229"/>
              <p:cNvSpPr txBox="1"/>
              <p:nvPr/>
            </p:nvSpPr>
            <p:spPr>
              <a:xfrm>
                <a:off x="2761746" y="2610454"/>
                <a:ext cx="636557" cy="296851"/>
              </a:xfrm>
              <a:prstGeom prst="rect">
                <a:avLst/>
              </a:prstGeom>
              <a:noFill/>
            </p:spPr>
            <p:txBody>
              <a:bodyPr wrap="square" rtlCol="0">
                <a:spAutoFit/>
              </a:bodyPr>
              <a:lstStyle/>
              <a:p>
                <a:pPr algn="ctr" defTabSz="914037" fontAlgn="auto">
                  <a:spcBef>
                    <a:spcPts val="0"/>
                  </a:spcBef>
                  <a:spcAft>
                    <a:spcPts val="0"/>
                  </a:spcAft>
                </a:pPr>
                <a:r>
                  <a:rPr lang="en-US" altLang="zh-CN" sz="3200" b="1" dirty="0">
                    <a:solidFill>
                      <a:prstClr val="black"/>
                    </a:solidFill>
                    <a:latin typeface="+mn-lt"/>
                    <a:ea typeface="+mn-ea"/>
                  </a:rPr>
                  <a:t>……</a:t>
                </a:r>
                <a:endParaRPr lang="zh-CN" altLang="en-US" sz="3200" b="1" dirty="0">
                  <a:solidFill>
                    <a:prstClr val="black"/>
                  </a:solidFill>
                  <a:latin typeface="+mn-lt"/>
                  <a:ea typeface="+mn-ea"/>
                </a:endParaRPr>
              </a:p>
            </p:txBody>
          </p:sp>
          <p:sp>
            <p:nvSpPr>
              <p:cNvPr id="428" name="矩形 427"/>
              <p:cNvSpPr/>
              <p:nvPr/>
            </p:nvSpPr>
            <p:spPr bwMode="auto">
              <a:xfrm>
                <a:off x="2312827" y="2866752"/>
                <a:ext cx="1630941" cy="384369"/>
              </a:xfrm>
              <a:prstGeom prst="rect">
                <a:avLst/>
              </a:prstGeom>
              <a:noFill/>
              <a:ln w="12700">
                <a:solidFill>
                  <a:schemeClr val="tx1"/>
                </a:solidFill>
                <a:prstDash val="sys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a:buClr>
                    <a:srgbClr val="CC9900"/>
                  </a:buClr>
                  <a:buFont typeface="Wingdings" pitchFamily="2" charset="2"/>
                  <a:buChar char="n"/>
                </a:pPr>
                <a:endParaRPr lang="zh-CN" altLang="en-US" sz="1600">
                  <a:solidFill>
                    <a:prstClr val="black"/>
                  </a:solidFill>
                  <a:latin typeface="+mn-lt"/>
                  <a:ea typeface="+mn-ea"/>
                </a:endParaRPr>
              </a:p>
            </p:txBody>
          </p:sp>
          <p:sp>
            <p:nvSpPr>
              <p:cNvPr id="429" name="圆柱形 428"/>
              <p:cNvSpPr/>
              <p:nvPr/>
            </p:nvSpPr>
            <p:spPr bwMode="auto">
              <a:xfrm>
                <a:off x="2504797" y="2920623"/>
                <a:ext cx="171775" cy="76887"/>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30" name="圆柱形 429"/>
              <p:cNvSpPr/>
              <p:nvPr/>
            </p:nvSpPr>
            <p:spPr bwMode="auto">
              <a:xfrm>
                <a:off x="2529650" y="2997521"/>
                <a:ext cx="171235" cy="76271"/>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31" name="圆柱形 430"/>
              <p:cNvSpPr/>
              <p:nvPr/>
            </p:nvSpPr>
            <p:spPr bwMode="auto">
              <a:xfrm>
                <a:off x="2504797" y="3105692"/>
                <a:ext cx="171775" cy="76886"/>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32" name="圆柱形 126"/>
              <p:cNvSpPr>
                <a:spLocks noChangeArrowheads="1"/>
              </p:cNvSpPr>
              <p:nvPr/>
            </p:nvSpPr>
            <p:spPr bwMode="auto">
              <a:xfrm>
                <a:off x="2333849" y="2997406"/>
                <a:ext cx="122595" cy="76511"/>
              </a:xfrm>
              <a:prstGeom prst="can">
                <a:avLst>
                  <a:gd name="adj" fmla="val 25000"/>
                </a:avLst>
              </a:prstGeom>
              <a:solidFill>
                <a:srgbClr val="66CCFF"/>
              </a:solid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33" name="TextBox 144"/>
              <p:cNvSpPr txBox="1">
                <a:spLocks noChangeArrowheads="1"/>
              </p:cNvSpPr>
              <p:nvPr/>
            </p:nvSpPr>
            <p:spPr bwMode="auto">
              <a:xfrm>
                <a:off x="2469277" y="2970725"/>
                <a:ext cx="26031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HDD</a:t>
                </a:r>
                <a:endParaRPr lang="zh-CN" altLang="en-US" dirty="0">
                  <a:solidFill>
                    <a:srgbClr val="000000"/>
                  </a:solidFill>
                  <a:latin typeface="+mn-lt"/>
                  <a:ea typeface="+mn-ea"/>
                </a:endParaRPr>
              </a:p>
            </p:txBody>
          </p:sp>
          <p:sp>
            <p:nvSpPr>
              <p:cNvPr id="434" name="TextBox 145"/>
              <p:cNvSpPr txBox="1">
                <a:spLocks noChangeArrowheads="1"/>
              </p:cNvSpPr>
              <p:nvPr/>
            </p:nvSpPr>
            <p:spPr bwMode="auto">
              <a:xfrm>
                <a:off x="2281160" y="2970716"/>
                <a:ext cx="23334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SSD</a:t>
                </a:r>
                <a:endParaRPr lang="zh-CN" altLang="en-US" dirty="0">
                  <a:solidFill>
                    <a:srgbClr val="000000"/>
                  </a:solidFill>
                  <a:latin typeface="+mn-lt"/>
                  <a:ea typeface="+mn-ea"/>
                </a:endParaRPr>
              </a:p>
            </p:txBody>
          </p:sp>
          <p:sp>
            <p:nvSpPr>
              <p:cNvPr id="435" name="圆柱形 434"/>
              <p:cNvSpPr/>
              <p:nvPr/>
            </p:nvSpPr>
            <p:spPr bwMode="auto">
              <a:xfrm>
                <a:off x="2952545" y="2938527"/>
                <a:ext cx="171775" cy="76887"/>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36" name="圆柱形 435"/>
              <p:cNvSpPr/>
              <p:nvPr/>
            </p:nvSpPr>
            <p:spPr bwMode="auto">
              <a:xfrm>
                <a:off x="2977397" y="3015424"/>
                <a:ext cx="171235" cy="76271"/>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37" name="圆柱形 436"/>
              <p:cNvSpPr/>
              <p:nvPr/>
            </p:nvSpPr>
            <p:spPr bwMode="auto">
              <a:xfrm>
                <a:off x="2952545" y="3123596"/>
                <a:ext cx="171775" cy="76886"/>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38" name="圆柱形 126"/>
              <p:cNvSpPr>
                <a:spLocks noChangeArrowheads="1"/>
              </p:cNvSpPr>
              <p:nvPr/>
            </p:nvSpPr>
            <p:spPr bwMode="auto">
              <a:xfrm>
                <a:off x="2742974" y="3009353"/>
                <a:ext cx="122595" cy="76511"/>
              </a:xfrm>
              <a:prstGeom prst="can">
                <a:avLst>
                  <a:gd name="adj" fmla="val 25000"/>
                </a:avLst>
              </a:prstGeom>
              <a:solidFill>
                <a:srgbClr val="66CCFF"/>
              </a:solid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39" name="TextBox 144"/>
              <p:cNvSpPr txBox="1">
                <a:spLocks noChangeArrowheads="1"/>
              </p:cNvSpPr>
              <p:nvPr/>
            </p:nvSpPr>
            <p:spPr bwMode="auto">
              <a:xfrm>
                <a:off x="2917025" y="2988629"/>
                <a:ext cx="26031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HDD</a:t>
                </a:r>
                <a:endParaRPr lang="zh-CN" altLang="en-US" dirty="0">
                  <a:solidFill>
                    <a:srgbClr val="000000"/>
                  </a:solidFill>
                  <a:latin typeface="+mn-lt"/>
                  <a:ea typeface="+mn-ea"/>
                </a:endParaRPr>
              </a:p>
            </p:txBody>
          </p:sp>
          <p:sp>
            <p:nvSpPr>
              <p:cNvPr id="440" name="TextBox 145"/>
              <p:cNvSpPr txBox="1">
                <a:spLocks noChangeArrowheads="1"/>
              </p:cNvSpPr>
              <p:nvPr/>
            </p:nvSpPr>
            <p:spPr bwMode="auto">
              <a:xfrm>
                <a:off x="2696907" y="2982662"/>
                <a:ext cx="23334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SSD</a:t>
                </a:r>
                <a:endParaRPr lang="zh-CN" altLang="en-US" dirty="0">
                  <a:solidFill>
                    <a:srgbClr val="000000"/>
                  </a:solidFill>
                  <a:latin typeface="+mn-lt"/>
                  <a:ea typeface="+mn-ea"/>
                </a:endParaRPr>
              </a:p>
            </p:txBody>
          </p:sp>
          <p:sp>
            <p:nvSpPr>
              <p:cNvPr id="441" name="圆柱形 440"/>
              <p:cNvSpPr/>
              <p:nvPr/>
            </p:nvSpPr>
            <p:spPr bwMode="auto">
              <a:xfrm>
                <a:off x="3498905" y="2936966"/>
                <a:ext cx="171775" cy="76887"/>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42" name="圆柱形 441"/>
              <p:cNvSpPr/>
              <p:nvPr/>
            </p:nvSpPr>
            <p:spPr bwMode="auto">
              <a:xfrm>
                <a:off x="3523758" y="3013864"/>
                <a:ext cx="171235" cy="76271"/>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43" name="圆柱形 442"/>
              <p:cNvSpPr/>
              <p:nvPr/>
            </p:nvSpPr>
            <p:spPr bwMode="auto">
              <a:xfrm>
                <a:off x="3498905" y="3122036"/>
                <a:ext cx="171775" cy="76886"/>
              </a:xfrm>
              <a:prstGeom prst="can">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100">
                  <a:solidFill>
                    <a:srgbClr val="FFFFFF"/>
                  </a:solidFill>
                  <a:latin typeface="+mn-lt"/>
                  <a:ea typeface="+mn-ea"/>
                </a:endParaRPr>
              </a:p>
            </p:txBody>
          </p:sp>
          <p:sp>
            <p:nvSpPr>
              <p:cNvPr id="444" name="圆柱形 126"/>
              <p:cNvSpPr>
                <a:spLocks noChangeArrowheads="1"/>
              </p:cNvSpPr>
              <p:nvPr/>
            </p:nvSpPr>
            <p:spPr bwMode="auto">
              <a:xfrm>
                <a:off x="3290112" y="3001835"/>
                <a:ext cx="122595" cy="76511"/>
              </a:xfrm>
              <a:prstGeom prst="can">
                <a:avLst>
                  <a:gd name="adj" fmla="val 25000"/>
                </a:avLst>
              </a:prstGeom>
              <a:solidFill>
                <a:srgbClr val="66CCFF"/>
              </a:solidFill>
              <a:ln w="9525" algn="ctr">
                <a:solidFill>
                  <a:schemeClr val="tx1"/>
                </a:solidFill>
                <a:round/>
                <a:headEnd/>
                <a:tailEnd/>
              </a:ln>
            </p:spPr>
            <p:txBody>
              <a:bodyPr lIns="79176" tIns="39588" rIns="79176" bIns="39588"/>
              <a:lstStyle/>
              <a:p>
                <a:pPr defTabSz="801447" fontAlgn="auto">
                  <a:spcBef>
                    <a:spcPts val="0"/>
                  </a:spcBef>
                  <a:spcAft>
                    <a:spcPts val="0"/>
                  </a:spcAft>
                </a:pPr>
                <a:endParaRPr lang="zh-CN" altLang="en-US" sz="1100">
                  <a:solidFill>
                    <a:srgbClr val="FFFFFF"/>
                  </a:solidFill>
                  <a:latin typeface="+mn-lt"/>
                  <a:ea typeface="+mn-ea"/>
                </a:endParaRPr>
              </a:p>
            </p:txBody>
          </p:sp>
          <p:sp>
            <p:nvSpPr>
              <p:cNvPr id="445" name="TextBox 144"/>
              <p:cNvSpPr txBox="1">
                <a:spLocks noChangeArrowheads="1"/>
              </p:cNvSpPr>
              <p:nvPr/>
            </p:nvSpPr>
            <p:spPr bwMode="auto">
              <a:xfrm>
                <a:off x="3463384" y="2987069"/>
                <a:ext cx="26031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HDD</a:t>
                </a:r>
                <a:endParaRPr lang="zh-CN" altLang="en-US" dirty="0">
                  <a:solidFill>
                    <a:srgbClr val="000000"/>
                  </a:solidFill>
                  <a:latin typeface="+mn-lt"/>
                  <a:ea typeface="+mn-ea"/>
                </a:endParaRPr>
              </a:p>
            </p:txBody>
          </p:sp>
          <p:sp>
            <p:nvSpPr>
              <p:cNvPr id="446" name="TextBox 145"/>
              <p:cNvSpPr txBox="1">
                <a:spLocks noChangeArrowheads="1"/>
              </p:cNvSpPr>
              <p:nvPr/>
            </p:nvSpPr>
            <p:spPr bwMode="auto">
              <a:xfrm>
                <a:off x="3243267" y="2981102"/>
                <a:ext cx="233340" cy="124990"/>
              </a:xfrm>
              <a:prstGeom prst="rect">
                <a:avLst/>
              </a:prstGeom>
              <a:noFill/>
              <a:ln w="9525">
                <a:noFill/>
                <a:miter lim="800000"/>
                <a:headEnd/>
                <a:tailEnd/>
              </a:ln>
            </p:spPr>
            <p:txBody>
              <a:bodyPr wrap="none">
                <a:spAutoFit/>
              </a:bodyPr>
              <a:lstStyle/>
              <a:p>
                <a:pPr defTabSz="914037" fontAlgn="auto">
                  <a:spcBef>
                    <a:spcPts val="0"/>
                  </a:spcBef>
                  <a:spcAft>
                    <a:spcPts val="0"/>
                  </a:spcAft>
                </a:pPr>
                <a:r>
                  <a:rPr lang="en-US" altLang="zh-CN" dirty="0">
                    <a:solidFill>
                      <a:srgbClr val="000000"/>
                    </a:solidFill>
                    <a:latin typeface="+mn-lt"/>
                    <a:ea typeface="+mn-ea"/>
                  </a:rPr>
                  <a:t>SSD</a:t>
                </a:r>
                <a:endParaRPr lang="zh-CN" altLang="en-US" dirty="0">
                  <a:solidFill>
                    <a:srgbClr val="000000"/>
                  </a:solidFill>
                  <a:latin typeface="+mn-lt"/>
                  <a:ea typeface="+mn-ea"/>
                </a:endParaRPr>
              </a:p>
            </p:txBody>
          </p:sp>
          <p:sp>
            <p:nvSpPr>
              <p:cNvPr id="447" name="TextBox 191"/>
              <p:cNvSpPr txBox="1"/>
              <p:nvPr/>
            </p:nvSpPr>
            <p:spPr>
              <a:xfrm>
                <a:off x="3710485" y="2343447"/>
                <a:ext cx="161175" cy="328099"/>
              </a:xfrm>
              <a:prstGeom prst="rect">
                <a:avLst/>
              </a:prstGeom>
              <a:noFill/>
            </p:spPr>
            <p:txBody>
              <a:bodyPr wrap="square" rtlCol="0">
                <a:spAutoFit/>
              </a:bodyPr>
              <a:lstStyle/>
              <a:p>
                <a:pPr defTabSz="914037" fontAlgn="auto">
                  <a:spcBef>
                    <a:spcPts val="0"/>
                  </a:spcBef>
                  <a:spcAft>
                    <a:spcPts val="0"/>
                  </a:spcAft>
                </a:pPr>
                <a:r>
                  <a:rPr lang="zh-CN" altLang="en-US" sz="1200" b="1" dirty="0">
                    <a:solidFill>
                      <a:srgbClr val="000000"/>
                    </a:solidFill>
                    <a:latin typeface="+mn-lt"/>
                    <a:ea typeface="+mn-ea"/>
                  </a:rPr>
                  <a:t>硬盘框</a:t>
                </a:r>
                <a:endParaRPr lang="en-US" altLang="zh-CN" sz="1200" b="1" dirty="0">
                  <a:solidFill>
                    <a:srgbClr val="000000"/>
                  </a:solidFill>
                  <a:latin typeface="+mn-lt"/>
                  <a:ea typeface="+mn-ea"/>
                </a:endParaRPr>
              </a:p>
            </p:txBody>
          </p:sp>
          <p:sp>
            <p:nvSpPr>
              <p:cNvPr id="448" name="TextBox 191"/>
              <p:cNvSpPr txBox="1"/>
              <p:nvPr/>
            </p:nvSpPr>
            <p:spPr>
              <a:xfrm>
                <a:off x="3703107" y="2875201"/>
                <a:ext cx="161175" cy="328099"/>
              </a:xfrm>
              <a:prstGeom prst="rect">
                <a:avLst/>
              </a:prstGeom>
              <a:noFill/>
            </p:spPr>
            <p:txBody>
              <a:bodyPr wrap="square" rtlCol="0">
                <a:spAutoFit/>
              </a:bodyPr>
              <a:lstStyle/>
              <a:p>
                <a:pPr defTabSz="914037" fontAlgn="auto">
                  <a:spcBef>
                    <a:spcPts val="0"/>
                  </a:spcBef>
                  <a:spcAft>
                    <a:spcPts val="0"/>
                  </a:spcAft>
                </a:pPr>
                <a:r>
                  <a:rPr lang="zh-CN" altLang="en-US" sz="1200" b="1" dirty="0">
                    <a:solidFill>
                      <a:srgbClr val="000000"/>
                    </a:solidFill>
                    <a:latin typeface="+mn-lt"/>
                    <a:ea typeface="+mn-ea"/>
                  </a:rPr>
                  <a:t>硬盘框</a:t>
                </a:r>
                <a:endParaRPr lang="en-US" altLang="zh-CN" sz="1200" b="1" dirty="0">
                  <a:solidFill>
                    <a:srgbClr val="000000"/>
                  </a:solidFill>
                  <a:latin typeface="+mn-lt"/>
                  <a:ea typeface="+mn-ea"/>
                </a:endParaRPr>
              </a:p>
            </p:txBody>
          </p:sp>
          <p:sp>
            <p:nvSpPr>
              <p:cNvPr id="449" name="文本框 263"/>
              <p:cNvSpPr txBox="1"/>
              <p:nvPr/>
            </p:nvSpPr>
            <p:spPr>
              <a:xfrm>
                <a:off x="2265143" y="1683729"/>
                <a:ext cx="546359" cy="156238"/>
              </a:xfrm>
              <a:prstGeom prst="rect">
                <a:avLst/>
              </a:prstGeom>
              <a:noFill/>
            </p:spPr>
            <p:txBody>
              <a:bodyPr wrap="square" rtlCol="0">
                <a:spAutoFit/>
              </a:bodyPr>
              <a:lstStyle/>
              <a:p>
                <a:pPr defTabSz="914037" fontAlgn="auto">
                  <a:spcBef>
                    <a:spcPts val="0"/>
                  </a:spcBef>
                  <a:spcAft>
                    <a:spcPts val="0"/>
                  </a:spcAft>
                </a:pPr>
                <a:r>
                  <a:rPr lang="en-US" altLang="zh-CN" sz="1400" dirty="0">
                    <a:solidFill>
                      <a:prstClr val="black"/>
                    </a:solidFill>
                    <a:latin typeface="+mn-lt"/>
                    <a:ea typeface="+mn-ea"/>
                  </a:rPr>
                  <a:t> </a:t>
                </a:r>
                <a:r>
                  <a:rPr lang="zh-CN" altLang="en-US" sz="1400" dirty="0">
                    <a:solidFill>
                      <a:prstClr val="black"/>
                    </a:solidFill>
                    <a:latin typeface="+mn-lt"/>
                    <a:ea typeface="+mn-ea"/>
                  </a:rPr>
                  <a:t>控制器</a:t>
                </a:r>
              </a:p>
            </p:txBody>
          </p:sp>
          <p:sp>
            <p:nvSpPr>
              <p:cNvPr id="450" name="文本框 264"/>
              <p:cNvSpPr txBox="1"/>
              <p:nvPr/>
            </p:nvSpPr>
            <p:spPr>
              <a:xfrm>
                <a:off x="2655189" y="1676515"/>
                <a:ext cx="546359" cy="156238"/>
              </a:xfrm>
              <a:prstGeom prst="rect">
                <a:avLst/>
              </a:prstGeom>
              <a:noFill/>
            </p:spPr>
            <p:txBody>
              <a:bodyPr wrap="square" rtlCol="0">
                <a:spAutoFit/>
              </a:bodyPr>
              <a:lstStyle/>
              <a:p>
                <a:pPr defTabSz="914037" fontAlgn="auto">
                  <a:spcBef>
                    <a:spcPts val="0"/>
                  </a:spcBef>
                  <a:spcAft>
                    <a:spcPts val="0"/>
                  </a:spcAft>
                </a:pPr>
                <a:r>
                  <a:rPr lang="zh-CN" altLang="en-US" sz="1400" dirty="0">
                    <a:solidFill>
                      <a:prstClr val="black"/>
                    </a:solidFill>
                    <a:latin typeface="+mn-lt"/>
                    <a:ea typeface="+mn-ea"/>
                  </a:rPr>
                  <a:t>控制器</a:t>
                </a:r>
              </a:p>
            </p:txBody>
          </p:sp>
          <p:sp>
            <p:nvSpPr>
              <p:cNvPr id="451" name="文本框 265"/>
              <p:cNvSpPr txBox="1"/>
              <p:nvPr/>
            </p:nvSpPr>
            <p:spPr>
              <a:xfrm>
                <a:off x="3116738" y="1681883"/>
                <a:ext cx="546359" cy="156238"/>
              </a:xfrm>
              <a:prstGeom prst="rect">
                <a:avLst/>
              </a:prstGeom>
              <a:noFill/>
            </p:spPr>
            <p:txBody>
              <a:bodyPr wrap="square" rtlCol="0">
                <a:spAutoFit/>
              </a:bodyPr>
              <a:lstStyle/>
              <a:p>
                <a:pPr defTabSz="914037" fontAlgn="auto">
                  <a:spcBef>
                    <a:spcPts val="0"/>
                  </a:spcBef>
                  <a:spcAft>
                    <a:spcPts val="0"/>
                  </a:spcAft>
                </a:pPr>
                <a:r>
                  <a:rPr lang="zh-CN" altLang="en-US" sz="1400" dirty="0">
                    <a:solidFill>
                      <a:prstClr val="black"/>
                    </a:solidFill>
                    <a:latin typeface="+mn-lt"/>
                    <a:ea typeface="+mn-ea"/>
                  </a:rPr>
                  <a:t>控制器</a:t>
                </a:r>
              </a:p>
            </p:txBody>
          </p:sp>
          <p:sp>
            <p:nvSpPr>
              <p:cNvPr id="452" name="文本框 266"/>
              <p:cNvSpPr txBox="1"/>
              <p:nvPr/>
            </p:nvSpPr>
            <p:spPr>
              <a:xfrm>
                <a:off x="3519295" y="1672503"/>
                <a:ext cx="546359" cy="156238"/>
              </a:xfrm>
              <a:prstGeom prst="rect">
                <a:avLst/>
              </a:prstGeom>
              <a:noFill/>
            </p:spPr>
            <p:txBody>
              <a:bodyPr wrap="square" rtlCol="0">
                <a:spAutoFit/>
              </a:bodyPr>
              <a:lstStyle/>
              <a:p>
                <a:pPr defTabSz="914037" fontAlgn="auto">
                  <a:spcBef>
                    <a:spcPts val="0"/>
                  </a:spcBef>
                  <a:spcAft>
                    <a:spcPts val="0"/>
                  </a:spcAft>
                </a:pPr>
                <a:r>
                  <a:rPr lang="zh-CN" altLang="en-US" sz="1400" dirty="0">
                    <a:solidFill>
                      <a:prstClr val="black"/>
                    </a:solidFill>
                    <a:latin typeface="+mn-lt"/>
                    <a:ea typeface="+mn-ea"/>
                  </a:rPr>
                  <a:t>控制器</a:t>
                </a:r>
              </a:p>
            </p:txBody>
          </p:sp>
          <p:sp>
            <p:nvSpPr>
              <p:cNvPr id="453" name="文本框 267"/>
              <p:cNvSpPr txBox="1"/>
              <p:nvPr/>
            </p:nvSpPr>
            <p:spPr>
              <a:xfrm>
                <a:off x="2277370" y="1935280"/>
                <a:ext cx="546359" cy="156238"/>
              </a:xfrm>
              <a:prstGeom prst="rect">
                <a:avLst/>
              </a:prstGeom>
              <a:noFill/>
            </p:spPr>
            <p:txBody>
              <a:bodyPr wrap="square" rtlCol="0">
                <a:spAutoFit/>
              </a:bodyPr>
              <a:lstStyle/>
              <a:p>
                <a:pPr defTabSz="914037" fontAlgn="auto">
                  <a:spcBef>
                    <a:spcPts val="0"/>
                  </a:spcBef>
                  <a:spcAft>
                    <a:spcPts val="0"/>
                  </a:spcAft>
                </a:pPr>
                <a:r>
                  <a:rPr lang="en-US" altLang="zh-CN" sz="1400" dirty="0">
                    <a:solidFill>
                      <a:prstClr val="black"/>
                    </a:solidFill>
                    <a:latin typeface="+mn-lt"/>
                    <a:ea typeface="+mn-ea"/>
                  </a:rPr>
                  <a:t> </a:t>
                </a:r>
                <a:r>
                  <a:rPr lang="zh-CN" altLang="en-US" sz="1400" dirty="0">
                    <a:solidFill>
                      <a:prstClr val="black"/>
                    </a:solidFill>
                    <a:latin typeface="+mn-lt"/>
                    <a:ea typeface="+mn-ea"/>
                  </a:rPr>
                  <a:t>控制器</a:t>
                </a:r>
              </a:p>
            </p:txBody>
          </p:sp>
          <p:sp>
            <p:nvSpPr>
              <p:cNvPr id="454" name="文本框 268"/>
              <p:cNvSpPr txBox="1"/>
              <p:nvPr/>
            </p:nvSpPr>
            <p:spPr>
              <a:xfrm>
                <a:off x="2657739" y="1939113"/>
                <a:ext cx="546359" cy="156238"/>
              </a:xfrm>
              <a:prstGeom prst="rect">
                <a:avLst/>
              </a:prstGeom>
              <a:noFill/>
            </p:spPr>
            <p:txBody>
              <a:bodyPr wrap="square" rtlCol="0">
                <a:spAutoFit/>
              </a:bodyPr>
              <a:lstStyle/>
              <a:p>
                <a:pPr defTabSz="914037" fontAlgn="auto">
                  <a:spcBef>
                    <a:spcPts val="0"/>
                  </a:spcBef>
                  <a:spcAft>
                    <a:spcPts val="0"/>
                  </a:spcAft>
                </a:pPr>
                <a:r>
                  <a:rPr lang="en-US" altLang="zh-CN" sz="1400" dirty="0">
                    <a:solidFill>
                      <a:prstClr val="black"/>
                    </a:solidFill>
                    <a:latin typeface="+mn-lt"/>
                    <a:ea typeface="+mn-ea"/>
                  </a:rPr>
                  <a:t> </a:t>
                </a:r>
                <a:r>
                  <a:rPr lang="zh-CN" altLang="en-US" sz="1400" dirty="0">
                    <a:solidFill>
                      <a:prstClr val="black"/>
                    </a:solidFill>
                    <a:latin typeface="+mn-lt"/>
                    <a:ea typeface="+mn-ea"/>
                  </a:rPr>
                  <a:t>控制器</a:t>
                </a:r>
              </a:p>
            </p:txBody>
          </p:sp>
          <p:sp>
            <p:nvSpPr>
              <p:cNvPr id="455" name="文本框 269"/>
              <p:cNvSpPr txBox="1"/>
              <p:nvPr/>
            </p:nvSpPr>
            <p:spPr>
              <a:xfrm>
                <a:off x="3126598" y="1928198"/>
                <a:ext cx="546359" cy="156238"/>
              </a:xfrm>
              <a:prstGeom prst="rect">
                <a:avLst/>
              </a:prstGeom>
              <a:noFill/>
            </p:spPr>
            <p:txBody>
              <a:bodyPr wrap="square" rtlCol="0">
                <a:spAutoFit/>
              </a:bodyPr>
              <a:lstStyle/>
              <a:p>
                <a:pPr defTabSz="914037" fontAlgn="auto">
                  <a:spcBef>
                    <a:spcPts val="0"/>
                  </a:spcBef>
                  <a:spcAft>
                    <a:spcPts val="0"/>
                  </a:spcAft>
                </a:pPr>
                <a:r>
                  <a:rPr lang="en-US" altLang="zh-CN" sz="1400" dirty="0">
                    <a:solidFill>
                      <a:prstClr val="black"/>
                    </a:solidFill>
                    <a:latin typeface="+mn-lt"/>
                    <a:ea typeface="+mn-ea"/>
                  </a:rPr>
                  <a:t> </a:t>
                </a:r>
                <a:r>
                  <a:rPr lang="zh-CN" altLang="en-US" sz="1400" dirty="0">
                    <a:solidFill>
                      <a:prstClr val="black"/>
                    </a:solidFill>
                    <a:latin typeface="+mn-lt"/>
                    <a:ea typeface="+mn-ea"/>
                  </a:rPr>
                  <a:t>控制器</a:t>
                </a:r>
              </a:p>
            </p:txBody>
          </p:sp>
          <p:sp>
            <p:nvSpPr>
              <p:cNvPr id="456" name="文本框 270"/>
              <p:cNvSpPr txBox="1"/>
              <p:nvPr/>
            </p:nvSpPr>
            <p:spPr>
              <a:xfrm>
                <a:off x="3506969" y="1932031"/>
                <a:ext cx="546359" cy="156238"/>
              </a:xfrm>
              <a:prstGeom prst="rect">
                <a:avLst/>
              </a:prstGeom>
              <a:noFill/>
            </p:spPr>
            <p:txBody>
              <a:bodyPr wrap="square" rtlCol="0">
                <a:spAutoFit/>
              </a:bodyPr>
              <a:lstStyle/>
              <a:p>
                <a:pPr defTabSz="914037" fontAlgn="auto">
                  <a:spcBef>
                    <a:spcPts val="0"/>
                  </a:spcBef>
                  <a:spcAft>
                    <a:spcPts val="0"/>
                  </a:spcAft>
                </a:pPr>
                <a:r>
                  <a:rPr lang="zh-CN" altLang="en-US" sz="1400" dirty="0">
                    <a:solidFill>
                      <a:prstClr val="black"/>
                    </a:solidFill>
                    <a:latin typeface="+mn-lt"/>
                    <a:ea typeface="+mn-ea"/>
                  </a:rPr>
                  <a:t>控制器</a:t>
                </a:r>
              </a:p>
            </p:txBody>
          </p:sp>
        </p:grpSp>
        <p:sp>
          <p:nvSpPr>
            <p:cNvPr id="479" name="文本框 1"/>
            <p:cNvSpPr txBox="1"/>
            <p:nvPr/>
          </p:nvSpPr>
          <p:spPr>
            <a:xfrm>
              <a:off x="1138052" y="3987777"/>
              <a:ext cx="1160552" cy="203406"/>
            </a:xfrm>
            <a:prstGeom prst="rect">
              <a:avLst/>
            </a:prstGeom>
            <a:noFill/>
          </p:spPr>
          <p:txBody>
            <a:bodyPr wrap="square" rtlCol="0">
              <a:spAutoFit/>
            </a:bodyPr>
            <a:lstStyle/>
            <a:p>
              <a:pPr algn="ctr" defTabSz="914037" fontAlgn="auto">
                <a:spcBef>
                  <a:spcPts val="0"/>
                </a:spcBef>
                <a:spcAft>
                  <a:spcPts val="0"/>
                </a:spcAft>
              </a:pPr>
              <a:r>
                <a:rPr lang="zh-CN" altLang="en-US" sz="1600" dirty="0">
                  <a:solidFill>
                    <a:prstClr val="black"/>
                  </a:solidFill>
                  <a:latin typeface="+mn-lt"/>
                  <a:ea typeface="+mn-ea"/>
                </a:rPr>
                <a:t>孤立的存储资源</a:t>
              </a:r>
            </a:p>
          </p:txBody>
        </p:sp>
        <p:sp>
          <p:nvSpPr>
            <p:cNvPr id="480" name="文本框 373"/>
            <p:cNvSpPr txBox="1"/>
            <p:nvPr/>
          </p:nvSpPr>
          <p:spPr>
            <a:xfrm>
              <a:off x="2736703" y="3966145"/>
              <a:ext cx="1750967" cy="203406"/>
            </a:xfrm>
            <a:prstGeom prst="rect">
              <a:avLst/>
            </a:prstGeom>
            <a:noFill/>
          </p:spPr>
          <p:txBody>
            <a:bodyPr wrap="square" rtlCol="0">
              <a:spAutoFit/>
            </a:bodyPr>
            <a:lstStyle/>
            <a:p>
              <a:pPr algn="ctr" defTabSz="914037" fontAlgn="auto">
                <a:spcBef>
                  <a:spcPts val="0"/>
                </a:spcBef>
                <a:spcAft>
                  <a:spcPts val="0"/>
                </a:spcAft>
              </a:pPr>
              <a:r>
                <a:rPr lang="zh-CN" altLang="en-US" sz="1600" dirty="0">
                  <a:solidFill>
                    <a:prstClr val="black"/>
                  </a:solidFill>
                  <a:latin typeface="+mn-lt"/>
                  <a:ea typeface="+mn-ea"/>
                </a:rPr>
                <a:t>存储设备只能扩展容量</a:t>
              </a:r>
            </a:p>
          </p:txBody>
        </p:sp>
      </p:grpSp>
      <p:sp>
        <p:nvSpPr>
          <p:cNvPr id="482" name="TextBox 481"/>
          <p:cNvSpPr txBox="1"/>
          <p:nvPr/>
        </p:nvSpPr>
        <p:spPr>
          <a:xfrm>
            <a:off x="1883532" y="5127923"/>
            <a:ext cx="6264622" cy="1126462"/>
          </a:xfrm>
          <a:prstGeom prst="rect">
            <a:avLst/>
          </a:prstGeom>
          <a:noFill/>
        </p:spPr>
        <p:txBody>
          <a:bodyPr wrap="square" rtlCol="0">
            <a:spAutoFit/>
          </a:bodyPr>
          <a:lstStyle/>
          <a:p>
            <a:pPr marL="301625" indent="-301625" defTabSz="801688" fontAlgn="base">
              <a:lnSpc>
                <a:spcPct val="140000"/>
              </a:lnSpc>
              <a:spcBef>
                <a:spcPct val="30000"/>
              </a:spcBef>
              <a:buClr>
                <a:srgbClr val="808080"/>
              </a:buClr>
              <a:buSzPct val="60000"/>
              <a:buFont typeface="Wingdings" pitchFamily="2" charset="2"/>
              <a:buChar char="l"/>
            </a:pPr>
            <a:r>
              <a:rPr lang="zh-CN" altLang="en-US" sz="1400" dirty="0">
                <a:latin typeface="+mn-ea"/>
                <a:ea typeface="+mn-ea"/>
              </a:rPr>
              <a:t>机头瓶颈：双控</a:t>
            </a:r>
            <a:r>
              <a:rPr lang="en-US" altLang="zh-CN" sz="1400" dirty="0">
                <a:latin typeface="+mn-ea"/>
                <a:ea typeface="+mn-ea"/>
              </a:rPr>
              <a:t>~16</a:t>
            </a:r>
            <a:r>
              <a:rPr lang="zh-CN" altLang="en-US" sz="1400" dirty="0">
                <a:latin typeface="+mn-ea"/>
                <a:ea typeface="+mn-ea"/>
              </a:rPr>
              <a:t>控，且无法线性扩展</a:t>
            </a:r>
            <a:endParaRPr lang="en-US" altLang="zh-CN" sz="1400" dirty="0">
              <a:latin typeface="+mn-ea"/>
              <a:ea typeface="+mn-ea"/>
            </a:endParaRPr>
          </a:p>
          <a:p>
            <a:pPr marL="301625" indent="-301625" defTabSz="801688" fontAlgn="base">
              <a:lnSpc>
                <a:spcPct val="140000"/>
              </a:lnSpc>
              <a:spcBef>
                <a:spcPct val="30000"/>
              </a:spcBef>
              <a:buClr>
                <a:srgbClr val="808080"/>
              </a:buClr>
              <a:buSzPct val="60000"/>
              <a:buFont typeface="Wingdings" pitchFamily="2" charset="2"/>
              <a:buChar char="l"/>
            </a:pPr>
            <a:r>
              <a:rPr lang="en-US" altLang="zh-CN" sz="1400" dirty="0">
                <a:latin typeface="+mn-ea"/>
                <a:ea typeface="+mn-ea"/>
              </a:rPr>
              <a:t>Cache</a:t>
            </a:r>
            <a:r>
              <a:rPr lang="zh-CN" altLang="en-US" sz="1400" dirty="0">
                <a:latin typeface="+mn-ea"/>
                <a:ea typeface="+mn-ea"/>
              </a:rPr>
              <a:t>瓶颈：通常为</a:t>
            </a:r>
            <a:r>
              <a:rPr lang="en-US" altLang="zh-CN" sz="1400" dirty="0">
                <a:latin typeface="+mn-ea"/>
                <a:ea typeface="+mn-ea"/>
              </a:rPr>
              <a:t>GB</a:t>
            </a:r>
          </a:p>
          <a:p>
            <a:pPr marL="301625" indent="-301625" defTabSz="801688" fontAlgn="base">
              <a:lnSpc>
                <a:spcPct val="140000"/>
              </a:lnSpc>
              <a:spcBef>
                <a:spcPct val="30000"/>
              </a:spcBef>
              <a:buClr>
                <a:srgbClr val="808080"/>
              </a:buClr>
              <a:buSzPct val="60000"/>
              <a:buFont typeface="Wingdings" pitchFamily="2" charset="2"/>
              <a:buChar char="l"/>
            </a:pPr>
            <a:r>
              <a:rPr lang="zh-CN" altLang="en-US" sz="1400" dirty="0">
                <a:latin typeface="+mn-ea"/>
                <a:ea typeface="+mn-ea"/>
              </a:rPr>
              <a:t>网络瓶颈：</a:t>
            </a:r>
            <a:r>
              <a:rPr lang="en-US" altLang="zh-CN" sz="1400" dirty="0">
                <a:latin typeface="+mn-ea"/>
                <a:ea typeface="+mn-ea"/>
              </a:rPr>
              <a:t>10GE</a:t>
            </a:r>
            <a:r>
              <a:rPr lang="zh-CN" altLang="en-US" sz="1400" dirty="0">
                <a:latin typeface="+mn-ea"/>
                <a:ea typeface="+mn-ea"/>
              </a:rPr>
              <a:t>、</a:t>
            </a:r>
            <a:r>
              <a:rPr lang="en-US" altLang="zh-CN" sz="1400" dirty="0">
                <a:latin typeface="+mn-ea"/>
                <a:ea typeface="+mn-ea"/>
              </a:rPr>
              <a:t>8G FC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分布式</a:t>
            </a:r>
            <a:r>
              <a:rPr lang="en-US" altLang="zh-CN" dirty="0"/>
              <a:t>Server SAN</a:t>
            </a:r>
            <a:r>
              <a:rPr lang="zh-CN" altLang="en-US" dirty="0"/>
              <a:t>架构</a:t>
            </a:r>
          </a:p>
        </p:txBody>
      </p:sp>
      <p:sp>
        <p:nvSpPr>
          <p:cNvPr id="332" name="文本框 374"/>
          <p:cNvSpPr txBox="1"/>
          <p:nvPr/>
        </p:nvSpPr>
        <p:spPr>
          <a:xfrm>
            <a:off x="1667508" y="4514135"/>
            <a:ext cx="3518852" cy="338554"/>
          </a:xfrm>
          <a:prstGeom prst="rect">
            <a:avLst/>
          </a:prstGeom>
          <a:noFill/>
        </p:spPr>
        <p:txBody>
          <a:bodyPr wrap="square" rtlCol="0">
            <a:spAutoFit/>
          </a:bodyPr>
          <a:lstStyle/>
          <a:p>
            <a:pPr algn="ctr" defTabSz="914037" fontAlgn="auto">
              <a:spcBef>
                <a:spcPts val="0"/>
              </a:spcBef>
              <a:spcAft>
                <a:spcPts val="0"/>
              </a:spcAft>
            </a:pPr>
            <a:r>
              <a:rPr lang="zh-CN" altLang="en-US" sz="1600" dirty="0">
                <a:solidFill>
                  <a:prstClr val="black"/>
                </a:solidFill>
                <a:latin typeface="+mn-ea"/>
                <a:ea typeface="+mn-ea"/>
              </a:rPr>
              <a:t>共享式的存储资源池</a:t>
            </a:r>
          </a:p>
        </p:txBody>
      </p:sp>
      <p:sp>
        <p:nvSpPr>
          <p:cNvPr id="333" name="文本框 375"/>
          <p:cNvSpPr txBox="1"/>
          <p:nvPr/>
        </p:nvSpPr>
        <p:spPr>
          <a:xfrm>
            <a:off x="5438388" y="4514135"/>
            <a:ext cx="3518852" cy="338554"/>
          </a:xfrm>
          <a:prstGeom prst="rect">
            <a:avLst/>
          </a:prstGeom>
          <a:noFill/>
        </p:spPr>
        <p:txBody>
          <a:bodyPr wrap="square" rtlCol="0">
            <a:spAutoFit/>
          </a:bodyPr>
          <a:lstStyle/>
          <a:p>
            <a:pPr algn="ctr" defTabSz="914037" fontAlgn="auto">
              <a:spcBef>
                <a:spcPts val="0"/>
              </a:spcBef>
              <a:spcAft>
                <a:spcPts val="0"/>
              </a:spcAft>
            </a:pPr>
            <a:r>
              <a:rPr lang="zh-CN" altLang="en-US" sz="1600" dirty="0">
                <a:solidFill>
                  <a:prstClr val="black"/>
                </a:solidFill>
                <a:latin typeface="+mn-ea"/>
                <a:ea typeface="+mn-ea"/>
              </a:rPr>
              <a:t>性能与容量横向扩展</a:t>
            </a:r>
          </a:p>
        </p:txBody>
      </p:sp>
      <p:sp>
        <p:nvSpPr>
          <p:cNvPr id="7" name="TextBox 30"/>
          <p:cNvSpPr txBox="1"/>
          <p:nvPr/>
        </p:nvSpPr>
        <p:spPr>
          <a:xfrm>
            <a:off x="2076931" y="4050567"/>
            <a:ext cx="2843818" cy="33855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pPr>
            <a:r>
              <a:rPr lang="en-US" altLang="zh-CN" sz="1600" dirty="0">
                <a:solidFill>
                  <a:prstClr val="black"/>
                </a:solidFill>
                <a:latin typeface="+mn-lt"/>
                <a:ea typeface="+mn-ea"/>
                <a:cs typeface="+mn-ea"/>
                <a:sym typeface="+mn-lt"/>
              </a:rPr>
              <a:t>Server</a:t>
            </a:r>
            <a:r>
              <a:rPr lang="zh-CN" altLang="en-US" sz="1600" dirty="0">
                <a:solidFill>
                  <a:prstClr val="black"/>
                </a:solidFill>
                <a:latin typeface="+mn-lt"/>
                <a:ea typeface="+mn-ea"/>
                <a:cs typeface="+mn-ea"/>
                <a:sym typeface="+mn-lt"/>
              </a:rPr>
              <a:t>本地存储</a:t>
            </a:r>
          </a:p>
        </p:txBody>
      </p:sp>
      <p:sp>
        <p:nvSpPr>
          <p:cNvPr id="8" name="矩形 7"/>
          <p:cNvSpPr>
            <a:spLocks noChangeArrowheads="1"/>
          </p:cNvSpPr>
          <p:nvPr/>
        </p:nvSpPr>
        <p:spPr bwMode="auto">
          <a:xfrm>
            <a:off x="4083002" y="1851798"/>
            <a:ext cx="1026886" cy="2229544"/>
          </a:xfrm>
          <a:prstGeom prst="rect">
            <a:avLst/>
          </a:prstGeom>
          <a:solidFill>
            <a:schemeClr val="accent5">
              <a:lumMod val="40000"/>
              <a:lumOff val="60000"/>
            </a:schemeClr>
          </a:solidFill>
          <a:ln>
            <a:noFill/>
          </a:ln>
          <a:effectLst>
            <a:outerShdw blurRad="63500" algn="ctr" rotWithShape="0">
              <a:prstClr val="black">
                <a:alpha val="70000"/>
              </a:prstClr>
            </a:outerShdw>
          </a:effectLst>
        </p:spPr>
        <p:txBody>
          <a:bodyPr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dirty="0">
              <a:solidFill>
                <a:prstClr val="black"/>
              </a:solidFill>
              <a:latin typeface="+mn-lt"/>
              <a:ea typeface="+mn-ea"/>
              <a:cs typeface="+mn-ea"/>
              <a:sym typeface="+mn-lt"/>
            </a:endParaRPr>
          </a:p>
        </p:txBody>
      </p:sp>
      <p:sp>
        <p:nvSpPr>
          <p:cNvPr id="9" name="矩形 8"/>
          <p:cNvSpPr>
            <a:spLocks noChangeArrowheads="1"/>
          </p:cNvSpPr>
          <p:nvPr/>
        </p:nvSpPr>
        <p:spPr bwMode="auto">
          <a:xfrm>
            <a:off x="1783448" y="1834679"/>
            <a:ext cx="1026886" cy="2264172"/>
          </a:xfrm>
          <a:prstGeom prst="rect">
            <a:avLst/>
          </a:prstGeom>
          <a:solidFill>
            <a:schemeClr val="accent5">
              <a:lumMod val="40000"/>
              <a:lumOff val="60000"/>
            </a:schemeClr>
          </a:solidFill>
          <a:ln>
            <a:noFill/>
          </a:ln>
          <a:effectLst>
            <a:outerShdw blurRad="63500" algn="ctr" rotWithShape="0">
              <a:prstClr val="black">
                <a:alpha val="70000"/>
              </a:prstClr>
            </a:outerShdw>
          </a:effectLst>
        </p:spPr>
        <p:txBody>
          <a:bodyPr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dirty="0">
              <a:solidFill>
                <a:prstClr val="black"/>
              </a:solidFill>
              <a:latin typeface="+mn-lt"/>
              <a:ea typeface="+mn-ea"/>
              <a:cs typeface="+mn-ea"/>
              <a:sym typeface="+mn-lt"/>
            </a:endParaRPr>
          </a:p>
        </p:txBody>
      </p:sp>
      <p:sp>
        <p:nvSpPr>
          <p:cNvPr id="10" name="圆角矩形 56"/>
          <p:cNvSpPr/>
          <p:nvPr/>
        </p:nvSpPr>
        <p:spPr bwMode="auto">
          <a:xfrm>
            <a:off x="1783448" y="1398545"/>
            <a:ext cx="1026886" cy="483361"/>
          </a:xfrm>
          <a:prstGeom prst="round2SameRect">
            <a:avLst/>
          </a:prstGeom>
          <a:solidFill>
            <a:schemeClr val="tx2">
              <a:lumMod val="60000"/>
              <a:lumOff val="40000"/>
            </a:schemeClr>
          </a:solidFill>
          <a:ln>
            <a:solidFill>
              <a:schemeClr val="tx2">
                <a:lumMod val="60000"/>
                <a:lumOff val="4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white"/>
              </a:solidFill>
              <a:latin typeface="+mn-lt"/>
              <a:ea typeface="+mn-ea"/>
              <a:cs typeface="+mn-ea"/>
              <a:sym typeface="+mn-lt"/>
            </a:endParaRPr>
          </a:p>
        </p:txBody>
      </p:sp>
      <p:sp>
        <p:nvSpPr>
          <p:cNvPr id="11" name="TextBox 150"/>
          <p:cNvSpPr txBox="1"/>
          <p:nvPr/>
        </p:nvSpPr>
        <p:spPr bwMode="auto">
          <a:xfrm>
            <a:off x="1755247" y="1408253"/>
            <a:ext cx="1214615" cy="369332"/>
          </a:xfrm>
          <a:prstGeom prst="rect">
            <a:avLst/>
          </a:prstGeom>
          <a:noFill/>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800" dirty="0">
                <a:solidFill>
                  <a:prstClr val="white"/>
                </a:solidFill>
                <a:latin typeface="+mn-lt"/>
                <a:ea typeface="+mn-ea"/>
                <a:cs typeface="+mn-ea"/>
                <a:sym typeface="+mn-lt"/>
              </a:rPr>
              <a:t>Server</a:t>
            </a:r>
            <a:endParaRPr lang="zh-CN" altLang="en-US" sz="1800" dirty="0">
              <a:solidFill>
                <a:prstClr val="white"/>
              </a:solidFill>
              <a:latin typeface="+mn-lt"/>
              <a:ea typeface="+mn-ea"/>
              <a:cs typeface="+mn-ea"/>
              <a:sym typeface="+mn-lt"/>
            </a:endParaRPr>
          </a:p>
        </p:txBody>
      </p:sp>
      <p:grpSp>
        <p:nvGrpSpPr>
          <p:cNvPr id="4" name="组合 11"/>
          <p:cNvGrpSpPr/>
          <p:nvPr/>
        </p:nvGrpSpPr>
        <p:grpSpPr>
          <a:xfrm>
            <a:off x="1826419" y="3624526"/>
            <a:ext cx="911295" cy="304202"/>
            <a:chOff x="8749059" y="3791848"/>
            <a:chExt cx="958532" cy="326714"/>
          </a:xfrm>
        </p:grpSpPr>
        <p:sp>
          <p:nvSpPr>
            <p:cNvPr id="13" name="圆柱形 12"/>
            <p:cNvSpPr>
              <a:spLocks noChangeArrowheads="1"/>
            </p:cNvSpPr>
            <p:nvPr/>
          </p:nvSpPr>
          <p:spPr bwMode="auto">
            <a:xfrm>
              <a:off x="9275543" y="3791848"/>
              <a:ext cx="432048" cy="315667"/>
            </a:xfrm>
            <a:prstGeom prst="can">
              <a:avLst>
                <a:gd name="adj" fmla="val 25000"/>
              </a:avLst>
            </a:prstGeom>
            <a:solidFill>
              <a:schemeClr val="bg1"/>
            </a:soli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black"/>
                </a:solidFill>
                <a:latin typeface="+mn-lt"/>
                <a:ea typeface="+mn-ea"/>
                <a:cs typeface="+mn-ea"/>
                <a:sym typeface="+mn-lt"/>
              </a:endParaRPr>
            </a:p>
          </p:txBody>
        </p:sp>
        <p:sp>
          <p:nvSpPr>
            <p:cNvPr id="14" name="圆柱形 13"/>
            <p:cNvSpPr>
              <a:spLocks noChangeArrowheads="1"/>
            </p:cNvSpPr>
            <p:nvPr/>
          </p:nvSpPr>
          <p:spPr bwMode="auto">
            <a:xfrm>
              <a:off x="8749059" y="3802895"/>
              <a:ext cx="432048" cy="315667"/>
            </a:xfrm>
            <a:prstGeom prst="can">
              <a:avLst>
                <a:gd name="adj" fmla="val 25000"/>
              </a:avLst>
            </a:prstGeom>
            <a:solidFill>
              <a:schemeClr val="bg1"/>
            </a:soli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black"/>
                </a:solidFill>
                <a:latin typeface="+mn-lt"/>
                <a:ea typeface="+mn-ea"/>
                <a:cs typeface="+mn-ea"/>
                <a:sym typeface="+mn-lt"/>
              </a:endParaRPr>
            </a:p>
          </p:txBody>
        </p:sp>
      </p:grpSp>
      <p:grpSp>
        <p:nvGrpSpPr>
          <p:cNvPr id="5" name="组合 14"/>
          <p:cNvGrpSpPr/>
          <p:nvPr/>
        </p:nvGrpSpPr>
        <p:grpSpPr>
          <a:xfrm>
            <a:off x="1899002" y="3691575"/>
            <a:ext cx="267071" cy="216656"/>
            <a:chOff x="10492751" y="3068960"/>
            <a:chExt cx="280916" cy="232690"/>
          </a:xfrm>
        </p:grpSpPr>
        <p:sp>
          <p:nvSpPr>
            <p:cNvPr id="16" name="矩形 15"/>
            <p:cNvSpPr/>
            <p:nvPr/>
          </p:nvSpPr>
          <p:spPr bwMode="auto">
            <a:xfrm>
              <a:off x="10492751" y="306896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7" name="矩形 16"/>
            <p:cNvSpPr/>
            <p:nvPr/>
          </p:nvSpPr>
          <p:spPr bwMode="auto">
            <a:xfrm>
              <a:off x="10593647" y="306896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8" name="矩形 17"/>
            <p:cNvSpPr/>
            <p:nvPr/>
          </p:nvSpPr>
          <p:spPr bwMode="auto">
            <a:xfrm>
              <a:off x="10701659" y="306896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9" name="矩形 18"/>
            <p:cNvSpPr/>
            <p:nvPr/>
          </p:nvSpPr>
          <p:spPr bwMode="auto">
            <a:xfrm>
              <a:off x="10492751" y="319365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20" name="矩形 19"/>
            <p:cNvSpPr/>
            <p:nvPr/>
          </p:nvSpPr>
          <p:spPr bwMode="auto">
            <a:xfrm>
              <a:off x="10593647" y="319365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21" name="矩形 20"/>
            <p:cNvSpPr/>
            <p:nvPr/>
          </p:nvSpPr>
          <p:spPr bwMode="auto">
            <a:xfrm>
              <a:off x="10701659" y="319365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grpSp>
      <p:grpSp>
        <p:nvGrpSpPr>
          <p:cNvPr id="12" name="组合 21"/>
          <p:cNvGrpSpPr/>
          <p:nvPr/>
        </p:nvGrpSpPr>
        <p:grpSpPr>
          <a:xfrm>
            <a:off x="2358209" y="3676058"/>
            <a:ext cx="267071" cy="216656"/>
            <a:chOff x="10492751" y="3068960"/>
            <a:chExt cx="280916" cy="232690"/>
          </a:xfrm>
        </p:grpSpPr>
        <p:sp>
          <p:nvSpPr>
            <p:cNvPr id="23" name="矩形 22"/>
            <p:cNvSpPr/>
            <p:nvPr/>
          </p:nvSpPr>
          <p:spPr bwMode="auto">
            <a:xfrm>
              <a:off x="10492751" y="306896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24" name="矩形 23"/>
            <p:cNvSpPr/>
            <p:nvPr/>
          </p:nvSpPr>
          <p:spPr bwMode="auto">
            <a:xfrm>
              <a:off x="10593647" y="306896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25" name="矩形 24"/>
            <p:cNvSpPr/>
            <p:nvPr/>
          </p:nvSpPr>
          <p:spPr bwMode="auto">
            <a:xfrm>
              <a:off x="10701659" y="306896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26" name="矩形 25"/>
            <p:cNvSpPr/>
            <p:nvPr/>
          </p:nvSpPr>
          <p:spPr bwMode="auto">
            <a:xfrm>
              <a:off x="10492751" y="319365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27" name="矩形 26"/>
            <p:cNvSpPr/>
            <p:nvPr/>
          </p:nvSpPr>
          <p:spPr bwMode="auto">
            <a:xfrm>
              <a:off x="10593647" y="319365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28" name="矩形 27"/>
            <p:cNvSpPr/>
            <p:nvPr/>
          </p:nvSpPr>
          <p:spPr bwMode="auto">
            <a:xfrm>
              <a:off x="10701659" y="319365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grpSp>
      <p:sp>
        <p:nvSpPr>
          <p:cNvPr id="29" name="矩形 28"/>
          <p:cNvSpPr>
            <a:spLocks noChangeArrowheads="1"/>
          </p:cNvSpPr>
          <p:nvPr/>
        </p:nvSpPr>
        <p:spPr bwMode="auto">
          <a:xfrm>
            <a:off x="2933249" y="1834679"/>
            <a:ext cx="1026886" cy="2264172"/>
          </a:xfrm>
          <a:prstGeom prst="rect">
            <a:avLst/>
          </a:prstGeom>
          <a:solidFill>
            <a:schemeClr val="accent5">
              <a:lumMod val="40000"/>
              <a:lumOff val="60000"/>
            </a:schemeClr>
          </a:solidFill>
          <a:ln>
            <a:noFill/>
          </a:ln>
          <a:effectLst>
            <a:outerShdw blurRad="63500" algn="ctr" rotWithShape="0">
              <a:prstClr val="black">
                <a:alpha val="70000"/>
              </a:prstClr>
            </a:outerShdw>
          </a:effectLst>
        </p:spPr>
        <p:txBody>
          <a:bodyPr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dirty="0">
              <a:solidFill>
                <a:prstClr val="black"/>
              </a:solidFill>
              <a:latin typeface="+mn-lt"/>
              <a:ea typeface="+mn-ea"/>
              <a:cs typeface="+mn-ea"/>
              <a:sym typeface="+mn-lt"/>
            </a:endParaRPr>
          </a:p>
        </p:txBody>
      </p:sp>
      <p:sp>
        <p:nvSpPr>
          <p:cNvPr id="30" name="圆角矩形 56"/>
          <p:cNvSpPr/>
          <p:nvPr/>
        </p:nvSpPr>
        <p:spPr bwMode="auto">
          <a:xfrm>
            <a:off x="2933247" y="1398545"/>
            <a:ext cx="1026886" cy="483361"/>
          </a:xfrm>
          <a:prstGeom prst="round2SameRect">
            <a:avLst/>
          </a:prstGeom>
          <a:solidFill>
            <a:schemeClr val="tx2">
              <a:lumMod val="60000"/>
              <a:lumOff val="40000"/>
            </a:schemeClr>
          </a:solidFill>
          <a:ln>
            <a:solidFill>
              <a:schemeClr val="tx2">
                <a:lumMod val="60000"/>
                <a:lumOff val="4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white"/>
              </a:solidFill>
              <a:latin typeface="+mn-lt"/>
              <a:ea typeface="+mn-ea"/>
              <a:cs typeface="+mn-ea"/>
              <a:sym typeface="+mn-lt"/>
            </a:endParaRPr>
          </a:p>
        </p:txBody>
      </p:sp>
      <p:sp>
        <p:nvSpPr>
          <p:cNvPr id="31" name="TextBox 156"/>
          <p:cNvSpPr txBox="1"/>
          <p:nvPr/>
        </p:nvSpPr>
        <p:spPr bwMode="auto">
          <a:xfrm>
            <a:off x="2882409" y="1413732"/>
            <a:ext cx="1170876" cy="369332"/>
          </a:xfrm>
          <a:prstGeom prst="rect">
            <a:avLst/>
          </a:prstGeom>
          <a:noFill/>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800" dirty="0">
                <a:solidFill>
                  <a:prstClr val="white"/>
                </a:solidFill>
                <a:latin typeface="+mn-lt"/>
                <a:ea typeface="+mn-ea"/>
                <a:cs typeface="+mn-ea"/>
                <a:sym typeface="+mn-lt"/>
              </a:rPr>
              <a:t>Server</a:t>
            </a:r>
            <a:endParaRPr lang="zh-CN" altLang="en-US" sz="1800" dirty="0">
              <a:solidFill>
                <a:prstClr val="white"/>
              </a:solidFill>
              <a:latin typeface="+mn-lt"/>
              <a:ea typeface="+mn-ea"/>
              <a:cs typeface="+mn-ea"/>
              <a:sym typeface="+mn-lt"/>
            </a:endParaRPr>
          </a:p>
        </p:txBody>
      </p:sp>
      <p:grpSp>
        <p:nvGrpSpPr>
          <p:cNvPr id="15" name="组合 31"/>
          <p:cNvGrpSpPr/>
          <p:nvPr/>
        </p:nvGrpSpPr>
        <p:grpSpPr>
          <a:xfrm>
            <a:off x="3015196" y="3648686"/>
            <a:ext cx="872313" cy="304202"/>
            <a:chOff x="8790060" y="3791848"/>
            <a:chExt cx="917531" cy="326714"/>
          </a:xfrm>
        </p:grpSpPr>
        <p:sp>
          <p:nvSpPr>
            <p:cNvPr id="33" name="圆柱形 32"/>
            <p:cNvSpPr>
              <a:spLocks noChangeArrowheads="1"/>
            </p:cNvSpPr>
            <p:nvPr/>
          </p:nvSpPr>
          <p:spPr bwMode="auto">
            <a:xfrm>
              <a:off x="9275543" y="3791848"/>
              <a:ext cx="432048" cy="315667"/>
            </a:xfrm>
            <a:prstGeom prst="can">
              <a:avLst>
                <a:gd name="adj" fmla="val 25000"/>
              </a:avLst>
            </a:prstGeom>
            <a:solidFill>
              <a:schemeClr val="bg1"/>
            </a:soli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black"/>
                </a:solidFill>
                <a:latin typeface="+mn-lt"/>
                <a:ea typeface="+mn-ea"/>
                <a:cs typeface="+mn-ea"/>
                <a:sym typeface="+mn-lt"/>
              </a:endParaRPr>
            </a:p>
          </p:txBody>
        </p:sp>
        <p:sp>
          <p:nvSpPr>
            <p:cNvPr id="34" name="圆柱形 33"/>
            <p:cNvSpPr>
              <a:spLocks noChangeArrowheads="1"/>
            </p:cNvSpPr>
            <p:nvPr/>
          </p:nvSpPr>
          <p:spPr bwMode="auto">
            <a:xfrm>
              <a:off x="8790060" y="3802895"/>
              <a:ext cx="432049" cy="315667"/>
            </a:xfrm>
            <a:prstGeom prst="can">
              <a:avLst>
                <a:gd name="adj" fmla="val 25000"/>
              </a:avLst>
            </a:prstGeom>
            <a:solidFill>
              <a:schemeClr val="bg1"/>
            </a:soli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black"/>
                </a:solidFill>
                <a:latin typeface="+mn-lt"/>
                <a:ea typeface="+mn-ea"/>
                <a:cs typeface="+mn-ea"/>
                <a:sym typeface="+mn-lt"/>
              </a:endParaRPr>
            </a:p>
          </p:txBody>
        </p:sp>
      </p:grpSp>
      <p:grpSp>
        <p:nvGrpSpPr>
          <p:cNvPr id="22" name="组合 34"/>
          <p:cNvGrpSpPr/>
          <p:nvPr/>
        </p:nvGrpSpPr>
        <p:grpSpPr>
          <a:xfrm>
            <a:off x="3495010" y="3700217"/>
            <a:ext cx="267071" cy="216656"/>
            <a:chOff x="10492751" y="3068960"/>
            <a:chExt cx="280916" cy="232690"/>
          </a:xfrm>
        </p:grpSpPr>
        <p:sp>
          <p:nvSpPr>
            <p:cNvPr id="36" name="矩形 35"/>
            <p:cNvSpPr/>
            <p:nvPr/>
          </p:nvSpPr>
          <p:spPr bwMode="auto">
            <a:xfrm>
              <a:off x="10492751" y="306896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37" name="矩形 36"/>
            <p:cNvSpPr/>
            <p:nvPr/>
          </p:nvSpPr>
          <p:spPr bwMode="auto">
            <a:xfrm>
              <a:off x="10593647" y="306896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38" name="矩形 37"/>
            <p:cNvSpPr/>
            <p:nvPr/>
          </p:nvSpPr>
          <p:spPr bwMode="auto">
            <a:xfrm>
              <a:off x="10701659" y="306896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39" name="矩形 38"/>
            <p:cNvSpPr/>
            <p:nvPr/>
          </p:nvSpPr>
          <p:spPr bwMode="auto">
            <a:xfrm>
              <a:off x="10492751" y="319365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40" name="矩形 39"/>
            <p:cNvSpPr/>
            <p:nvPr/>
          </p:nvSpPr>
          <p:spPr bwMode="auto">
            <a:xfrm>
              <a:off x="10593647" y="319365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41" name="矩形 40"/>
            <p:cNvSpPr/>
            <p:nvPr/>
          </p:nvSpPr>
          <p:spPr bwMode="auto">
            <a:xfrm>
              <a:off x="10701659" y="319365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grpSp>
      <p:sp>
        <p:nvSpPr>
          <p:cNvPr id="42" name="圆角矩形 56"/>
          <p:cNvSpPr/>
          <p:nvPr/>
        </p:nvSpPr>
        <p:spPr bwMode="auto">
          <a:xfrm>
            <a:off x="4083002" y="1398579"/>
            <a:ext cx="1026886" cy="483361"/>
          </a:xfrm>
          <a:prstGeom prst="round2SameRect">
            <a:avLst/>
          </a:prstGeom>
          <a:solidFill>
            <a:schemeClr val="tx2">
              <a:lumMod val="60000"/>
              <a:lumOff val="40000"/>
            </a:schemeClr>
          </a:solidFill>
          <a:ln>
            <a:solidFill>
              <a:schemeClr val="tx2">
                <a:lumMod val="60000"/>
                <a:lumOff val="4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white"/>
              </a:solidFill>
              <a:latin typeface="+mn-lt"/>
              <a:ea typeface="+mn-ea"/>
              <a:cs typeface="+mn-ea"/>
              <a:sym typeface="+mn-lt"/>
            </a:endParaRPr>
          </a:p>
        </p:txBody>
      </p:sp>
      <p:sp>
        <p:nvSpPr>
          <p:cNvPr id="43" name="TextBox 161"/>
          <p:cNvSpPr txBox="1"/>
          <p:nvPr/>
        </p:nvSpPr>
        <p:spPr bwMode="auto">
          <a:xfrm>
            <a:off x="4016822" y="1413741"/>
            <a:ext cx="1199367" cy="369332"/>
          </a:xfrm>
          <a:prstGeom prst="rect">
            <a:avLst/>
          </a:prstGeom>
          <a:noFill/>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800" dirty="0">
                <a:solidFill>
                  <a:prstClr val="white"/>
                </a:solidFill>
                <a:latin typeface="+mn-lt"/>
                <a:ea typeface="+mn-ea"/>
                <a:cs typeface="+mn-ea"/>
                <a:sym typeface="+mn-lt"/>
              </a:rPr>
              <a:t>Server</a:t>
            </a:r>
            <a:endParaRPr lang="zh-CN" altLang="en-US" sz="1800" dirty="0">
              <a:solidFill>
                <a:prstClr val="white"/>
              </a:solidFill>
              <a:latin typeface="+mn-lt"/>
              <a:ea typeface="+mn-ea"/>
              <a:cs typeface="+mn-ea"/>
              <a:sym typeface="+mn-lt"/>
            </a:endParaRPr>
          </a:p>
        </p:txBody>
      </p:sp>
      <p:grpSp>
        <p:nvGrpSpPr>
          <p:cNvPr id="32" name="组合 43"/>
          <p:cNvGrpSpPr/>
          <p:nvPr/>
        </p:nvGrpSpPr>
        <p:grpSpPr>
          <a:xfrm>
            <a:off x="4138961" y="3646337"/>
            <a:ext cx="911295" cy="304202"/>
            <a:chOff x="8749059" y="3791848"/>
            <a:chExt cx="958532" cy="326714"/>
          </a:xfrm>
        </p:grpSpPr>
        <p:sp>
          <p:nvSpPr>
            <p:cNvPr id="45" name="圆柱形 44"/>
            <p:cNvSpPr>
              <a:spLocks noChangeArrowheads="1"/>
            </p:cNvSpPr>
            <p:nvPr/>
          </p:nvSpPr>
          <p:spPr bwMode="auto">
            <a:xfrm>
              <a:off x="9275543" y="3791848"/>
              <a:ext cx="432048" cy="315667"/>
            </a:xfrm>
            <a:prstGeom prst="can">
              <a:avLst>
                <a:gd name="adj" fmla="val 25000"/>
              </a:avLst>
            </a:prstGeom>
            <a:solidFill>
              <a:schemeClr val="bg1"/>
            </a:soli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black"/>
                </a:solidFill>
                <a:latin typeface="+mn-lt"/>
                <a:ea typeface="+mn-ea"/>
                <a:cs typeface="+mn-ea"/>
                <a:sym typeface="+mn-lt"/>
              </a:endParaRPr>
            </a:p>
          </p:txBody>
        </p:sp>
        <p:sp>
          <p:nvSpPr>
            <p:cNvPr id="46" name="圆柱形 45"/>
            <p:cNvSpPr>
              <a:spLocks noChangeArrowheads="1"/>
            </p:cNvSpPr>
            <p:nvPr/>
          </p:nvSpPr>
          <p:spPr bwMode="auto">
            <a:xfrm>
              <a:off x="8749059" y="3802895"/>
              <a:ext cx="432048" cy="315667"/>
            </a:xfrm>
            <a:prstGeom prst="can">
              <a:avLst>
                <a:gd name="adj" fmla="val 25000"/>
              </a:avLst>
            </a:prstGeom>
            <a:solidFill>
              <a:schemeClr val="bg1"/>
            </a:solidFill>
            <a:ln>
              <a:solidFill>
                <a:srgbClr val="0099CC"/>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800" kern="0" dirty="0">
                <a:solidFill>
                  <a:prstClr val="black"/>
                </a:solidFill>
                <a:latin typeface="+mn-lt"/>
                <a:ea typeface="+mn-ea"/>
                <a:cs typeface="+mn-ea"/>
                <a:sym typeface="+mn-lt"/>
              </a:endParaRPr>
            </a:p>
          </p:txBody>
        </p:sp>
      </p:grpSp>
      <p:grpSp>
        <p:nvGrpSpPr>
          <p:cNvPr id="35" name="组合 46"/>
          <p:cNvGrpSpPr/>
          <p:nvPr/>
        </p:nvGrpSpPr>
        <p:grpSpPr>
          <a:xfrm>
            <a:off x="4198556" y="3705339"/>
            <a:ext cx="267071" cy="216656"/>
            <a:chOff x="10492751" y="3068960"/>
            <a:chExt cx="280916" cy="232690"/>
          </a:xfrm>
        </p:grpSpPr>
        <p:sp>
          <p:nvSpPr>
            <p:cNvPr id="48" name="矩形 47"/>
            <p:cNvSpPr/>
            <p:nvPr/>
          </p:nvSpPr>
          <p:spPr bwMode="auto">
            <a:xfrm>
              <a:off x="10492751" y="306896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49" name="矩形 48"/>
            <p:cNvSpPr/>
            <p:nvPr/>
          </p:nvSpPr>
          <p:spPr bwMode="auto">
            <a:xfrm>
              <a:off x="10593647" y="306896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0" name="矩形 49"/>
            <p:cNvSpPr/>
            <p:nvPr/>
          </p:nvSpPr>
          <p:spPr bwMode="auto">
            <a:xfrm>
              <a:off x="10701659" y="306896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1" name="矩形 50"/>
            <p:cNvSpPr/>
            <p:nvPr/>
          </p:nvSpPr>
          <p:spPr bwMode="auto">
            <a:xfrm>
              <a:off x="10492751" y="319365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2" name="矩形 51"/>
            <p:cNvSpPr/>
            <p:nvPr/>
          </p:nvSpPr>
          <p:spPr bwMode="auto">
            <a:xfrm>
              <a:off x="10593647" y="319365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3" name="矩形 52"/>
            <p:cNvSpPr/>
            <p:nvPr/>
          </p:nvSpPr>
          <p:spPr bwMode="auto">
            <a:xfrm>
              <a:off x="10701659" y="319365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grpSp>
      <p:grpSp>
        <p:nvGrpSpPr>
          <p:cNvPr id="44" name="组合 53"/>
          <p:cNvGrpSpPr/>
          <p:nvPr/>
        </p:nvGrpSpPr>
        <p:grpSpPr>
          <a:xfrm>
            <a:off x="4657757" y="3687446"/>
            <a:ext cx="267071" cy="216656"/>
            <a:chOff x="10492751" y="3068960"/>
            <a:chExt cx="280916" cy="232690"/>
          </a:xfrm>
        </p:grpSpPr>
        <p:sp>
          <p:nvSpPr>
            <p:cNvPr id="55" name="矩形 54"/>
            <p:cNvSpPr/>
            <p:nvPr/>
          </p:nvSpPr>
          <p:spPr bwMode="auto">
            <a:xfrm>
              <a:off x="10492751" y="306896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6" name="矩形 55"/>
            <p:cNvSpPr/>
            <p:nvPr/>
          </p:nvSpPr>
          <p:spPr bwMode="auto">
            <a:xfrm>
              <a:off x="10593647" y="306896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7" name="矩形 56"/>
            <p:cNvSpPr/>
            <p:nvPr/>
          </p:nvSpPr>
          <p:spPr bwMode="auto">
            <a:xfrm>
              <a:off x="10701659" y="306896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8" name="矩形 57"/>
            <p:cNvSpPr/>
            <p:nvPr/>
          </p:nvSpPr>
          <p:spPr bwMode="auto">
            <a:xfrm>
              <a:off x="10492751" y="319365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59" name="矩形 58"/>
            <p:cNvSpPr/>
            <p:nvPr/>
          </p:nvSpPr>
          <p:spPr bwMode="auto">
            <a:xfrm>
              <a:off x="10593647" y="319365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60" name="矩形 59"/>
            <p:cNvSpPr/>
            <p:nvPr/>
          </p:nvSpPr>
          <p:spPr bwMode="auto">
            <a:xfrm>
              <a:off x="10701659" y="319365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grpSp>
      <p:sp>
        <p:nvSpPr>
          <p:cNvPr id="61" name="圆角矩形 60"/>
          <p:cNvSpPr>
            <a:spLocks noChangeArrowheads="1"/>
          </p:cNvSpPr>
          <p:nvPr/>
        </p:nvSpPr>
        <p:spPr bwMode="auto">
          <a:xfrm>
            <a:off x="1766553" y="2806786"/>
            <a:ext cx="3354874" cy="375440"/>
          </a:xfrm>
          <a:prstGeom prst="roundRect">
            <a:avLst>
              <a:gd name="adj" fmla="val 16667"/>
            </a:avLst>
          </a:prstGeom>
          <a:noFill/>
          <a:ln>
            <a:solidFill>
              <a:schemeClr val="bg1">
                <a:lumMod val="50000"/>
              </a:schemeClr>
            </a:solid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900" kern="0" dirty="0">
              <a:solidFill>
                <a:prstClr val="black"/>
              </a:solidFill>
              <a:latin typeface="+mn-lt"/>
              <a:ea typeface="+mn-ea"/>
              <a:cs typeface="+mn-ea"/>
              <a:sym typeface="+mn-lt"/>
            </a:endParaRPr>
          </a:p>
        </p:txBody>
      </p:sp>
      <p:grpSp>
        <p:nvGrpSpPr>
          <p:cNvPr id="47" name="组合 61"/>
          <p:cNvGrpSpPr/>
          <p:nvPr/>
        </p:nvGrpSpPr>
        <p:grpSpPr>
          <a:xfrm>
            <a:off x="1714578" y="2073911"/>
            <a:ext cx="693602" cy="297626"/>
            <a:chOff x="1137151" y="1446491"/>
            <a:chExt cx="347095" cy="191244"/>
          </a:xfrm>
        </p:grpSpPr>
        <p:sp>
          <p:nvSpPr>
            <p:cNvPr id="63" name="圆角矩形 104"/>
            <p:cNvSpPr>
              <a:spLocks noChangeArrowheads="1"/>
            </p:cNvSpPr>
            <p:nvPr/>
          </p:nvSpPr>
          <p:spPr bwMode="auto">
            <a:xfrm>
              <a:off x="1185259" y="1446491"/>
              <a:ext cx="238933" cy="181044"/>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1400" kern="0" dirty="0">
                <a:solidFill>
                  <a:prstClr val="black"/>
                </a:solidFill>
                <a:latin typeface="+mn-lt"/>
                <a:ea typeface="+mn-ea"/>
                <a:cs typeface="+mn-ea"/>
                <a:sym typeface="+mn-lt"/>
              </a:endParaRPr>
            </a:p>
          </p:txBody>
        </p:sp>
        <p:sp>
          <p:nvSpPr>
            <p:cNvPr id="64" name="TextBox 105"/>
            <p:cNvSpPr txBox="1">
              <a:spLocks noChangeArrowheads="1"/>
            </p:cNvSpPr>
            <p:nvPr/>
          </p:nvSpPr>
          <p:spPr bwMode="auto">
            <a:xfrm>
              <a:off x="1137151" y="1459745"/>
              <a:ext cx="347095" cy="177990"/>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grpSp>
      <p:grpSp>
        <p:nvGrpSpPr>
          <p:cNvPr id="54" name="组合 64"/>
          <p:cNvGrpSpPr/>
          <p:nvPr/>
        </p:nvGrpSpPr>
        <p:grpSpPr>
          <a:xfrm>
            <a:off x="2256573" y="2073911"/>
            <a:ext cx="693602" cy="297626"/>
            <a:chOff x="1137151" y="1446491"/>
            <a:chExt cx="347095" cy="191244"/>
          </a:xfrm>
        </p:grpSpPr>
        <p:sp>
          <p:nvSpPr>
            <p:cNvPr id="66" name="圆角矩形 104"/>
            <p:cNvSpPr>
              <a:spLocks noChangeArrowheads="1"/>
            </p:cNvSpPr>
            <p:nvPr/>
          </p:nvSpPr>
          <p:spPr bwMode="auto">
            <a:xfrm>
              <a:off x="1185259" y="1446491"/>
              <a:ext cx="238933" cy="181044"/>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1400" kern="0" dirty="0">
                <a:solidFill>
                  <a:prstClr val="black"/>
                </a:solidFill>
                <a:latin typeface="+mn-lt"/>
                <a:ea typeface="+mn-ea"/>
                <a:cs typeface="+mn-ea"/>
                <a:sym typeface="+mn-lt"/>
              </a:endParaRPr>
            </a:p>
          </p:txBody>
        </p:sp>
        <p:sp>
          <p:nvSpPr>
            <p:cNvPr id="67" name="TextBox 105"/>
            <p:cNvSpPr txBox="1">
              <a:spLocks noChangeArrowheads="1"/>
            </p:cNvSpPr>
            <p:nvPr/>
          </p:nvSpPr>
          <p:spPr bwMode="auto">
            <a:xfrm>
              <a:off x="1137151" y="1459745"/>
              <a:ext cx="347095" cy="177990"/>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grpSp>
      <p:grpSp>
        <p:nvGrpSpPr>
          <p:cNvPr id="62" name="组合 67"/>
          <p:cNvGrpSpPr/>
          <p:nvPr/>
        </p:nvGrpSpPr>
        <p:grpSpPr>
          <a:xfrm>
            <a:off x="2873725" y="2071653"/>
            <a:ext cx="693602" cy="297626"/>
            <a:chOff x="1137151" y="1446491"/>
            <a:chExt cx="347095" cy="191244"/>
          </a:xfrm>
        </p:grpSpPr>
        <p:sp>
          <p:nvSpPr>
            <p:cNvPr id="69" name="圆角矩形 104"/>
            <p:cNvSpPr>
              <a:spLocks noChangeArrowheads="1"/>
            </p:cNvSpPr>
            <p:nvPr/>
          </p:nvSpPr>
          <p:spPr bwMode="auto">
            <a:xfrm>
              <a:off x="1185259" y="1446491"/>
              <a:ext cx="238933" cy="181044"/>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1400" kern="0" dirty="0">
                <a:solidFill>
                  <a:prstClr val="black"/>
                </a:solidFill>
                <a:latin typeface="+mn-lt"/>
                <a:ea typeface="+mn-ea"/>
                <a:cs typeface="+mn-ea"/>
                <a:sym typeface="+mn-lt"/>
              </a:endParaRPr>
            </a:p>
          </p:txBody>
        </p:sp>
        <p:sp>
          <p:nvSpPr>
            <p:cNvPr id="70" name="TextBox 105"/>
            <p:cNvSpPr txBox="1">
              <a:spLocks noChangeArrowheads="1"/>
            </p:cNvSpPr>
            <p:nvPr/>
          </p:nvSpPr>
          <p:spPr bwMode="auto">
            <a:xfrm>
              <a:off x="1137151" y="1459745"/>
              <a:ext cx="347095" cy="177990"/>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grpSp>
      <p:grpSp>
        <p:nvGrpSpPr>
          <p:cNvPr id="65" name="组合 70"/>
          <p:cNvGrpSpPr/>
          <p:nvPr/>
        </p:nvGrpSpPr>
        <p:grpSpPr>
          <a:xfrm>
            <a:off x="3376744" y="2071653"/>
            <a:ext cx="693602" cy="297626"/>
            <a:chOff x="1137151" y="1446491"/>
            <a:chExt cx="347095" cy="191244"/>
          </a:xfrm>
        </p:grpSpPr>
        <p:sp>
          <p:nvSpPr>
            <p:cNvPr id="72" name="圆角矩形 104"/>
            <p:cNvSpPr>
              <a:spLocks noChangeArrowheads="1"/>
            </p:cNvSpPr>
            <p:nvPr/>
          </p:nvSpPr>
          <p:spPr bwMode="auto">
            <a:xfrm>
              <a:off x="1185259" y="1446491"/>
              <a:ext cx="238933" cy="181044"/>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1400" kern="0" dirty="0">
                <a:solidFill>
                  <a:prstClr val="black"/>
                </a:solidFill>
                <a:latin typeface="+mn-lt"/>
                <a:ea typeface="+mn-ea"/>
                <a:cs typeface="+mn-ea"/>
                <a:sym typeface="+mn-lt"/>
              </a:endParaRPr>
            </a:p>
          </p:txBody>
        </p:sp>
        <p:sp>
          <p:nvSpPr>
            <p:cNvPr id="73" name="TextBox 105"/>
            <p:cNvSpPr txBox="1">
              <a:spLocks noChangeArrowheads="1"/>
            </p:cNvSpPr>
            <p:nvPr/>
          </p:nvSpPr>
          <p:spPr bwMode="auto">
            <a:xfrm>
              <a:off x="1137151" y="1459745"/>
              <a:ext cx="347095" cy="177990"/>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grpSp>
      <p:grpSp>
        <p:nvGrpSpPr>
          <p:cNvPr id="68" name="组合 73"/>
          <p:cNvGrpSpPr/>
          <p:nvPr/>
        </p:nvGrpSpPr>
        <p:grpSpPr>
          <a:xfrm>
            <a:off x="4002772" y="2079706"/>
            <a:ext cx="693602" cy="297626"/>
            <a:chOff x="1137151" y="1446491"/>
            <a:chExt cx="347095" cy="191244"/>
          </a:xfrm>
        </p:grpSpPr>
        <p:sp>
          <p:nvSpPr>
            <p:cNvPr id="75" name="圆角矩形 104"/>
            <p:cNvSpPr>
              <a:spLocks noChangeArrowheads="1"/>
            </p:cNvSpPr>
            <p:nvPr/>
          </p:nvSpPr>
          <p:spPr bwMode="auto">
            <a:xfrm>
              <a:off x="1185259" y="1446491"/>
              <a:ext cx="238933" cy="181044"/>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1400" kern="0" dirty="0">
                <a:solidFill>
                  <a:prstClr val="black"/>
                </a:solidFill>
                <a:latin typeface="+mn-lt"/>
                <a:ea typeface="+mn-ea"/>
                <a:cs typeface="+mn-ea"/>
                <a:sym typeface="+mn-lt"/>
              </a:endParaRPr>
            </a:p>
          </p:txBody>
        </p:sp>
        <p:sp>
          <p:nvSpPr>
            <p:cNvPr id="76" name="TextBox 105"/>
            <p:cNvSpPr txBox="1">
              <a:spLocks noChangeArrowheads="1"/>
            </p:cNvSpPr>
            <p:nvPr/>
          </p:nvSpPr>
          <p:spPr bwMode="auto">
            <a:xfrm>
              <a:off x="1137151" y="1459745"/>
              <a:ext cx="347095" cy="177990"/>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grpSp>
      <p:grpSp>
        <p:nvGrpSpPr>
          <p:cNvPr id="71" name="组合 76"/>
          <p:cNvGrpSpPr/>
          <p:nvPr/>
        </p:nvGrpSpPr>
        <p:grpSpPr>
          <a:xfrm>
            <a:off x="4518780" y="2079706"/>
            <a:ext cx="693602" cy="297626"/>
            <a:chOff x="1137151" y="1446491"/>
            <a:chExt cx="347095" cy="191244"/>
          </a:xfrm>
        </p:grpSpPr>
        <p:sp>
          <p:nvSpPr>
            <p:cNvPr id="78" name="圆角矩形 104"/>
            <p:cNvSpPr>
              <a:spLocks noChangeArrowheads="1"/>
            </p:cNvSpPr>
            <p:nvPr/>
          </p:nvSpPr>
          <p:spPr bwMode="auto">
            <a:xfrm>
              <a:off x="1185259" y="1446491"/>
              <a:ext cx="238933" cy="181044"/>
            </a:xfrm>
            <a:prstGeom prst="rect">
              <a:avLst/>
            </a:prstGeom>
            <a:gradFill flip="none" rotWithShape="1">
              <a:gsLst>
                <a:gs pos="100000">
                  <a:srgbClr val="C9F49E"/>
                </a:gs>
                <a:gs pos="0">
                  <a:srgbClr val="E7FAD4"/>
                </a:gs>
              </a:gsLst>
              <a:lin ang="5400000" scaled="1"/>
              <a:tileRect/>
            </a:gradFill>
            <a:ln>
              <a:noFill/>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endParaRPr lang="zh-CN" altLang="en-US" sz="1400" kern="0" dirty="0">
                <a:solidFill>
                  <a:prstClr val="black"/>
                </a:solidFill>
                <a:latin typeface="+mn-lt"/>
                <a:ea typeface="+mn-ea"/>
                <a:cs typeface="+mn-ea"/>
                <a:sym typeface="+mn-lt"/>
              </a:endParaRPr>
            </a:p>
          </p:txBody>
        </p:sp>
        <p:sp>
          <p:nvSpPr>
            <p:cNvPr id="79" name="TextBox 105"/>
            <p:cNvSpPr txBox="1">
              <a:spLocks noChangeArrowheads="1"/>
            </p:cNvSpPr>
            <p:nvPr/>
          </p:nvSpPr>
          <p:spPr bwMode="auto">
            <a:xfrm>
              <a:off x="1137151" y="1459745"/>
              <a:ext cx="347095" cy="177990"/>
            </a:xfrm>
            <a:prstGeom prst="rect">
              <a:avLst/>
            </a:prstGeom>
            <a:noFill/>
            <a:ln w="9525">
              <a:noFill/>
              <a:miter lim="800000"/>
              <a:headEnd/>
              <a:tailEnd/>
            </a:ln>
          </p:spPr>
          <p:txBody>
            <a:bodyPr wrap="square"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200" dirty="0">
                  <a:solidFill>
                    <a:prstClr val="black"/>
                  </a:solidFill>
                  <a:latin typeface="+mn-lt"/>
                  <a:ea typeface="+mn-ea"/>
                  <a:cs typeface="+mn-ea"/>
                  <a:sym typeface="+mn-lt"/>
                </a:rPr>
                <a:t>VM</a:t>
              </a:r>
              <a:endParaRPr lang="zh-CN" altLang="en-US" sz="1200" dirty="0">
                <a:solidFill>
                  <a:prstClr val="black"/>
                </a:solidFill>
                <a:latin typeface="+mn-lt"/>
                <a:ea typeface="+mn-ea"/>
                <a:cs typeface="+mn-ea"/>
                <a:sym typeface="+mn-lt"/>
              </a:endParaRPr>
            </a:p>
          </p:txBody>
        </p:sp>
      </p:grpSp>
      <p:grpSp>
        <p:nvGrpSpPr>
          <p:cNvPr id="74" name="组合 79"/>
          <p:cNvGrpSpPr/>
          <p:nvPr/>
        </p:nvGrpSpPr>
        <p:grpSpPr>
          <a:xfrm>
            <a:off x="2007982" y="2417148"/>
            <a:ext cx="2897230" cy="317098"/>
            <a:chOff x="2429759" y="2283718"/>
            <a:chExt cx="1972275" cy="180000"/>
          </a:xfrm>
        </p:grpSpPr>
        <p:sp>
          <p:nvSpPr>
            <p:cNvPr id="81" name="Up-Down Arrow 529"/>
            <p:cNvSpPr/>
            <p:nvPr/>
          </p:nvSpPr>
          <p:spPr bwMode="auto">
            <a:xfrm>
              <a:off x="2429759"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82" name="Up-Down Arrow 529"/>
            <p:cNvSpPr/>
            <p:nvPr/>
          </p:nvSpPr>
          <p:spPr bwMode="auto">
            <a:xfrm>
              <a:off x="2755898"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83" name="Up-Down Arrow 529"/>
            <p:cNvSpPr/>
            <p:nvPr/>
          </p:nvSpPr>
          <p:spPr bwMode="auto">
            <a:xfrm>
              <a:off x="3227701"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84" name="Up-Down Arrow 529"/>
            <p:cNvSpPr/>
            <p:nvPr/>
          </p:nvSpPr>
          <p:spPr bwMode="auto">
            <a:xfrm>
              <a:off x="3516182"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85" name="Up-Down Arrow 529"/>
            <p:cNvSpPr/>
            <p:nvPr/>
          </p:nvSpPr>
          <p:spPr bwMode="auto">
            <a:xfrm>
              <a:off x="3987985"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86" name="Up-Down Arrow 529"/>
            <p:cNvSpPr/>
            <p:nvPr/>
          </p:nvSpPr>
          <p:spPr bwMode="auto">
            <a:xfrm>
              <a:off x="4276017"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grpSp>
      <p:sp>
        <p:nvSpPr>
          <p:cNvPr id="87" name="左右箭头 86"/>
          <p:cNvSpPr/>
          <p:nvPr/>
        </p:nvSpPr>
        <p:spPr>
          <a:xfrm>
            <a:off x="2628773" y="3732964"/>
            <a:ext cx="430306" cy="139137"/>
          </a:xfrm>
          <a:prstGeom prst="leftRightArrow">
            <a:avLst>
              <a:gd name="adj1" fmla="val 50000"/>
              <a:gd name="adj2" fmla="val 52560"/>
            </a:avLst>
          </a:prstGeom>
          <a:solidFill>
            <a:schemeClr val="accent5">
              <a:lumMod val="75000"/>
            </a:schemeClr>
          </a:solidFill>
          <a:ln w="9525" cap="flat" cmpd="sng" algn="ctr">
            <a:solidFill>
              <a:schemeClr val="tx1"/>
            </a:solidFill>
            <a:prstDash val="solid"/>
            <a:round/>
            <a:headEnd type="none" w="med" len="med"/>
            <a:tailEnd type="none" w="med" len="med"/>
          </a:ln>
          <a:effec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zh-CN" altLang="en-US" sz="800" dirty="0">
              <a:solidFill>
                <a:prstClr val="black"/>
              </a:solidFill>
              <a:latin typeface="+mn-lt"/>
              <a:ea typeface="+mn-ea"/>
              <a:cs typeface="+mn-ea"/>
              <a:sym typeface="+mn-lt"/>
            </a:endParaRPr>
          </a:p>
        </p:txBody>
      </p:sp>
      <p:grpSp>
        <p:nvGrpSpPr>
          <p:cNvPr id="77" name="组合 87"/>
          <p:cNvGrpSpPr/>
          <p:nvPr/>
        </p:nvGrpSpPr>
        <p:grpSpPr>
          <a:xfrm>
            <a:off x="1993762" y="3241731"/>
            <a:ext cx="2951452" cy="317098"/>
            <a:chOff x="2429759" y="2283718"/>
            <a:chExt cx="2009185" cy="180000"/>
          </a:xfrm>
        </p:grpSpPr>
        <p:sp>
          <p:nvSpPr>
            <p:cNvPr id="89" name="Up-Down Arrow 529"/>
            <p:cNvSpPr/>
            <p:nvPr/>
          </p:nvSpPr>
          <p:spPr bwMode="auto">
            <a:xfrm>
              <a:off x="2429759"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90" name="Up-Down Arrow 529"/>
            <p:cNvSpPr/>
            <p:nvPr/>
          </p:nvSpPr>
          <p:spPr bwMode="auto">
            <a:xfrm>
              <a:off x="2785425"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91" name="Up-Down Arrow 529"/>
            <p:cNvSpPr/>
            <p:nvPr/>
          </p:nvSpPr>
          <p:spPr bwMode="auto">
            <a:xfrm>
              <a:off x="3227701"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92" name="Up-Down Arrow 529"/>
            <p:cNvSpPr/>
            <p:nvPr/>
          </p:nvSpPr>
          <p:spPr bwMode="auto">
            <a:xfrm>
              <a:off x="3553092"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93" name="Up-Down Arrow 529"/>
            <p:cNvSpPr/>
            <p:nvPr/>
          </p:nvSpPr>
          <p:spPr bwMode="auto">
            <a:xfrm>
              <a:off x="3987985"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sp>
          <p:nvSpPr>
            <p:cNvPr id="94" name="Up-Down Arrow 529"/>
            <p:cNvSpPr/>
            <p:nvPr/>
          </p:nvSpPr>
          <p:spPr bwMode="auto">
            <a:xfrm>
              <a:off x="4312927" y="2283718"/>
              <a:ext cx="126017" cy="180000"/>
            </a:xfrm>
            <a:prstGeom prst="upDownArrow">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en-US" sz="800" dirty="0">
                <a:solidFill>
                  <a:prstClr val="black"/>
                </a:solidFill>
                <a:latin typeface="+mn-lt"/>
                <a:ea typeface="+mn-ea"/>
                <a:cs typeface="+mn-ea"/>
                <a:sym typeface="+mn-lt"/>
              </a:endParaRPr>
            </a:p>
          </p:txBody>
        </p:sp>
      </p:grpSp>
      <p:sp>
        <p:nvSpPr>
          <p:cNvPr id="95" name="圆角矩形 94"/>
          <p:cNvSpPr/>
          <p:nvPr/>
        </p:nvSpPr>
        <p:spPr bwMode="auto">
          <a:xfrm>
            <a:off x="1702798" y="3572283"/>
            <a:ext cx="3513395" cy="785383"/>
          </a:xfrm>
          <a:prstGeom prst="roundRect">
            <a:avLst>
              <a:gd name="adj" fmla="val 13123"/>
            </a:avLst>
          </a:prstGeom>
          <a:noFill/>
          <a:ln w="28575">
            <a:solidFill>
              <a:schemeClr val="accent5">
                <a:lumMod val="75000"/>
              </a:schemeClr>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zh-CN" altLang="en-US" sz="2800" dirty="0">
              <a:solidFill>
                <a:prstClr val="black"/>
              </a:solidFill>
              <a:latin typeface="+mn-lt"/>
              <a:ea typeface="+mn-ea"/>
              <a:cs typeface="+mn-ea"/>
              <a:sym typeface="+mn-lt"/>
            </a:endParaRPr>
          </a:p>
        </p:txBody>
      </p:sp>
      <p:sp>
        <p:nvSpPr>
          <p:cNvPr id="153" name="TextBox 114"/>
          <p:cNvSpPr txBox="1">
            <a:spLocks noChangeArrowheads="1"/>
          </p:cNvSpPr>
          <p:nvPr/>
        </p:nvSpPr>
        <p:spPr bwMode="auto">
          <a:xfrm>
            <a:off x="1874343" y="2868456"/>
            <a:ext cx="3279137" cy="338554"/>
          </a:xfrm>
          <a:prstGeom prst="rect">
            <a:avLst/>
          </a:prstGeom>
          <a:noFill/>
          <a:ln w="9525">
            <a:noFill/>
            <a:miter lim="800000"/>
            <a:headEnd/>
            <a:tailEnd/>
          </a:ln>
        </p:spPr>
        <p:txBody>
          <a:bodyPr wrap="square">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652371" fontAlgn="auto">
              <a:spcBef>
                <a:spcPts val="0"/>
              </a:spcBef>
              <a:spcAft>
                <a:spcPts val="0"/>
              </a:spcAft>
              <a:defRPr/>
            </a:pPr>
            <a:r>
              <a:rPr lang="en-US" altLang="zh-CN" sz="1600" dirty="0">
                <a:solidFill>
                  <a:prstClr val="black"/>
                </a:solidFill>
                <a:latin typeface="+mn-lt"/>
                <a:ea typeface="+mn-ea"/>
                <a:cs typeface="+mn-ea"/>
                <a:sym typeface="+mn-lt"/>
              </a:rPr>
              <a:t>InfiniBand /10GE Network</a:t>
            </a:r>
            <a:endParaRPr lang="zh-CN" altLang="en-US" sz="1600" dirty="0">
              <a:solidFill>
                <a:prstClr val="black"/>
              </a:solidFill>
              <a:latin typeface="+mn-lt"/>
              <a:ea typeface="+mn-ea"/>
              <a:cs typeface="+mn-ea"/>
              <a:sym typeface="+mn-lt"/>
            </a:endParaRPr>
          </a:p>
        </p:txBody>
      </p:sp>
      <p:sp>
        <p:nvSpPr>
          <p:cNvPr id="154" name="左右箭头 153"/>
          <p:cNvSpPr/>
          <p:nvPr/>
        </p:nvSpPr>
        <p:spPr>
          <a:xfrm>
            <a:off x="3804143" y="3722187"/>
            <a:ext cx="430306" cy="139137"/>
          </a:xfrm>
          <a:prstGeom prst="leftRightArrow">
            <a:avLst>
              <a:gd name="adj1" fmla="val 50000"/>
              <a:gd name="adj2" fmla="val 52560"/>
            </a:avLst>
          </a:prstGeom>
          <a:solidFill>
            <a:schemeClr val="accent5">
              <a:lumMod val="75000"/>
            </a:schemeClr>
          </a:solidFill>
          <a:ln w="9525" cap="flat" cmpd="sng" algn="ctr">
            <a:solidFill>
              <a:schemeClr val="tx1"/>
            </a:solidFill>
            <a:prstDash val="solid"/>
            <a:round/>
            <a:headEnd type="none" w="med" len="med"/>
            <a:tailEnd type="none" w="med" len="med"/>
          </a:ln>
          <a:effectLst/>
        </p:spPr>
        <p:txBody>
          <a:bodyPr vert="horz" wrap="square" lIns="51781" tIns="25891" rIns="51781" bIns="25891"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652371" fontAlgn="auto">
              <a:spcBef>
                <a:spcPts val="0"/>
              </a:spcBef>
              <a:spcAft>
                <a:spcPts val="0"/>
              </a:spcAft>
            </a:pPr>
            <a:endParaRPr lang="zh-CN" altLang="en-US" sz="800" dirty="0">
              <a:solidFill>
                <a:prstClr val="black"/>
              </a:solidFill>
              <a:latin typeface="+mn-lt"/>
              <a:ea typeface="+mn-ea"/>
              <a:cs typeface="+mn-ea"/>
              <a:sym typeface="+mn-lt"/>
            </a:endParaRPr>
          </a:p>
        </p:txBody>
      </p:sp>
      <p:grpSp>
        <p:nvGrpSpPr>
          <p:cNvPr id="117" name="组合 154"/>
          <p:cNvGrpSpPr/>
          <p:nvPr/>
        </p:nvGrpSpPr>
        <p:grpSpPr>
          <a:xfrm>
            <a:off x="3048803" y="3723788"/>
            <a:ext cx="267071" cy="216656"/>
            <a:chOff x="10492751" y="3068960"/>
            <a:chExt cx="280916" cy="232690"/>
          </a:xfrm>
        </p:grpSpPr>
        <p:sp>
          <p:nvSpPr>
            <p:cNvPr id="156" name="矩形 155"/>
            <p:cNvSpPr/>
            <p:nvPr/>
          </p:nvSpPr>
          <p:spPr bwMode="auto">
            <a:xfrm>
              <a:off x="10492751" y="306896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57" name="矩形 156"/>
            <p:cNvSpPr/>
            <p:nvPr/>
          </p:nvSpPr>
          <p:spPr bwMode="auto">
            <a:xfrm>
              <a:off x="10593647" y="306896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58" name="矩形 157"/>
            <p:cNvSpPr/>
            <p:nvPr/>
          </p:nvSpPr>
          <p:spPr bwMode="auto">
            <a:xfrm>
              <a:off x="10701659" y="306896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59" name="矩形 158"/>
            <p:cNvSpPr/>
            <p:nvPr/>
          </p:nvSpPr>
          <p:spPr bwMode="auto">
            <a:xfrm>
              <a:off x="10492751" y="3193650"/>
              <a:ext cx="72008" cy="108000"/>
            </a:xfrm>
            <a:prstGeom prst="rect">
              <a:avLst/>
            </a:prstGeom>
            <a:gradFill flip="none" rotWithShape="1">
              <a:gsLst>
                <a:gs pos="100000">
                  <a:srgbClr val="B0D7FA"/>
                </a:gs>
                <a:gs pos="0">
                  <a:srgbClr val="DDEEFD"/>
                </a:gs>
              </a:gsLst>
              <a:lin ang="5400000" scaled="1"/>
              <a:tileRect/>
            </a:gradFill>
            <a:ln>
              <a:solidFill>
                <a:srgbClr val="0099CC"/>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60" name="矩形 159"/>
            <p:cNvSpPr/>
            <p:nvPr/>
          </p:nvSpPr>
          <p:spPr bwMode="auto">
            <a:xfrm>
              <a:off x="10593647" y="3193650"/>
              <a:ext cx="72008" cy="108000"/>
            </a:xfrm>
            <a:prstGeom prst="rect">
              <a:avLst/>
            </a:prstGeom>
            <a:solidFill>
              <a:schemeClr val="accent2">
                <a:lumMod val="20000"/>
                <a:lumOff val="80000"/>
              </a:schemeClr>
            </a:soli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sp>
          <p:nvSpPr>
            <p:cNvPr id="161" name="矩形 160"/>
            <p:cNvSpPr/>
            <p:nvPr/>
          </p:nvSpPr>
          <p:spPr bwMode="auto">
            <a:xfrm>
              <a:off x="10701659" y="3193650"/>
              <a:ext cx="72008" cy="108000"/>
            </a:xfrm>
            <a:prstGeom prst="rect">
              <a:avLst/>
            </a:prstGeom>
            <a:gradFill flip="none" rotWithShape="1">
              <a:gsLst>
                <a:gs pos="100000">
                  <a:srgbClr val="C9F49E"/>
                </a:gs>
                <a:gs pos="0">
                  <a:srgbClr val="E7FAD4"/>
                </a:gs>
              </a:gsLst>
              <a:lin ang="5400000" scaled="1"/>
              <a:tileRect/>
            </a:gradFill>
            <a:ln>
              <a:solidFill>
                <a:schemeClr val="tx1"/>
              </a:solidFill>
              <a:prstDash val="solid"/>
            </a:ln>
            <a:effectLst>
              <a:outerShdw blurRad="63500" algn="ctr" rotWithShape="0">
                <a:prstClr val="black">
                  <a:alpha val="70000"/>
                </a:prstClr>
              </a:outerShdw>
            </a:effectLst>
          </p:spPr>
          <p:txBody>
            <a:bodyPr lIns="50965" rIns="50965"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477995" fontAlgn="auto">
                <a:lnSpc>
                  <a:spcPct val="110000"/>
                </a:lnSpc>
                <a:spcBef>
                  <a:spcPts val="0"/>
                </a:spcBef>
                <a:spcAft>
                  <a:spcPts val="0"/>
                </a:spcAft>
                <a:buClr>
                  <a:srgbClr val="FFFFFF"/>
                </a:buClr>
                <a:buFont typeface="Wingdings" pitchFamily="2" charset="2"/>
                <a:buChar char="•"/>
                <a:defRPr/>
              </a:pPr>
              <a:endParaRPr lang="zh-CN" altLang="en-US" sz="800" kern="0" dirty="0">
                <a:solidFill>
                  <a:prstClr val="black"/>
                </a:solidFill>
                <a:latin typeface="+mn-lt"/>
                <a:ea typeface="+mn-ea"/>
                <a:cs typeface="+mn-ea"/>
                <a:sym typeface="+mn-lt"/>
              </a:endParaRPr>
            </a:p>
          </p:txBody>
        </p:sp>
      </p:grpSp>
      <p:cxnSp>
        <p:nvCxnSpPr>
          <p:cNvPr id="244" name="直接箭头连接符 243"/>
          <p:cNvCxnSpPr>
            <a:endCxn id="249" idx="2"/>
          </p:cNvCxnSpPr>
          <p:nvPr/>
        </p:nvCxnSpPr>
        <p:spPr bwMode="auto">
          <a:xfrm flipV="1">
            <a:off x="5555475" y="2549067"/>
            <a:ext cx="353812" cy="77717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 name="矩形 91"/>
          <p:cNvSpPr/>
          <p:nvPr/>
        </p:nvSpPr>
        <p:spPr>
          <a:xfrm>
            <a:off x="5576620" y="1755587"/>
            <a:ext cx="681564" cy="816006"/>
          </a:xfrm>
          <a:prstGeom prst="rect">
            <a:avLst/>
          </a:prstGeom>
          <a:noFill/>
          <a:ln w="19046">
            <a:solidFill>
              <a:srgbClr val="A6A6A6"/>
            </a:solidFill>
            <a:prstDash val="solid"/>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600" kern="0">
              <a:solidFill>
                <a:srgbClr val="000000"/>
              </a:solidFill>
              <a:latin typeface="+mn-lt"/>
              <a:ea typeface="+mn-ea"/>
            </a:endParaRPr>
          </a:p>
        </p:txBody>
      </p:sp>
      <p:sp>
        <p:nvSpPr>
          <p:cNvPr id="246" name="圆角矩形 245"/>
          <p:cNvSpPr/>
          <p:nvPr/>
        </p:nvSpPr>
        <p:spPr bwMode="auto">
          <a:xfrm>
            <a:off x="5517910" y="1568580"/>
            <a:ext cx="800188" cy="179555"/>
          </a:xfrm>
          <a:prstGeom prst="roundRect">
            <a:avLst/>
          </a:prstGeom>
          <a:solidFill>
            <a:schemeClr val="bg1">
              <a:lumMod val="75000"/>
            </a:schemeClr>
          </a:solidFill>
          <a:ln w="9528">
            <a:solidFill>
              <a:schemeClr val="bg1">
                <a:lumMod val="85000"/>
              </a:schemeClr>
            </a:solidFill>
            <a:prstDash val="solid"/>
            <a:rou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anchor="t" anchorCtr="0" compatLnSpc="1"/>
          <a:lstStyle/>
          <a:p>
            <a:pPr algn="ctr" defTabSz="801450" fontAlgn="auto">
              <a:spcBef>
                <a:spcPts val="0"/>
              </a:spcBef>
              <a:spcAft>
                <a:spcPts val="0"/>
              </a:spcAft>
              <a:buClr>
                <a:srgbClr val="CC9900"/>
              </a:buClr>
              <a:defRPr sz="1800" b="0" i="0" u="none" strike="noStrike" kern="0" cap="none" spc="0" baseline="0">
                <a:solidFill>
                  <a:srgbClr val="000000"/>
                </a:solidFill>
                <a:uFillTx/>
              </a:defRPr>
            </a:pPr>
            <a:r>
              <a:rPr lang="en-US" altLang="zh-CN" sz="1400" kern="0" dirty="0">
                <a:solidFill>
                  <a:srgbClr val="000000"/>
                </a:solidFill>
                <a:latin typeface="+mn-lt"/>
                <a:ea typeface="+mn-ea"/>
              </a:rPr>
              <a:t>Server</a:t>
            </a:r>
            <a:r>
              <a:rPr lang="en-US" altLang="zh-CN" sz="700" kern="0" dirty="0">
                <a:solidFill>
                  <a:srgbClr val="000000"/>
                </a:solidFill>
                <a:latin typeface="+mn-lt"/>
                <a:ea typeface="+mn-ea"/>
              </a:rPr>
              <a:t>1</a:t>
            </a:r>
            <a:endParaRPr lang="zh-CN" altLang="en-US" sz="1400" kern="0" dirty="0">
              <a:solidFill>
                <a:srgbClr val="000000"/>
              </a:solidFill>
              <a:latin typeface="+mn-lt"/>
              <a:ea typeface="+mn-ea"/>
            </a:endParaRPr>
          </a:p>
        </p:txBody>
      </p:sp>
      <p:sp>
        <p:nvSpPr>
          <p:cNvPr id="247" name="圆角矩形 246"/>
          <p:cNvSpPr/>
          <p:nvPr/>
        </p:nvSpPr>
        <p:spPr bwMode="auto">
          <a:xfrm>
            <a:off x="5612196" y="1829859"/>
            <a:ext cx="244246" cy="454672"/>
          </a:xfrm>
          <a:prstGeom prst="roundRect">
            <a:avLst/>
          </a:prstGeom>
          <a:solidFill>
            <a:schemeClr val="bg1">
              <a:lumMod val="85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endParaRPr lang="zh-CN" altLang="en-US" sz="700" dirty="0">
              <a:solidFill>
                <a:srgbClr val="000000"/>
              </a:solidFill>
              <a:latin typeface="+mn-lt"/>
              <a:ea typeface="+mn-ea"/>
            </a:endParaRPr>
          </a:p>
        </p:txBody>
      </p:sp>
      <p:sp>
        <p:nvSpPr>
          <p:cNvPr id="248" name="圆角矩形 247"/>
          <p:cNvSpPr/>
          <p:nvPr/>
        </p:nvSpPr>
        <p:spPr bwMode="auto">
          <a:xfrm>
            <a:off x="5962830" y="1829859"/>
            <a:ext cx="244246" cy="454672"/>
          </a:xfrm>
          <a:prstGeom prst="roundRect">
            <a:avLst/>
          </a:prstGeom>
          <a:solidFill>
            <a:schemeClr val="bg1">
              <a:lumMod val="85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endParaRPr lang="zh-CN" altLang="en-US" sz="700" dirty="0">
              <a:solidFill>
                <a:srgbClr val="000000"/>
              </a:solidFill>
              <a:latin typeface="+mn-lt"/>
              <a:ea typeface="+mn-ea"/>
            </a:endParaRPr>
          </a:p>
        </p:txBody>
      </p:sp>
      <p:sp>
        <p:nvSpPr>
          <p:cNvPr id="249" name="圆角矩形 248"/>
          <p:cNvSpPr/>
          <p:nvPr/>
        </p:nvSpPr>
        <p:spPr bwMode="auto">
          <a:xfrm>
            <a:off x="5580046" y="2335064"/>
            <a:ext cx="658485" cy="214004"/>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1200" dirty="0">
                <a:solidFill>
                  <a:srgbClr val="000000"/>
                </a:solidFill>
                <a:latin typeface="+mn-lt"/>
                <a:ea typeface="+mn-ea"/>
              </a:rPr>
              <a:t>VBS</a:t>
            </a:r>
            <a:endParaRPr lang="zh-CN" altLang="en-US" dirty="0">
              <a:solidFill>
                <a:srgbClr val="000000"/>
              </a:solidFill>
              <a:latin typeface="+mn-lt"/>
              <a:ea typeface="+mn-ea"/>
            </a:endParaRPr>
          </a:p>
        </p:txBody>
      </p:sp>
      <p:sp>
        <p:nvSpPr>
          <p:cNvPr id="250" name="矩形 91"/>
          <p:cNvSpPr/>
          <p:nvPr/>
        </p:nvSpPr>
        <p:spPr>
          <a:xfrm>
            <a:off x="6785481" y="1755587"/>
            <a:ext cx="681564" cy="816006"/>
          </a:xfrm>
          <a:prstGeom prst="rect">
            <a:avLst/>
          </a:prstGeom>
          <a:noFill/>
          <a:ln w="19046">
            <a:solidFill>
              <a:srgbClr val="A6A6A6"/>
            </a:solidFill>
            <a:prstDash val="solid"/>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600" kern="0">
              <a:solidFill>
                <a:srgbClr val="000000"/>
              </a:solidFill>
              <a:latin typeface="+mn-lt"/>
              <a:ea typeface="+mn-ea"/>
            </a:endParaRPr>
          </a:p>
        </p:txBody>
      </p:sp>
      <p:sp>
        <p:nvSpPr>
          <p:cNvPr id="251" name="圆角矩形 250"/>
          <p:cNvSpPr/>
          <p:nvPr/>
        </p:nvSpPr>
        <p:spPr bwMode="auto">
          <a:xfrm>
            <a:off x="6715441" y="1568581"/>
            <a:ext cx="803459" cy="180619"/>
          </a:xfrm>
          <a:prstGeom prst="roundRect">
            <a:avLst/>
          </a:prstGeom>
          <a:solidFill>
            <a:schemeClr val="bg1">
              <a:lumMod val="75000"/>
            </a:schemeClr>
          </a:solidFill>
          <a:ln w="9528">
            <a:solidFill>
              <a:schemeClr val="bg1">
                <a:lumMod val="85000"/>
              </a:schemeClr>
            </a:solidFill>
            <a:prstDash val="solid"/>
            <a:rou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anchor="t" anchorCtr="0" compatLnSpc="1"/>
          <a:lstStyle/>
          <a:p>
            <a:pPr algn="ctr" defTabSz="801450" fontAlgn="auto">
              <a:spcBef>
                <a:spcPts val="0"/>
              </a:spcBef>
              <a:spcAft>
                <a:spcPts val="0"/>
              </a:spcAft>
              <a:buClr>
                <a:srgbClr val="CC9900"/>
              </a:buClr>
              <a:defRPr sz="1800" b="0" i="0" u="none" strike="noStrike" kern="0" cap="none" spc="0" baseline="0">
                <a:solidFill>
                  <a:srgbClr val="000000"/>
                </a:solidFill>
                <a:uFillTx/>
              </a:defRPr>
            </a:pPr>
            <a:r>
              <a:rPr lang="en-US" altLang="zh-CN" sz="1400" kern="0" dirty="0">
                <a:solidFill>
                  <a:srgbClr val="000000"/>
                </a:solidFill>
                <a:latin typeface="+mn-lt"/>
                <a:ea typeface="+mn-ea"/>
              </a:rPr>
              <a:t>Server</a:t>
            </a:r>
            <a:r>
              <a:rPr lang="en-US" altLang="zh-CN" sz="700" kern="0" dirty="0">
                <a:solidFill>
                  <a:srgbClr val="000000"/>
                </a:solidFill>
                <a:latin typeface="+mn-lt"/>
                <a:ea typeface="+mn-ea"/>
              </a:rPr>
              <a:t>2</a:t>
            </a:r>
            <a:endParaRPr lang="zh-CN" altLang="en-US" sz="1400" kern="0" dirty="0">
              <a:solidFill>
                <a:srgbClr val="000000"/>
              </a:solidFill>
              <a:latin typeface="+mn-lt"/>
              <a:ea typeface="+mn-ea"/>
            </a:endParaRPr>
          </a:p>
        </p:txBody>
      </p:sp>
      <p:sp>
        <p:nvSpPr>
          <p:cNvPr id="252" name="圆角矩形 251"/>
          <p:cNvSpPr/>
          <p:nvPr/>
        </p:nvSpPr>
        <p:spPr bwMode="auto">
          <a:xfrm>
            <a:off x="6821055" y="1829859"/>
            <a:ext cx="244246" cy="454672"/>
          </a:xfrm>
          <a:prstGeom prst="roundRect">
            <a:avLst/>
          </a:prstGeom>
          <a:solidFill>
            <a:schemeClr val="bg1">
              <a:lumMod val="85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endParaRPr lang="zh-CN" altLang="en-US" sz="700" dirty="0">
              <a:solidFill>
                <a:srgbClr val="000000"/>
              </a:solidFill>
              <a:latin typeface="+mn-lt"/>
              <a:ea typeface="+mn-ea"/>
            </a:endParaRPr>
          </a:p>
        </p:txBody>
      </p:sp>
      <p:sp>
        <p:nvSpPr>
          <p:cNvPr id="253" name="圆角矩形 252"/>
          <p:cNvSpPr/>
          <p:nvPr/>
        </p:nvSpPr>
        <p:spPr bwMode="auto">
          <a:xfrm>
            <a:off x="7171689" y="1829859"/>
            <a:ext cx="244246" cy="454672"/>
          </a:xfrm>
          <a:prstGeom prst="roundRect">
            <a:avLst/>
          </a:prstGeom>
          <a:solidFill>
            <a:schemeClr val="bg1">
              <a:lumMod val="85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endParaRPr lang="zh-CN" altLang="en-US" sz="700" dirty="0">
              <a:solidFill>
                <a:srgbClr val="000000"/>
              </a:solidFill>
              <a:latin typeface="+mn-lt"/>
              <a:ea typeface="+mn-ea"/>
            </a:endParaRPr>
          </a:p>
        </p:txBody>
      </p:sp>
      <p:sp>
        <p:nvSpPr>
          <p:cNvPr id="254" name="圆角矩形 253"/>
          <p:cNvSpPr/>
          <p:nvPr/>
        </p:nvSpPr>
        <p:spPr bwMode="auto">
          <a:xfrm>
            <a:off x="6788906" y="2335064"/>
            <a:ext cx="658485" cy="214004"/>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1200" dirty="0">
                <a:solidFill>
                  <a:srgbClr val="000000"/>
                </a:solidFill>
                <a:latin typeface="+mn-lt"/>
                <a:ea typeface="+mn-ea"/>
              </a:rPr>
              <a:t>VBS</a:t>
            </a:r>
            <a:endParaRPr lang="zh-CN" altLang="en-US" dirty="0">
              <a:solidFill>
                <a:srgbClr val="000000"/>
              </a:solidFill>
              <a:latin typeface="+mn-lt"/>
              <a:ea typeface="+mn-ea"/>
            </a:endParaRPr>
          </a:p>
        </p:txBody>
      </p:sp>
      <p:sp>
        <p:nvSpPr>
          <p:cNvPr id="255" name="矩形 91"/>
          <p:cNvSpPr/>
          <p:nvPr/>
        </p:nvSpPr>
        <p:spPr>
          <a:xfrm>
            <a:off x="8004168" y="1744325"/>
            <a:ext cx="681564" cy="816006"/>
          </a:xfrm>
          <a:prstGeom prst="rect">
            <a:avLst/>
          </a:prstGeom>
          <a:noFill/>
          <a:ln w="19046">
            <a:solidFill>
              <a:srgbClr val="A6A6A6"/>
            </a:solidFill>
            <a:prstDash val="solid"/>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600" kern="0">
              <a:solidFill>
                <a:srgbClr val="000000"/>
              </a:solidFill>
              <a:latin typeface="+mn-lt"/>
              <a:ea typeface="+mn-ea"/>
            </a:endParaRPr>
          </a:p>
        </p:txBody>
      </p:sp>
      <p:sp>
        <p:nvSpPr>
          <p:cNvPr id="256" name="圆角矩形 255"/>
          <p:cNvSpPr/>
          <p:nvPr/>
        </p:nvSpPr>
        <p:spPr bwMode="auto">
          <a:xfrm>
            <a:off x="7855548" y="1568580"/>
            <a:ext cx="967817" cy="179555"/>
          </a:xfrm>
          <a:prstGeom prst="roundRect">
            <a:avLst/>
          </a:prstGeom>
          <a:solidFill>
            <a:schemeClr val="bg1">
              <a:lumMod val="75000"/>
            </a:schemeClr>
          </a:solidFill>
          <a:ln w="9528">
            <a:solidFill>
              <a:schemeClr val="bg1">
                <a:lumMod val="85000"/>
              </a:schemeClr>
            </a:solidFill>
            <a:prstDash val="solid"/>
            <a:rou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anchor="t" anchorCtr="0" compatLnSpc="1"/>
          <a:lstStyle/>
          <a:p>
            <a:pPr algn="ctr" defTabSz="801450" fontAlgn="auto">
              <a:spcBef>
                <a:spcPts val="0"/>
              </a:spcBef>
              <a:spcAft>
                <a:spcPts val="0"/>
              </a:spcAft>
              <a:buClr>
                <a:srgbClr val="CC9900"/>
              </a:buClr>
              <a:defRPr sz="1800" b="0" i="0" u="none" strike="noStrike" kern="0" cap="none" spc="0" baseline="0">
                <a:solidFill>
                  <a:srgbClr val="000000"/>
                </a:solidFill>
                <a:uFillTx/>
              </a:defRPr>
            </a:pPr>
            <a:r>
              <a:rPr lang="en-US" altLang="zh-CN" sz="1400" kern="0" dirty="0">
                <a:solidFill>
                  <a:srgbClr val="000000"/>
                </a:solidFill>
                <a:latin typeface="+mn-lt"/>
                <a:ea typeface="+mn-ea"/>
              </a:rPr>
              <a:t>Server </a:t>
            </a:r>
            <a:r>
              <a:rPr lang="en-US" altLang="zh-CN" sz="700" kern="0" dirty="0">
                <a:solidFill>
                  <a:srgbClr val="000000"/>
                </a:solidFill>
                <a:latin typeface="+mn-lt"/>
                <a:ea typeface="+mn-ea"/>
              </a:rPr>
              <a:t>N</a:t>
            </a:r>
            <a:endParaRPr lang="zh-CN" altLang="en-US" sz="1400" kern="0" dirty="0">
              <a:solidFill>
                <a:srgbClr val="000000"/>
              </a:solidFill>
              <a:latin typeface="+mn-lt"/>
              <a:ea typeface="+mn-ea"/>
            </a:endParaRPr>
          </a:p>
        </p:txBody>
      </p:sp>
      <p:sp>
        <p:nvSpPr>
          <p:cNvPr id="257" name="圆角矩形 256"/>
          <p:cNvSpPr/>
          <p:nvPr/>
        </p:nvSpPr>
        <p:spPr bwMode="auto">
          <a:xfrm>
            <a:off x="8039744" y="1818595"/>
            <a:ext cx="244246" cy="454672"/>
          </a:xfrm>
          <a:prstGeom prst="roundRect">
            <a:avLst/>
          </a:prstGeom>
          <a:solidFill>
            <a:schemeClr val="bg1">
              <a:lumMod val="85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endParaRPr lang="zh-CN" altLang="en-US" sz="700" dirty="0">
              <a:solidFill>
                <a:srgbClr val="000000"/>
              </a:solidFill>
              <a:latin typeface="+mn-lt"/>
              <a:ea typeface="+mn-ea"/>
            </a:endParaRPr>
          </a:p>
        </p:txBody>
      </p:sp>
      <p:sp>
        <p:nvSpPr>
          <p:cNvPr id="258" name="圆角矩形 257"/>
          <p:cNvSpPr/>
          <p:nvPr/>
        </p:nvSpPr>
        <p:spPr bwMode="auto">
          <a:xfrm>
            <a:off x="8390378" y="1818595"/>
            <a:ext cx="244246" cy="454672"/>
          </a:xfrm>
          <a:prstGeom prst="roundRect">
            <a:avLst/>
          </a:prstGeom>
          <a:solidFill>
            <a:schemeClr val="bg1">
              <a:lumMod val="85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endParaRPr lang="zh-CN" altLang="en-US" sz="700" dirty="0">
              <a:solidFill>
                <a:srgbClr val="000000"/>
              </a:solidFill>
              <a:latin typeface="+mn-lt"/>
              <a:ea typeface="+mn-ea"/>
            </a:endParaRPr>
          </a:p>
        </p:txBody>
      </p:sp>
      <p:sp>
        <p:nvSpPr>
          <p:cNvPr id="259" name="圆角矩形 258"/>
          <p:cNvSpPr/>
          <p:nvPr/>
        </p:nvSpPr>
        <p:spPr bwMode="auto">
          <a:xfrm>
            <a:off x="8007591" y="2323799"/>
            <a:ext cx="658485" cy="214004"/>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1200" dirty="0">
                <a:solidFill>
                  <a:srgbClr val="000000"/>
                </a:solidFill>
                <a:latin typeface="+mn-lt"/>
                <a:ea typeface="+mn-ea"/>
              </a:rPr>
              <a:t>VBS</a:t>
            </a:r>
            <a:endParaRPr lang="zh-CN" altLang="en-US" dirty="0">
              <a:solidFill>
                <a:srgbClr val="000000"/>
              </a:solidFill>
              <a:latin typeface="+mn-lt"/>
              <a:ea typeface="+mn-ea"/>
            </a:endParaRPr>
          </a:p>
        </p:txBody>
      </p:sp>
      <p:sp>
        <p:nvSpPr>
          <p:cNvPr id="260" name="圆角矩形 259"/>
          <p:cNvSpPr/>
          <p:nvPr/>
        </p:nvSpPr>
        <p:spPr bwMode="auto">
          <a:xfrm>
            <a:off x="5383481" y="4087171"/>
            <a:ext cx="1081096" cy="173931"/>
          </a:xfrm>
          <a:prstGeom prst="roundRect">
            <a:avLst/>
          </a:prstGeom>
          <a:solidFill>
            <a:schemeClr val="bg1">
              <a:lumMod val="75000"/>
            </a:schemeClr>
          </a:solidFill>
          <a:ln w="9528">
            <a:solidFill>
              <a:schemeClr val="bg1">
                <a:lumMod val="85000"/>
              </a:schemeClr>
            </a:solidFill>
            <a:prstDash val="solid"/>
            <a:rou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anchor="t" anchorCtr="0" compatLnSpc="1"/>
          <a:lstStyle/>
          <a:p>
            <a:pPr algn="ctr" defTabSz="801450" fontAlgn="auto">
              <a:spcBef>
                <a:spcPts val="0"/>
              </a:spcBef>
              <a:spcAft>
                <a:spcPts val="0"/>
              </a:spcAft>
              <a:buClr>
                <a:srgbClr val="CC9900"/>
              </a:buClr>
              <a:defRPr sz="1800" b="0" i="0" u="none" strike="noStrike" kern="0" cap="none" spc="0" baseline="0">
                <a:solidFill>
                  <a:srgbClr val="000000"/>
                </a:solidFill>
                <a:uFillTx/>
              </a:defRPr>
            </a:pPr>
            <a:r>
              <a:rPr lang="zh-CN" altLang="en-US" sz="1400" kern="0" dirty="0">
                <a:solidFill>
                  <a:srgbClr val="000000"/>
                </a:solidFill>
                <a:latin typeface="+mn-lt"/>
                <a:ea typeface="+mn-ea"/>
              </a:rPr>
              <a:t>存储服务器</a:t>
            </a:r>
          </a:p>
        </p:txBody>
      </p:sp>
      <p:sp>
        <p:nvSpPr>
          <p:cNvPr id="261" name="圆角矩形 260"/>
          <p:cNvSpPr/>
          <p:nvPr/>
        </p:nvSpPr>
        <p:spPr bwMode="auto">
          <a:xfrm>
            <a:off x="5412966" y="3337504"/>
            <a:ext cx="265361" cy="236531"/>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600" dirty="0">
              <a:solidFill>
                <a:srgbClr val="000000"/>
              </a:solidFill>
              <a:latin typeface="+mn-lt"/>
              <a:ea typeface="+mn-ea"/>
            </a:endParaRPr>
          </a:p>
        </p:txBody>
      </p:sp>
      <p:sp>
        <p:nvSpPr>
          <p:cNvPr id="262" name="圆角矩形 261"/>
          <p:cNvSpPr/>
          <p:nvPr/>
        </p:nvSpPr>
        <p:spPr bwMode="auto">
          <a:xfrm>
            <a:off x="5717641" y="3337504"/>
            <a:ext cx="265361" cy="247795"/>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600" dirty="0">
              <a:solidFill>
                <a:srgbClr val="000000"/>
              </a:solidFill>
              <a:latin typeface="+mn-lt"/>
              <a:ea typeface="+mn-ea"/>
            </a:endParaRPr>
          </a:p>
        </p:txBody>
      </p:sp>
      <p:sp>
        <p:nvSpPr>
          <p:cNvPr id="263" name="圆角矩形 262"/>
          <p:cNvSpPr/>
          <p:nvPr/>
        </p:nvSpPr>
        <p:spPr bwMode="auto">
          <a:xfrm>
            <a:off x="6159905" y="3326241"/>
            <a:ext cx="255532" cy="259059"/>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600" dirty="0">
              <a:solidFill>
                <a:srgbClr val="000000"/>
              </a:solidFill>
              <a:latin typeface="+mn-lt"/>
              <a:ea typeface="+mn-ea"/>
            </a:endParaRPr>
          </a:p>
        </p:txBody>
      </p:sp>
      <p:sp>
        <p:nvSpPr>
          <p:cNvPr id="264" name="TextBox 124"/>
          <p:cNvSpPr txBox="1"/>
          <p:nvPr/>
        </p:nvSpPr>
        <p:spPr>
          <a:xfrm>
            <a:off x="5797082" y="3315003"/>
            <a:ext cx="288862" cy="246221"/>
          </a:xfrm>
          <a:prstGeom prst="rect">
            <a:avLst/>
          </a:prstGeom>
          <a:noFill/>
        </p:spPr>
        <p:txBody>
          <a:bodyPr wrap="none" rtlCol="0">
            <a:spAutoFit/>
          </a:bodyPr>
          <a:lstStyle/>
          <a:p>
            <a:pPr defTabSz="914037" fontAlgn="auto">
              <a:spcBef>
                <a:spcPts val="0"/>
              </a:spcBef>
              <a:spcAft>
                <a:spcPts val="0"/>
              </a:spcAft>
            </a:pPr>
            <a:r>
              <a:rPr lang="en-US" altLang="zh-CN" dirty="0">
                <a:solidFill>
                  <a:prstClr val="black"/>
                </a:solidFill>
                <a:latin typeface="+mn-lt"/>
                <a:ea typeface="+mn-ea"/>
              </a:rPr>
              <a:t>…</a:t>
            </a:r>
            <a:endParaRPr lang="zh-CN" altLang="en-US" dirty="0">
              <a:solidFill>
                <a:prstClr val="black"/>
              </a:solidFill>
              <a:latin typeface="+mn-lt"/>
              <a:ea typeface="+mn-ea"/>
            </a:endParaRPr>
          </a:p>
        </p:txBody>
      </p:sp>
      <p:sp>
        <p:nvSpPr>
          <p:cNvPr id="265" name="圆柱形 264"/>
          <p:cNvSpPr/>
          <p:nvPr/>
        </p:nvSpPr>
        <p:spPr bwMode="auto">
          <a:xfrm>
            <a:off x="5462109"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66" name="圆柱形 265"/>
          <p:cNvSpPr/>
          <p:nvPr/>
        </p:nvSpPr>
        <p:spPr bwMode="auto">
          <a:xfrm>
            <a:off x="5747122"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67" name="圆柱形 266"/>
          <p:cNvSpPr/>
          <p:nvPr/>
        </p:nvSpPr>
        <p:spPr bwMode="auto">
          <a:xfrm>
            <a:off x="6189389"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68" name="TextBox 129"/>
          <p:cNvSpPr txBox="1"/>
          <p:nvPr/>
        </p:nvSpPr>
        <p:spPr>
          <a:xfrm>
            <a:off x="5800787" y="3778443"/>
            <a:ext cx="288862" cy="246221"/>
          </a:xfrm>
          <a:prstGeom prst="rect">
            <a:avLst/>
          </a:prstGeom>
          <a:noFill/>
        </p:spPr>
        <p:txBody>
          <a:bodyPr wrap="none" rtlCol="0">
            <a:spAutoFit/>
          </a:bodyPr>
          <a:lstStyle/>
          <a:p>
            <a:pPr defTabSz="914037" fontAlgn="auto">
              <a:spcBef>
                <a:spcPts val="0"/>
              </a:spcBef>
              <a:spcAft>
                <a:spcPts val="0"/>
              </a:spcAft>
            </a:pPr>
            <a:r>
              <a:rPr lang="en-US" altLang="zh-CN" dirty="0">
                <a:solidFill>
                  <a:prstClr val="black"/>
                </a:solidFill>
                <a:latin typeface="+mn-lt"/>
                <a:ea typeface="+mn-ea"/>
              </a:rPr>
              <a:t>…</a:t>
            </a:r>
            <a:endParaRPr lang="zh-CN" altLang="en-US" dirty="0">
              <a:solidFill>
                <a:prstClr val="black"/>
              </a:solidFill>
              <a:latin typeface="+mn-lt"/>
              <a:ea typeface="+mn-ea"/>
            </a:endParaRPr>
          </a:p>
        </p:txBody>
      </p:sp>
      <p:sp>
        <p:nvSpPr>
          <p:cNvPr id="269" name="矩形 91"/>
          <p:cNvSpPr/>
          <p:nvPr/>
        </p:nvSpPr>
        <p:spPr>
          <a:xfrm>
            <a:off x="5393309" y="3264879"/>
            <a:ext cx="1061437" cy="816007"/>
          </a:xfrm>
          <a:prstGeom prst="rect">
            <a:avLst/>
          </a:prstGeom>
          <a:noFill/>
          <a:ln w="19046">
            <a:solidFill>
              <a:srgbClr val="A6A6A6"/>
            </a:solidFill>
            <a:prstDash val="solid"/>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400" kern="0">
              <a:solidFill>
                <a:srgbClr val="000000"/>
              </a:solidFill>
              <a:latin typeface="+mn-lt"/>
              <a:ea typeface="+mn-ea"/>
            </a:endParaRPr>
          </a:p>
        </p:txBody>
      </p:sp>
      <p:sp>
        <p:nvSpPr>
          <p:cNvPr id="270" name="矩形 91"/>
          <p:cNvSpPr/>
          <p:nvPr/>
        </p:nvSpPr>
        <p:spPr>
          <a:xfrm>
            <a:off x="6631656" y="3276143"/>
            <a:ext cx="1061437" cy="816006"/>
          </a:xfrm>
          <a:prstGeom prst="rect">
            <a:avLst/>
          </a:prstGeom>
          <a:noFill/>
          <a:ln w="19046">
            <a:solidFill>
              <a:srgbClr val="A6A6A6"/>
            </a:solidFill>
            <a:prstDash val="solid"/>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400" kern="0">
              <a:solidFill>
                <a:srgbClr val="000000"/>
              </a:solidFill>
              <a:latin typeface="+mn-lt"/>
              <a:ea typeface="+mn-ea"/>
            </a:endParaRPr>
          </a:p>
        </p:txBody>
      </p:sp>
      <p:sp>
        <p:nvSpPr>
          <p:cNvPr id="271" name="圆角矩形 270"/>
          <p:cNvSpPr/>
          <p:nvPr/>
        </p:nvSpPr>
        <p:spPr bwMode="auto">
          <a:xfrm>
            <a:off x="6621826" y="4098433"/>
            <a:ext cx="1081096" cy="173931"/>
          </a:xfrm>
          <a:prstGeom prst="roundRect">
            <a:avLst/>
          </a:prstGeom>
          <a:solidFill>
            <a:schemeClr val="bg1">
              <a:lumMod val="75000"/>
            </a:schemeClr>
          </a:solidFill>
          <a:ln w="9528">
            <a:solidFill>
              <a:schemeClr val="bg1">
                <a:lumMod val="85000"/>
              </a:schemeClr>
            </a:solidFill>
            <a:prstDash val="solid"/>
            <a:rou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anchor="t" anchorCtr="0" compatLnSpc="1"/>
          <a:lstStyle/>
          <a:p>
            <a:pPr algn="ctr" defTabSz="801450" fontAlgn="auto">
              <a:spcBef>
                <a:spcPts val="0"/>
              </a:spcBef>
              <a:spcAft>
                <a:spcPts val="0"/>
              </a:spcAft>
              <a:buClr>
                <a:srgbClr val="CC9900"/>
              </a:buClr>
              <a:defRPr sz="1800" b="0" i="0" u="none" strike="noStrike" kern="0" cap="none" spc="0" baseline="0">
                <a:solidFill>
                  <a:srgbClr val="000000"/>
                </a:solidFill>
                <a:uFillTx/>
              </a:defRPr>
            </a:pPr>
            <a:r>
              <a:rPr lang="zh-CN" altLang="en-US" sz="1400" kern="0" dirty="0">
                <a:solidFill>
                  <a:srgbClr val="000000"/>
                </a:solidFill>
                <a:latin typeface="+mn-lt"/>
                <a:ea typeface="+mn-ea"/>
              </a:rPr>
              <a:t>存储服务器</a:t>
            </a:r>
          </a:p>
        </p:txBody>
      </p:sp>
      <p:sp>
        <p:nvSpPr>
          <p:cNvPr id="272" name="圆角矩形 271"/>
          <p:cNvSpPr/>
          <p:nvPr/>
        </p:nvSpPr>
        <p:spPr bwMode="auto">
          <a:xfrm>
            <a:off x="6651309" y="3348768"/>
            <a:ext cx="265359" cy="236531"/>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700" dirty="0">
              <a:solidFill>
                <a:srgbClr val="000000"/>
              </a:solidFill>
              <a:latin typeface="+mn-lt"/>
              <a:ea typeface="+mn-ea"/>
            </a:endParaRPr>
          </a:p>
        </p:txBody>
      </p:sp>
      <p:sp>
        <p:nvSpPr>
          <p:cNvPr id="273" name="圆角矩形 272"/>
          <p:cNvSpPr/>
          <p:nvPr/>
        </p:nvSpPr>
        <p:spPr bwMode="auto">
          <a:xfrm>
            <a:off x="6955983" y="3348767"/>
            <a:ext cx="265359" cy="247794"/>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700" dirty="0">
              <a:solidFill>
                <a:srgbClr val="000000"/>
              </a:solidFill>
              <a:latin typeface="+mn-lt"/>
              <a:ea typeface="+mn-ea"/>
            </a:endParaRPr>
          </a:p>
        </p:txBody>
      </p:sp>
      <p:sp>
        <p:nvSpPr>
          <p:cNvPr id="274" name="圆角矩形 273"/>
          <p:cNvSpPr/>
          <p:nvPr/>
        </p:nvSpPr>
        <p:spPr bwMode="auto">
          <a:xfrm>
            <a:off x="7398248" y="3337503"/>
            <a:ext cx="255532" cy="259058"/>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700" dirty="0">
              <a:solidFill>
                <a:srgbClr val="000000"/>
              </a:solidFill>
              <a:latin typeface="+mn-lt"/>
              <a:ea typeface="+mn-ea"/>
            </a:endParaRPr>
          </a:p>
        </p:txBody>
      </p:sp>
      <p:sp>
        <p:nvSpPr>
          <p:cNvPr id="275" name="TextBox 139"/>
          <p:cNvSpPr txBox="1"/>
          <p:nvPr/>
        </p:nvSpPr>
        <p:spPr>
          <a:xfrm>
            <a:off x="7035426" y="3312851"/>
            <a:ext cx="293670" cy="253916"/>
          </a:xfrm>
          <a:prstGeom prst="rect">
            <a:avLst/>
          </a:prstGeom>
          <a:noFill/>
        </p:spPr>
        <p:txBody>
          <a:bodyPr wrap="none" rtlCol="0">
            <a:spAutoFit/>
          </a:bodyPr>
          <a:lstStyle/>
          <a:p>
            <a:pPr defTabSz="914037" fontAlgn="auto">
              <a:spcBef>
                <a:spcPts val="0"/>
              </a:spcBef>
              <a:spcAft>
                <a:spcPts val="0"/>
              </a:spcAft>
            </a:pPr>
            <a:r>
              <a:rPr lang="en-US" altLang="zh-CN" sz="1050" dirty="0">
                <a:solidFill>
                  <a:prstClr val="black"/>
                </a:solidFill>
                <a:latin typeface="+mn-lt"/>
                <a:ea typeface="+mn-ea"/>
              </a:rPr>
              <a:t>…</a:t>
            </a:r>
            <a:endParaRPr lang="zh-CN" altLang="en-US" sz="1050" dirty="0">
              <a:solidFill>
                <a:prstClr val="black"/>
              </a:solidFill>
              <a:latin typeface="+mn-lt"/>
              <a:ea typeface="+mn-ea"/>
            </a:endParaRPr>
          </a:p>
        </p:txBody>
      </p:sp>
      <p:sp>
        <p:nvSpPr>
          <p:cNvPr id="276" name="圆柱形 275"/>
          <p:cNvSpPr/>
          <p:nvPr/>
        </p:nvSpPr>
        <p:spPr bwMode="auto">
          <a:xfrm>
            <a:off x="6700452"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77" name="圆柱形 276"/>
          <p:cNvSpPr/>
          <p:nvPr/>
        </p:nvSpPr>
        <p:spPr bwMode="auto">
          <a:xfrm>
            <a:off x="6985469"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78" name="圆柱形 277"/>
          <p:cNvSpPr/>
          <p:nvPr/>
        </p:nvSpPr>
        <p:spPr bwMode="auto">
          <a:xfrm>
            <a:off x="7427732"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79" name="TextBox 143"/>
          <p:cNvSpPr txBox="1"/>
          <p:nvPr/>
        </p:nvSpPr>
        <p:spPr>
          <a:xfrm>
            <a:off x="7045253" y="3789704"/>
            <a:ext cx="288862" cy="246221"/>
          </a:xfrm>
          <a:prstGeom prst="rect">
            <a:avLst/>
          </a:prstGeom>
          <a:noFill/>
        </p:spPr>
        <p:txBody>
          <a:bodyPr wrap="none" rtlCol="0">
            <a:spAutoFit/>
          </a:bodyPr>
          <a:lstStyle/>
          <a:p>
            <a:pPr defTabSz="914037" fontAlgn="auto">
              <a:spcBef>
                <a:spcPts val="0"/>
              </a:spcBef>
              <a:spcAft>
                <a:spcPts val="0"/>
              </a:spcAft>
            </a:pPr>
            <a:r>
              <a:rPr lang="en-US" altLang="zh-CN" dirty="0">
                <a:solidFill>
                  <a:prstClr val="black"/>
                </a:solidFill>
                <a:latin typeface="+mn-lt"/>
                <a:ea typeface="+mn-ea"/>
              </a:rPr>
              <a:t>…</a:t>
            </a:r>
            <a:endParaRPr lang="zh-CN" altLang="en-US" dirty="0">
              <a:solidFill>
                <a:prstClr val="black"/>
              </a:solidFill>
              <a:latin typeface="+mn-lt"/>
              <a:ea typeface="+mn-ea"/>
            </a:endParaRPr>
          </a:p>
        </p:txBody>
      </p:sp>
      <p:sp>
        <p:nvSpPr>
          <p:cNvPr id="280" name="矩形 91"/>
          <p:cNvSpPr/>
          <p:nvPr/>
        </p:nvSpPr>
        <p:spPr>
          <a:xfrm>
            <a:off x="7850341" y="3264879"/>
            <a:ext cx="1061437" cy="816007"/>
          </a:xfrm>
          <a:prstGeom prst="rect">
            <a:avLst/>
          </a:prstGeom>
          <a:noFill/>
          <a:ln w="19046">
            <a:solidFill>
              <a:srgbClr val="A6A6A6"/>
            </a:solidFill>
            <a:prstDash val="solid"/>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400" kern="0">
              <a:solidFill>
                <a:srgbClr val="000000"/>
              </a:solidFill>
              <a:latin typeface="+mn-lt"/>
              <a:ea typeface="+mn-ea"/>
            </a:endParaRPr>
          </a:p>
        </p:txBody>
      </p:sp>
      <p:sp>
        <p:nvSpPr>
          <p:cNvPr id="281" name="圆角矩形 280"/>
          <p:cNvSpPr/>
          <p:nvPr/>
        </p:nvSpPr>
        <p:spPr bwMode="auto">
          <a:xfrm>
            <a:off x="7840513" y="4087171"/>
            <a:ext cx="1081096" cy="173931"/>
          </a:xfrm>
          <a:prstGeom prst="roundRect">
            <a:avLst/>
          </a:prstGeom>
          <a:solidFill>
            <a:schemeClr val="bg1">
              <a:lumMod val="75000"/>
            </a:schemeClr>
          </a:solidFill>
          <a:ln w="9528">
            <a:solidFill>
              <a:schemeClr val="bg1">
                <a:lumMod val="85000"/>
              </a:schemeClr>
            </a:solidFill>
            <a:prstDash val="solid"/>
            <a:rou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anchor="t" anchorCtr="0" compatLnSpc="1"/>
          <a:lstStyle/>
          <a:p>
            <a:pPr algn="ctr" defTabSz="801450" fontAlgn="auto">
              <a:spcBef>
                <a:spcPts val="0"/>
              </a:spcBef>
              <a:spcAft>
                <a:spcPts val="0"/>
              </a:spcAft>
              <a:buClr>
                <a:srgbClr val="CC9900"/>
              </a:buClr>
              <a:defRPr sz="1800" b="0" i="0" u="none" strike="noStrike" kern="0" cap="none" spc="0" baseline="0">
                <a:solidFill>
                  <a:srgbClr val="000000"/>
                </a:solidFill>
                <a:uFillTx/>
              </a:defRPr>
            </a:pPr>
            <a:r>
              <a:rPr lang="zh-CN" altLang="en-US" sz="1400" kern="0" dirty="0">
                <a:solidFill>
                  <a:srgbClr val="000000"/>
                </a:solidFill>
                <a:latin typeface="+mn-lt"/>
                <a:ea typeface="+mn-ea"/>
              </a:rPr>
              <a:t>存储服务器</a:t>
            </a:r>
          </a:p>
        </p:txBody>
      </p:sp>
      <p:sp>
        <p:nvSpPr>
          <p:cNvPr id="282" name="圆角矩形 281"/>
          <p:cNvSpPr/>
          <p:nvPr/>
        </p:nvSpPr>
        <p:spPr bwMode="auto">
          <a:xfrm>
            <a:off x="7869998" y="3337504"/>
            <a:ext cx="265361" cy="236531"/>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600" dirty="0">
              <a:solidFill>
                <a:srgbClr val="000000"/>
              </a:solidFill>
              <a:latin typeface="+mn-lt"/>
              <a:ea typeface="+mn-ea"/>
            </a:endParaRPr>
          </a:p>
        </p:txBody>
      </p:sp>
      <p:sp>
        <p:nvSpPr>
          <p:cNvPr id="283" name="圆角矩形 282"/>
          <p:cNvSpPr/>
          <p:nvPr/>
        </p:nvSpPr>
        <p:spPr bwMode="auto">
          <a:xfrm>
            <a:off x="8174671" y="3337504"/>
            <a:ext cx="265361" cy="247795"/>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600" dirty="0">
              <a:solidFill>
                <a:srgbClr val="000000"/>
              </a:solidFill>
              <a:latin typeface="+mn-lt"/>
              <a:ea typeface="+mn-ea"/>
            </a:endParaRPr>
          </a:p>
        </p:txBody>
      </p:sp>
      <p:sp>
        <p:nvSpPr>
          <p:cNvPr id="284" name="圆角矩形 283"/>
          <p:cNvSpPr/>
          <p:nvPr/>
        </p:nvSpPr>
        <p:spPr bwMode="auto">
          <a:xfrm>
            <a:off x="8616935" y="3326241"/>
            <a:ext cx="255532" cy="259059"/>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700" dirty="0">
                <a:solidFill>
                  <a:srgbClr val="000000"/>
                </a:solidFill>
                <a:latin typeface="+mn-lt"/>
                <a:ea typeface="+mn-ea"/>
              </a:rPr>
              <a:t>OSD </a:t>
            </a:r>
            <a:endParaRPr lang="zh-CN" altLang="en-US" sz="600" dirty="0">
              <a:solidFill>
                <a:srgbClr val="000000"/>
              </a:solidFill>
              <a:latin typeface="+mn-lt"/>
              <a:ea typeface="+mn-ea"/>
            </a:endParaRPr>
          </a:p>
        </p:txBody>
      </p:sp>
      <p:sp>
        <p:nvSpPr>
          <p:cNvPr id="285" name="TextBox 154"/>
          <p:cNvSpPr txBox="1"/>
          <p:nvPr/>
        </p:nvSpPr>
        <p:spPr>
          <a:xfrm>
            <a:off x="8278607" y="3319475"/>
            <a:ext cx="288862" cy="246221"/>
          </a:xfrm>
          <a:prstGeom prst="rect">
            <a:avLst/>
          </a:prstGeom>
          <a:noFill/>
        </p:spPr>
        <p:txBody>
          <a:bodyPr wrap="none" rtlCol="0">
            <a:spAutoFit/>
          </a:bodyPr>
          <a:lstStyle/>
          <a:p>
            <a:pPr defTabSz="914037" fontAlgn="auto">
              <a:spcBef>
                <a:spcPts val="0"/>
              </a:spcBef>
              <a:spcAft>
                <a:spcPts val="0"/>
              </a:spcAft>
            </a:pPr>
            <a:r>
              <a:rPr lang="en-US" altLang="zh-CN" dirty="0">
                <a:solidFill>
                  <a:prstClr val="black"/>
                </a:solidFill>
                <a:latin typeface="+mn-lt"/>
                <a:ea typeface="+mn-ea"/>
              </a:rPr>
              <a:t>…</a:t>
            </a:r>
            <a:endParaRPr lang="zh-CN" altLang="en-US" dirty="0">
              <a:solidFill>
                <a:prstClr val="black"/>
              </a:solidFill>
              <a:latin typeface="+mn-lt"/>
              <a:ea typeface="+mn-ea"/>
            </a:endParaRPr>
          </a:p>
        </p:txBody>
      </p:sp>
      <p:sp>
        <p:nvSpPr>
          <p:cNvPr id="286" name="圆柱形 285"/>
          <p:cNvSpPr/>
          <p:nvPr/>
        </p:nvSpPr>
        <p:spPr bwMode="auto">
          <a:xfrm>
            <a:off x="7919141"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87" name="圆柱形 286"/>
          <p:cNvSpPr/>
          <p:nvPr/>
        </p:nvSpPr>
        <p:spPr bwMode="auto">
          <a:xfrm>
            <a:off x="8204156"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88" name="圆柱形 287"/>
          <p:cNvSpPr/>
          <p:nvPr/>
        </p:nvSpPr>
        <p:spPr bwMode="auto">
          <a:xfrm>
            <a:off x="8646421" y="3809972"/>
            <a:ext cx="206390" cy="191477"/>
          </a:xfrm>
          <a:prstGeom prst="can">
            <a:avLst/>
          </a:prstGeom>
          <a:solidFill>
            <a:srgbClr val="00B0F0"/>
          </a:solidFill>
          <a:ln w="9525" cap="flat" cmpd="sng" algn="ctr">
            <a:solidFill>
              <a:schemeClr val="tx1"/>
            </a:solidFill>
            <a:prstDash val="solid"/>
            <a:round/>
            <a:headEnd type="none" w="med" len="med"/>
            <a:tailEnd type="none" w="med" len="med"/>
          </a:ln>
          <a:effectLst/>
        </p:spPr>
        <p:txBody>
          <a:bodyPr lIns="79176" tIns="39588" rIns="79176" bIns="39588"/>
          <a:lstStyle/>
          <a:p>
            <a:pPr defTabSz="801447" fontAlgn="auto">
              <a:spcBef>
                <a:spcPts val="0"/>
              </a:spcBef>
              <a:spcAft>
                <a:spcPts val="0"/>
              </a:spcAft>
              <a:defRPr/>
            </a:pPr>
            <a:endParaRPr lang="zh-CN" altLang="en-US" sz="1050">
              <a:solidFill>
                <a:srgbClr val="FFFFFF"/>
              </a:solidFill>
              <a:latin typeface="+mn-lt"/>
              <a:ea typeface="+mn-ea"/>
            </a:endParaRPr>
          </a:p>
        </p:txBody>
      </p:sp>
      <p:sp>
        <p:nvSpPr>
          <p:cNvPr id="289" name="TextBox 158"/>
          <p:cNvSpPr txBox="1"/>
          <p:nvPr/>
        </p:nvSpPr>
        <p:spPr>
          <a:xfrm>
            <a:off x="8257817" y="3778443"/>
            <a:ext cx="288862" cy="246221"/>
          </a:xfrm>
          <a:prstGeom prst="rect">
            <a:avLst/>
          </a:prstGeom>
          <a:noFill/>
        </p:spPr>
        <p:txBody>
          <a:bodyPr wrap="none" rtlCol="0">
            <a:spAutoFit/>
          </a:bodyPr>
          <a:lstStyle/>
          <a:p>
            <a:pPr defTabSz="914037" fontAlgn="auto">
              <a:spcBef>
                <a:spcPts val="0"/>
              </a:spcBef>
              <a:spcAft>
                <a:spcPts val="0"/>
              </a:spcAft>
            </a:pPr>
            <a:r>
              <a:rPr lang="en-US" altLang="zh-CN" dirty="0">
                <a:solidFill>
                  <a:prstClr val="black"/>
                </a:solidFill>
                <a:latin typeface="+mn-lt"/>
                <a:ea typeface="+mn-ea"/>
              </a:rPr>
              <a:t>…</a:t>
            </a:r>
            <a:endParaRPr lang="zh-CN" altLang="en-US" dirty="0">
              <a:solidFill>
                <a:prstClr val="black"/>
              </a:solidFill>
              <a:latin typeface="+mn-lt"/>
              <a:ea typeface="+mn-ea"/>
            </a:endParaRPr>
          </a:p>
        </p:txBody>
      </p:sp>
      <p:cxnSp>
        <p:nvCxnSpPr>
          <p:cNvPr id="290" name="直接箭头连接符 289"/>
          <p:cNvCxnSpPr>
            <a:endCxn id="245" idx="2"/>
          </p:cNvCxnSpPr>
          <p:nvPr/>
        </p:nvCxnSpPr>
        <p:spPr bwMode="auto">
          <a:xfrm flipV="1">
            <a:off x="5850319" y="2571596"/>
            <a:ext cx="67083" cy="754645"/>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 name="直接箭头连接符 290"/>
          <p:cNvCxnSpPr>
            <a:endCxn id="245" idx="2"/>
          </p:cNvCxnSpPr>
          <p:nvPr/>
        </p:nvCxnSpPr>
        <p:spPr bwMode="auto">
          <a:xfrm flipH="1" flipV="1">
            <a:off x="5917402" y="2571596"/>
            <a:ext cx="375180" cy="74338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2" name="直接箭头连接符 291"/>
          <p:cNvCxnSpPr>
            <a:endCxn id="245" idx="2"/>
          </p:cNvCxnSpPr>
          <p:nvPr/>
        </p:nvCxnSpPr>
        <p:spPr bwMode="auto">
          <a:xfrm flipH="1" flipV="1">
            <a:off x="5917402" y="2571595"/>
            <a:ext cx="876416"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直接箭头连接符 292"/>
          <p:cNvCxnSpPr>
            <a:endCxn id="245" idx="2"/>
          </p:cNvCxnSpPr>
          <p:nvPr/>
        </p:nvCxnSpPr>
        <p:spPr bwMode="auto">
          <a:xfrm flipH="1" flipV="1">
            <a:off x="5917403" y="2571595"/>
            <a:ext cx="1171259"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直接箭头连接符 293"/>
          <p:cNvCxnSpPr>
            <a:endCxn id="245" idx="2"/>
          </p:cNvCxnSpPr>
          <p:nvPr/>
        </p:nvCxnSpPr>
        <p:spPr bwMode="auto">
          <a:xfrm flipH="1" flipV="1">
            <a:off x="5917403" y="2571595"/>
            <a:ext cx="1613525"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直接箭头连接符 294"/>
          <p:cNvCxnSpPr>
            <a:endCxn id="245" idx="2"/>
          </p:cNvCxnSpPr>
          <p:nvPr/>
        </p:nvCxnSpPr>
        <p:spPr bwMode="auto">
          <a:xfrm flipH="1" flipV="1">
            <a:off x="5917402" y="2571596"/>
            <a:ext cx="2104934" cy="754645"/>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直接箭头连接符 295"/>
          <p:cNvCxnSpPr>
            <a:endCxn id="245" idx="2"/>
          </p:cNvCxnSpPr>
          <p:nvPr/>
        </p:nvCxnSpPr>
        <p:spPr bwMode="auto">
          <a:xfrm flipH="1" flipV="1">
            <a:off x="5917403" y="2571595"/>
            <a:ext cx="2389949"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接箭头连接符 296"/>
          <p:cNvCxnSpPr>
            <a:endCxn id="245" idx="2"/>
          </p:cNvCxnSpPr>
          <p:nvPr/>
        </p:nvCxnSpPr>
        <p:spPr bwMode="auto">
          <a:xfrm flipH="1" flipV="1">
            <a:off x="5917402" y="2571596"/>
            <a:ext cx="2832214" cy="74338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直接箭头连接符 297"/>
          <p:cNvCxnSpPr>
            <a:endCxn id="250" idx="2"/>
          </p:cNvCxnSpPr>
          <p:nvPr/>
        </p:nvCxnSpPr>
        <p:spPr bwMode="auto">
          <a:xfrm flipV="1">
            <a:off x="5555476" y="2571596"/>
            <a:ext cx="1570789" cy="754645"/>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箭头连接符 298"/>
          <p:cNvCxnSpPr>
            <a:endCxn id="250" idx="2"/>
          </p:cNvCxnSpPr>
          <p:nvPr/>
        </p:nvCxnSpPr>
        <p:spPr bwMode="auto">
          <a:xfrm flipV="1">
            <a:off x="5850318" y="2571596"/>
            <a:ext cx="1275944" cy="754645"/>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0" name="直接箭头连接符 299"/>
          <p:cNvCxnSpPr>
            <a:endCxn id="250" idx="2"/>
          </p:cNvCxnSpPr>
          <p:nvPr/>
        </p:nvCxnSpPr>
        <p:spPr bwMode="auto">
          <a:xfrm flipV="1">
            <a:off x="6292584" y="2571596"/>
            <a:ext cx="833678" cy="74338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 name="直接箭头连接符 300"/>
          <p:cNvCxnSpPr>
            <a:endCxn id="250" idx="2"/>
          </p:cNvCxnSpPr>
          <p:nvPr/>
        </p:nvCxnSpPr>
        <p:spPr bwMode="auto">
          <a:xfrm flipV="1">
            <a:off x="6793820" y="2571595"/>
            <a:ext cx="332444"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箭头连接符 301"/>
          <p:cNvCxnSpPr>
            <a:endCxn id="250" idx="2"/>
          </p:cNvCxnSpPr>
          <p:nvPr/>
        </p:nvCxnSpPr>
        <p:spPr bwMode="auto">
          <a:xfrm flipV="1">
            <a:off x="7088664" y="2571595"/>
            <a:ext cx="37599"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3" name="直接箭头连接符 302"/>
          <p:cNvCxnSpPr>
            <a:endCxn id="250" idx="2"/>
          </p:cNvCxnSpPr>
          <p:nvPr/>
        </p:nvCxnSpPr>
        <p:spPr bwMode="auto">
          <a:xfrm flipH="1" flipV="1">
            <a:off x="7126262" y="2571595"/>
            <a:ext cx="404664"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箭头连接符 303"/>
          <p:cNvCxnSpPr>
            <a:endCxn id="250" idx="2"/>
          </p:cNvCxnSpPr>
          <p:nvPr/>
        </p:nvCxnSpPr>
        <p:spPr bwMode="auto">
          <a:xfrm flipH="1" flipV="1">
            <a:off x="7126262" y="2571596"/>
            <a:ext cx="896072" cy="754645"/>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5" name="直接箭头连接符 304"/>
          <p:cNvCxnSpPr>
            <a:endCxn id="250" idx="2"/>
          </p:cNvCxnSpPr>
          <p:nvPr/>
        </p:nvCxnSpPr>
        <p:spPr bwMode="auto">
          <a:xfrm flipH="1" flipV="1">
            <a:off x="7126262" y="2571595"/>
            <a:ext cx="1181090"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6" name="直接箭头连接符 305"/>
          <p:cNvCxnSpPr>
            <a:endCxn id="250" idx="2"/>
          </p:cNvCxnSpPr>
          <p:nvPr/>
        </p:nvCxnSpPr>
        <p:spPr bwMode="auto">
          <a:xfrm flipH="1" flipV="1">
            <a:off x="7126262" y="2571596"/>
            <a:ext cx="1623354" cy="74338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直接箭头连接符 306"/>
          <p:cNvCxnSpPr>
            <a:endCxn id="259" idx="2"/>
          </p:cNvCxnSpPr>
          <p:nvPr/>
        </p:nvCxnSpPr>
        <p:spPr bwMode="auto">
          <a:xfrm flipH="1" flipV="1">
            <a:off x="8336836" y="2537804"/>
            <a:ext cx="412783" cy="77717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8" name="直接箭头连接符 307"/>
          <p:cNvCxnSpPr>
            <a:endCxn id="255" idx="2"/>
          </p:cNvCxnSpPr>
          <p:nvPr/>
        </p:nvCxnSpPr>
        <p:spPr bwMode="auto">
          <a:xfrm flipV="1">
            <a:off x="8307351" y="2560332"/>
            <a:ext cx="37599" cy="77717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 name="直接箭头连接符 308"/>
          <p:cNvCxnSpPr>
            <a:endCxn id="255" idx="2"/>
          </p:cNvCxnSpPr>
          <p:nvPr/>
        </p:nvCxnSpPr>
        <p:spPr bwMode="auto">
          <a:xfrm flipV="1">
            <a:off x="8022334" y="2560331"/>
            <a:ext cx="322616"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0" name="直接箭头连接符 309"/>
          <p:cNvCxnSpPr>
            <a:endCxn id="255" idx="2"/>
          </p:cNvCxnSpPr>
          <p:nvPr/>
        </p:nvCxnSpPr>
        <p:spPr bwMode="auto">
          <a:xfrm flipV="1">
            <a:off x="7530929" y="2560332"/>
            <a:ext cx="814023" cy="77717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1" name="直接箭头连接符 310"/>
          <p:cNvCxnSpPr>
            <a:endCxn id="255" idx="2"/>
          </p:cNvCxnSpPr>
          <p:nvPr/>
        </p:nvCxnSpPr>
        <p:spPr bwMode="auto">
          <a:xfrm flipV="1">
            <a:off x="7088663" y="2560332"/>
            <a:ext cx="1256286" cy="77717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2" name="直接箭头连接符 311"/>
          <p:cNvCxnSpPr>
            <a:endCxn id="255" idx="2"/>
          </p:cNvCxnSpPr>
          <p:nvPr/>
        </p:nvCxnSpPr>
        <p:spPr bwMode="auto">
          <a:xfrm flipV="1">
            <a:off x="6793820" y="2560332"/>
            <a:ext cx="1551132" cy="777173"/>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3" name="直接箭头连接符 312"/>
          <p:cNvCxnSpPr>
            <a:endCxn id="255" idx="2"/>
          </p:cNvCxnSpPr>
          <p:nvPr/>
        </p:nvCxnSpPr>
        <p:spPr bwMode="auto">
          <a:xfrm flipV="1">
            <a:off x="6292584" y="2560332"/>
            <a:ext cx="2052368" cy="754645"/>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4" name="直接箭头连接符 313"/>
          <p:cNvCxnSpPr>
            <a:endCxn id="255" idx="2"/>
          </p:cNvCxnSpPr>
          <p:nvPr/>
        </p:nvCxnSpPr>
        <p:spPr bwMode="auto">
          <a:xfrm flipV="1">
            <a:off x="5850319" y="2560331"/>
            <a:ext cx="2494631"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直接箭头连接符 314"/>
          <p:cNvCxnSpPr>
            <a:endCxn id="255" idx="2"/>
          </p:cNvCxnSpPr>
          <p:nvPr/>
        </p:nvCxnSpPr>
        <p:spPr bwMode="auto">
          <a:xfrm flipV="1">
            <a:off x="5555476" y="2560331"/>
            <a:ext cx="2789477" cy="765908"/>
          </a:xfrm>
          <a:prstGeom prst="straightConnector1">
            <a:avLst/>
          </a:prstGeom>
          <a:noFill/>
          <a:ln w="19050">
            <a:solidFill>
              <a:schemeClr val="tx2">
                <a:lumMod val="40000"/>
                <a:lumOff val="60000"/>
              </a:schemeClr>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6" name="任意多边形 315"/>
          <p:cNvSpPr/>
          <p:nvPr/>
        </p:nvSpPr>
        <p:spPr bwMode="auto">
          <a:xfrm flipV="1">
            <a:off x="6405607" y="3314976"/>
            <a:ext cx="1434908" cy="270320"/>
          </a:xfrm>
          <a:custGeom>
            <a:avLst/>
            <a:gdLst>
              <a:gd name="connsiteX0" fmla="*/ 0 w 1857375"/>
              <a:gd name="connsiteY0" fmla="*/ 0 h 704850"/>
              <a:gd name="connsiteX1" fmla="*/ 962025 w 1857375"/>
              <a:gd name="connsiteY1" fmla="*/ 704850 h 704850"/>
              <a:gd name="connsiteX2" fmla="*/ 1857375 w 1857375"/>
              <a:gd name="connsiteY2" fmla="*/ 0 h 704850"/>
              <a:gd name="connsiteX3" fmla="*/ 1857375 w 1857375"/>
              <a:gd name="connsiteY3" fmla="*/ 0 h 704850"/>
            </a:gdLst>
            <a:ahLst/>
            <a:cxnLst>
              <a:cxn ang="0">
                <a:pos x="connsiteX0" y="connsiteY0"/>
              </a:cxn>
              <a:cxn ang="0">
                <a:pos x="connsiteX1" y="connsiteY1"/>
              </a:cxn>
              <a:cxn ang="0">
                <a:pos x="connsiteX2" y="connsiteY2"/>
              </a:cxn>
              <a:cxn ang="0">
                <a:pos x="connsiteX3" y="connsiteY3"/>
              </a:cxn>
            </a:cxnLst>
            <a:rect l="l" t="t" r="r" b="b"/>
            <a:pathLst>
              <a:path w="1857375" h="704850">
                <a:moveTo>
                  <a:pt x="0" y="0"/>
                </a:moveTo>
                <a:cubicBezTo>
                  <a:pt x="326231" y="352425"/>
                  <a:pt x="652463" y="704850"/>
                  <a:pt x="962025" y="704850"/>
                </a:cubicBezTo>
                <a:cubicBezTo>
                  <a:pt x="1271587" y="704850"/>
                  <a:pt x="1857375" y="0"/>
                  <a:pt x="1857375" y="0"/>
                </a:cubicBezTo>
                <a:lnTo>
                  <a:pt x="1857375" y="0"/>
                </a:lnTo>
              </a:path>
            </a:pathLst>
          </a:custGeom>
          <a:ln w="25400">
            <a:solidFill>
              <a:srgbClr val="FFC000"/>
            </a:solidFill>
            <a:headEnd type="triangle"/>
            <a:tailEnd type="triangle"/>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defTabSz="914037" fontAlgn="auto">
              <a:spcBef>
                <a:spcPts val="0"/>
              </a:spcBef>
              <a:spcAft>
                <a:spcPts val="0"/>
              </a:spcAft>
            </a:pPr>
            <a:endParaRPr lang="zh-CN" altLang="en-US" sz="1600">
              <a:solidFill>
                <a:prstClr val="black"/>
              </a:solidFill>
            </a:endParaRPr>
          </a:p>
        </p:txBody>
      </p:sp>
      <p:sp>
        <p:nvSpPr>
          <p:cNvPr id="317" name="任意多边形 316"/>
          <p:cNvSpPr/>
          <p:nvPr/>
        </p:nvSpPr>
        <p:spPr bwMode="auto">
          <a:xfrm flipV="1">
            <a:off x="6395783" y="3371296"/>
            <a:ext cx="314499" cy="101369"/>
          </a:xfrm>
          <a:custGeom>
            <a:avLst/>
            <a:gdLst>
              <a:gd name="connsiteX0" fmla="*/ 0 w 1857375"/>
              <a:gd name="connsiteY0" fmla="*/ 0 h 704850"/>
              <a:gd name="connsiteX1" fmla="*/ 962025 w 1857375"/>
              <a:gd name="connsiteY1" fmla="*/ 704850 h 704850"/>
              <a:gd name="connsiteX2" fmla="*/ 1857375 w 1857375"/>
              <a:gd name="connsiteY2" fmla="*/ 0 h 704850"/>
              <a:gd name="connsiteX3" fmla="*/ 1857375 w 1857375"/>
              <a:gd name="connsiteY3" fmla="*/ 0 h 704850"/>
            </a:gdLst>
            <a:ahLst/>
            <a:cxnLst>
              <a:cxn ang="0">
                <a:pos x="connsiteX0" y="connsiteY0"/>
              </a:cxn>
              <a:cxn ang="0">
                <a:pos x="connsiteX1" y="connsiteY1"/>
              </a:cxn>
              <a:cxn ang="0">
                <a:pos x="connsiteX2" y="connsiteY2"/>
              </a:cxn>
              <a:cxn ang="0">
                <a:pos x="connsiteX3" y="connsiteY3"/>
              </a:cxn>
            </a:cxnLst>
            <a:rect l="l" t="t" r="r" b="b"/>
            <a:pathLst>
              <a:path w="1857375" h="704850">
                <a:moveTo>
                  <a:pt x="0" y="0"/>
                </a:moveTo>
                <a:cubicBezTo>
                  <a:pt x="326231" y="352425"/>
                  <a:pt x="652463" y="704850"/>
                  <a:pt x="962025" y="704850"/>
                </a:cubicBezTo>
                <a:cubicBezTo>
                  <a:pt x="1271587" y="704850"/>
                  <a:pt x="1857375" y="0"/>
                  <a:pt x="1857375" y="0"/>
                </a:cubicBezTo>
                <a:lnTo>
                  <a:pt x="1857375" y="0"/>
                </a:lnTo>
              </a:path>
            </a:pathLst>
          </a:custGeom>
          <a:ln w="25400">
            <a:solidFill>
              <a:srgbClr val="FFC000"/>
            </a:solidFill>
            <a:headEnd type="triangle"/>
            <a:tailEnd type="triangle"/>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defTabSz="914037" fontAlgn="auto">
              <a:spcBef>
                <a:spcPts val="0"/>
              </a:spcBef>
              <a:spcAft>
                <a:spcPts val="0"/>
              </a:spcAft>
            </a:pPr>
            <a:endParaRPr lang="zh-CN" altLang="en-US" sz="1600">
              <a:solidFill>
                <a:prstClr val="black"/>
              </a:solidFill>
            </a:endParaRPr>
          </a:p>
        </p:txBody>
      </p:sp>
      <p:sp>
        <p:nvSpPr>
          <p:cNvPr id="318" name="任意多边形 317"/>
          <p:cNvSpPr/>
          <p:nvPr/>
        </p:nvSpPr>
        <p:spPr bwMode="auto">
          <a:xfrm flipV="1">
            <a:off x="7634128" y="3348767"/>
            <a:ext cx="314499" cy="112632"/>
          </a:xfrm>
          <a:custGeom>
            <a:avLst/>
            <a:gdLst>
              <a:gd name="connsiteX0" fmla="*/ 0 w 1857375"/>
              <a:gd name="connsiteY0" fmla="*/ 0 h 704850"/>
              <a:gd name="connsiteX1" fmla="*/ 962025 w 1857375"/>
              <a:gd name="connsiteY1" fmla="*/ 704850 h 704850"/>
              <a:gd name="connsiteX2" fmla="*/ 1857375 w 1857375"/>
              <a:gd name="connsiteY2" fmla="*/ 0 h 704850"/>
              <a:gd name="connsiteX3" fmla="*/ 1857375 w 1857375"/>
              <a:gd name="connsiteY3" fmla="*/ 0 h 704850"/>
            </a:gdLst>
            <a:ahLst/>
            <a:cxnLst>
              <a:cxn ang="0">
                <a:pos x="connsiteX0" y="connsiteY0"/>
              </a:cxn>
              <a:cxn ang="0">
                <a:pos x="connsiteX1" y="connsiteY1"/>
              </a:cxn>
              <a:cxn ang="0">
                <a:pos x="connsiteX2" y="connsiteY2"/>
              </a:cxn>
              <a:cxn ang="0">
                <a:pos x="connsiteX3" y="connsiteY3"/>
              </a:cxn>
            </a:cxnLst>
            <a:rect l="l" t="t" r="r" b="b"/>
            <a:pathLst>
              <a:path w="1857375" h="704850">
                <a:moveTo>
                  <a:pt x="0" y="0"/>
                </a:moveTo>
                <a:cubicBezTo>
                  <a:pt x="326231" y="352425"/>
                  <a:pt x="652463" y="704850"/>
                  <a:pt x="962025" y="704850"/>
                </a:cubicBezTo>
                <a:cubicBezTo>
                  <a:pt x="1271587" y="704850"/>
                  <a:pt x="1857375" y="0"/>
                  <a:pt x="1857375" y="0"/>
                </a:cubicBezTo>
                <a:lnTo>
                  <a:pt x="1857375" y="0"/>
                </a:lnTo>
              </a:path>
            </a:pathLst>
          </a:custGeom>
          <a:ln w="25400">
            <a:solidFill>
              <a:srgbClr val="FFC000"/>
            </a:solidFill>
            <a:headEnd type="triangle"/>
            <a:tailEnd type="triangle"/>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rtlCol="0" anchor="ctr"/>
          <a:lstStyle/>
          <a:p>
            <a:pPr algn="ctr" defTabSz="914037" fontAlgn="auto">
              <a:spcBef>
                <a:spcPts val="0"/>
              </a:spcBef>
              <a:spcAft>
                <a:spcPts val="0"/>
              </a:spcAft>
            </a:pPr>
            <a:endParaRPr lang="zh-CN" altLang="en-US" sz="1600">
              <a:solidFill>
                <a:prstClr val="black"/>
              </a:solidFill>
            </a:endParaRPr>
          </a:p>
        </p:txBody>
      </p:sp>
      <p:sp>
        <p:nvSpPr>
          <p:cNvPr id="319" name="圆角矩形 318"/>
          <p:cNvSpPr/>
          <p:nvPr/>
        </p:nvSpPr>
        <p:spPr bwMode="auto">
          <a:xfrm>
            <a:off x="5432624" y="3585297"/>
            <a:ext cx="992641" cy="135162"/>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1200" dirty="0">
                <a:solidFill>
                  <a:srgbClr val="000000"/>
                </a:solidFill>
                <a:latin typeface="+mn-lt"/>
                <a:ea typeface="+mn-ea"/>
              </a:rPr>
              <a:t>Cache</a:t>
            </a:r>
            <a:endParaRPr lang="zh-CN" altLang="en-US" sz="1200" dirty="0">
              <a:solidFill>
                <a:srgbClr val="000000"/>
              </a:solidFill>
              <a:latin typeface="+mn-lt"/>
              <a:ea typeface="+mn-ea"/>
            </a:endParaRPr>
          </a:p>
        </p:txBody>
      </p:sp>
      <p:sp>
        <p:nvSpPr>
          <p:cNvPr id="320" name="圆角矩形 319"/>
          <p:cNvSpPr/>
          <p:nvPr/>
        </p:nvSpPr>
        <p:spPr bwMode="auto">
          <a:xfrm>
            <a:off x="6661138" y="3607824"/>
            <a:ext cx="992641" cy="135162"/>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1200" dirty="0">
                <a:solidFill>
                  <a:srgbClr val="000000"/>
                </a:solidFill>
                <a:latin typeface="+mn-lt"/>
                <a:ea typeface="+mn-ea"/>
              </a:rPr>
              <a:t>Cache</a:t>
            </a:r>
            <a:endParaRPr lang="zh-CN" altLang="en-US" sz="1200" dirty="0">
              <a:solidFill>
                <a:srgbClr val="000000"/>
              </a:solidFill>
              <a:latin typeface="+mn-lt"/>
              <a:ea typeface="+mn-ea"/>
            </a:endParaRPr>
          </a:p>
        </p:txBody>
      </p:sp>
      <p:sp>
        <p:nvSpPr>
          <p:cNvPr id="321" name="圆角矩形 320"/>
          <p:cNvSpPr/>
          <p:nvPr/>
        </p:nvSpPr>
        <p:spPr bwMode="auto">
          <a:xfrm>
            <a:off x="7879827" y="3585297"/>
            <a:ext cx="992641" cy="135162"/>
          </a:xfrm>
          <a:prstGeom prst="roundRect">
            <a:avLst/>
          </a:prstGeom>
          <a:solidFill>
            <a:schemeClr val="tx2">
              <a:lumMod val="40000"/>
              <a:lumOff val="60000"/>
            </a:schemeClr>
          </a:solidFill>
          <a:ln>
            <a:solidFill>
              <a:schemeClr val="bg1">
                <a:lumMod val="75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algn="ctr" defTabSz="914037" fontAlgn="auto">
              <a:spcBef>
                <a:spcPts val="0"/>
              </a:spcBef>
              <a:spcAft>
                <a:spcPts val="0"/>
              </a:spcAft>
              <a:buClr>
                <a:srgbClr val="CC9900"/>
              </a:buClr>
            </a:pPr>
            <a:r>
              <a:rPr lang="en-US" altLang="zh-CN" sz="1200" dirty="0">
                <a:solidFill>
                  <a:srgbClr val="000000"/>
                </a:solidFill>
                <a:latin typeface="+mn-lt"/>
                <a:ea typeface="+mn-ea"/>
              </a:rPr>
              <a:t>Cache</a:t>
            </a:r>
            <a:endParaRPr lang="zh-CN" altLang="en-US" sz="1200" dirty="0">
              <a:solidFill>
                <a:srgbClr val="000000"/>
              </a:solidFill>
              <a:latin typeface="+mn-lt"/>
              <a:ea typeface="+mn-ea"/>
            </a:endParaRPr>
          </a:p>
        </p:txBody>
      </p:sp>
      <p:sp>
        <p:nvSpPr>
          <p:cNvPr id="322" name="矩形 161"/>
          <p:cNvSpPr/>
          <p:nvPr/>
        </p:nvSpPr>
        <p:spPr>
          <a:xfrm>
            <a:off x="5363825" y="2323802"/>
            <a:ext cx="3665890" cy="1430449"/>
          </a:xfrm>
          <a:prstGeom prst="rect">
            <a:avLst/>
          </a:prstGeom>
          <a:noFill/>
          <a:ln w="15873">
            <a:solidFill>
              <a:schemeClr val="tx2">
                <a:lumMod val="40000"/>
                <a:lumOff val="60000"/>
              </a:schemeClr>
            </a:solidFill>
            <a:custDash>
              <a:ds d="300013" sp="300013"/>
            </a:custDash>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400" kern="0">
              <a:solidFill>
                <a:srgbClr val="000000"/>
              </a:solidFill>
              <a:latin typeface="+mn-lt"/>
              <a:ea typeface="+mn-ea"/>
            </a:endParaRPr>
          </a:p>
        </p:txBody>
      </p:sp>
      <p:sp>
        <p:nvSpPr>
          <p:cNvPr id="323" name="矩形 161"/>
          <p:cNvSpPr/>
          <p:nvPr/>
        </p:nvSpPr>
        <p:spPr>
          <a:xfrm>
            <a:off x="5324514" y="3269921"/>
            <a:ext cx="3665890" cy="1070020"/>
          </a:xfrm>
          <a:prstGeom prst="rect">
            <a:avLst/>
          </a:prstGeom>
          <a:noFill/>
          <a:ln w="15873">
            <a:solidFill>
              <a:srgbClr val="0000FF"/>
            </a:solidFill>
            <a:custDash>
              <a:ds d="300013" sp="300013"/>
            </a:custDash>
            <a:round/>
          </a:ln>
        </p:spPr>
        <p:txBody>
          <a:bodyPr vert="horz" wrap="square" lIns="79172" tIns="39590" rIns="79172" bIns="39590" anchor="t" anchorCtr="0" compatLnSpc="1"/>
          <a:lstStyle/>
          <a:p>
            <a:pPr defTabSz="801450" fontAlgn="auto">
              <a:spcBef>
                <a:spcPts val="0"/>
              </a:spcBef>
              <a:spcAft>
                <a:spcPts val="0"/>
              </a:spcAft>
              <a:defRPr sz="1800" b="0" i="0" u="none" strike="noStrike" kern="0" cap="none" spc="0" baseline="0">
                <a:solidFill>
                  <a:srgbClr val="000000"/>
                </a:solidFill>
                <a:uFillTx/>
              </a:defRPr>
            </a:pPr>
            <a:endParaRPr lang="en-US" sz="1400" kern="0">
              <a:solidFill>
                <a:srgbClr val="000000"/>
              </a:solidFill>
              <a:latin typeface="+mn-lt"/>
              <a:ea typeface="+mn-ea"/>
            </a:endParaRPr>
          </a:p>
        </p:txBody>
      </p:sp>
      <p:sp>
        <p:nvSpPr>
          <p:cNvPr id="324" name="文本框 364"/>
          <p:cNvSpPr txBox="1"/>
          <p:nvPr/>
        </p:nvSpPr>
        <p:spPr>
          <a:xfrm>
            <a:off x="5568939" y="1837551"/>
            <a:ext cx="238433" cy="430887"/>
          </a:xfrm>
          <a:prstGeom prst="rect">
            <a:avLst/>
          </a:prstGeom>
          <a:noFill/>
        </p:spPr>
        <p:txBody>
          <a:bodyPr wrap="square" rtlCol="0">
            <a:spAutoFit/>
          </a:bodyPr>
          <a:lstStyle/>
          <a:p>
            <a:pPr defTabSz="914037" fontAlgn="auto">
              <a:spcBef>
                <a:spcPts val="0"/>
              </a:spcBef>
              <a:spcAft>
                <a:spcPts val="0"/>
              </a:spcAft>
            </a:pPr>
            <a:r>
              <a:rPr lang="en-US" altLang="zh-CN" sz="1100" dirty="0">
                <a:solidFill>
                  <a:prstClr val="black"/>
                </a:solidFill>
                <a:latin typeface="+mn-lt"/>
                <a:ea typeface="+mn-ea"/>
              </a:rPr>
              <a:t>VM</a:t>
            </a:r>
            <a:endParaRPr lang="zh-CN" altLang="en-US" sz="1100" dirty="0">
              <a:solidFill>
                <a:prstClr val="black"/>
              </a:solidFill>
              <a:latin typeface="+mn-lt"/>
              <a:ea typeface="+mn-ea"/>
            </a:endParaRPr>
          </a:p>
        </p:txBody>
      </p:sp>
      <p:sp>
        <p:nvSpPr>
          <p:cNvPr id="325" name="文本框 365"/>
          <p:cNvSpPr txBox="1"/>
          <p:nvPr/>
        </p:nvSpPr>
        <p:spPr>
          <a:xfrm>
            <a:off x="5926147" y="1837551"/>
            <a:ext cx="238433" cy="430887"/>
          </a:xfrm>
          <a:prstGeom prst="rect">
            <a:avLst/>
          </a:prstGeom>
          <a:noFill/>
        </p:spPr>
        <p:txBody>
          <a:bodyPr wrap="square" rtlCol="0">
            <a:spAutoFit/>
          </a:bodyPr>
          <a:lstStyle/>
          <a:p>
            <a:pPr defTabSz="914037" fontAlgn="auto">
              <a:spcBef>
                <a:spcPts val="0"/>
              </a:spcBef>
              <a:spcAft>
                <a:spcPts val="0"/>
              </a:spcAft>
            </a:pPr>
            <a:r>
              <a:rPr lang="en-US" altLang="zh-CN" sz="1100" dirty="0">
                <a:solidFill>
                  <a:prstClr val="black"/>
                </a:solidFill>
                <a:latin typeface="+mn-lt"/>
                <a:ea typeface="+mn-ea"/>
              </a:rPr>
              <a:t>VM</a:t>
            </a:r>
            <a:endParaRPr lang="zh-CN" altLang="en-US" sz="1100" dirty="0">
              <a:solidFill>
                <a:prstClr val="black"/>
              </a:solidFill>
              <a:latin typeface="+mn-lt"/>
              <a:ea typeface="+mn-ea"/>
            </a:endParaRPr>
          </a:p>
        </p:txBody>
      </p:sp>
      <p:sp>
        <p:nvSpPr>
          <p:cNvPr id="326" name="文本框 457"/>
          <p:cNvSpPr txBox="1"/>
          <p:nvPr/>
        </p:nvSpPr>
        <p:spPr>
          <a:xfrm>
            <a:off x="6784327" y="1837551"/>
            <a:ext cx="238433" cy="430887"/>
          </a:xfrm>
          <a:prstGeom prst="rect">
            <a:avLst/>
          </a:prstGeom>
          <a:noFill/>
        </p:spPr>
        <p:txBody>
          <a:bodyPr wrap="square" rtlCol="0">
            <a:spAutoFit/>
          </a:bodyPr>
          <a:lstStyle/>
          <a:p>
            <a:pPr defTabSz="914037" fontAlgn="auto">
              <a:spcBef>
                <a:spcPts val="0"/>
              </a:spcBef>
              <a:spcAft>
                <a:spcPts val="0"/>
              </a:spcAft>
            </a:pPr>
            <a:r>
              <a:rPr lang="en-US" altLang="zh-CN" sz="1100" dirty="0">
                <a:solidFill>
                  <a:prstClr val="black"/>
                </a:solidFill>
                <a:latin typeface="+mn-lt"/>
                <a:ea typeface="+mn-ea"/>
              </a:rPr>
              <a:t>VM</a:t>
            </a:r>
            <a:endParaRPr lang="zh-CN" altLang="en-US" sz="1100" dirty="0">
              <a:solidFill>
                <a:prstClr val="black"/>
              </a:solidFill>
              <a:latin typeface="+mn-lt"/>
              <a:ea typeface="+mn-ea"/>
            </a:endParaRPr>
          </a:p>
        </p:txBody>
      </p:sp>
      <p:sp>
        <p:nvSpPr>
          <p:cNvPr id="327" name="文本框 458"/>
          <p:cNvSpPr txBox="1"/>
          <p:nvPr/>
        </p:nvSpPr>
        <p:spPr>
          <a:xfrm>
            <a:off x="7100007" y="1837551"/>
            <a:ext cx="238433" cy="430887"/>
          </a:xfrm>
          <a:prstGeom prst="rect">
            <a:avLst/>
          </a:prstGeom>
          <a:noFill/>
        </p:spPr>
        <p:txBody>
          <a:bodyPr wrap="square" rtlCol="0">
            <a:spAutoFit/>
          </a:bodyPr>
          <a:lstStyle/>
          <a:p>
            <a:pPr defTabSz="914037" fontAlgn="auto">
              <a:spcBef>
                <a:spcPts val="0"/>
              </a:spcBef>
              <a:spcAft>
                <a:spcPts val="0"/>
              </a:spcAft>
            </a:pPr>
            <a:r>
              <a:rPr lang="en-US" altLang="zh-CN" sz="1100" dirty="0">
                <a:solidFill>
                  <a:prstClr val="black"/>
                </a:solidFill>
                <a:latin typeface="+mn-lt"/>
                <a:ea typeface="+mn-ea"/>
              </a:rPr>
              <a:t>VM</a:t>
            </a:r>
            <a:endParaRPr lang="zh-CN" altLang="en-US" sz="1100" dirty="0">
              <a:solidFill>
                <a:prstClr val="black"/>
              </a:solidFill>
              <a:latin typeface="+mn-lt"/>
              <a:ea typeface="+mn-ea"/>
            </a:endParaRPr>
          </a:p>
        </p:txBody>
      </p:sp>
      <p:sp>
        <p:nvSpPr>
          <p:cNvPr id="328" name="文本框 459"/>
          <p:cNvSpPr txBox="1"/>
          <p:nvPr/>
        </p:nvSpPr>
        <p:spPr>
          <a:xfrm>
            <a:off x="7991970" y="1837551"/>
            <a:ext cx="238433" cy="430887"/>
          </a:xfrm>
          <a:prstGeom prst="rect">
            <a:avLst/>
          </a:prstGeom>
          <a:noFill/>
        </p:spPr>
        <p:txBody>
          <a:bodyPr wrap="square" rtlCol="0">
            <a:spAutoFit/>
          </a:bodyPr>
          <a:lstStyle/>
          <a:p>
            <a:pPr defTabSz="914037" fontAlgn="auto">
              <a:spcBef>
                <a:spcPts val="0"/>
              </a:spcBef>
              <a:spcAft>
                <a:spcPts val="0"/>
              </a:spcAft>
            </a:pPr>
            <a:r>
              <a:rPr lang="en-US" altLang="zh-CN" sz="1100" dirty="0">
                <a:solidFill>
                  <a:prstClr val="black"/>
                </a:solidFill>
                <a:latin typeface="+mn-lt"/>
                <a:ea typeface="+mn-ea"/>
              </a:rPr>
              <a:t>VM</a:t>
            </a:r>
            <a:endParaRPr lang="zh-CN" altLang="en-US" sz="1100" dirty="0">
              <a:solidFill>
                <a:prstClr val="black"/>
              </a:solidFill>
              <a:latin typeface="+mn-lt"/>
              <a:ea typeface="+mn-ea"/>
            </a:endParaRPr>
          </a:p>
        </p:txBody>
      </p:sp>
      <p:sp>
        <p:nvSpPr>
          <p:cNvPr id="329" name="文本框 460"/>
          <p:cNvSpPr txBox="1"/>
          <p:nvPr/>
        </p:nvSpPr>
        <p:spPr>
          <a:xfrm>
            <a:off x="8352090" y="1837551"/>
            <a:ext cx="238433" cy="430887"/>
          </a:xfrm>
          <a:prstGeom prst="rect">
            <a:avLst/>
          </a:prstGeom>
          <a:noFill/>
        </p:spPr>
        <p:txBody>
          <a:bodyPr wrap="square" rtlCol="0">
            <a:spAutoFit/>
          </a:bodyPr>
          <a:lstStyle/>
          <a:p>
            <a:pPr defTabSz="914037" fontAlgn="auto">
              <a:spcBef>
                <a:spcPts val="0"/>
              </a:spcBef>
              <a:spcAft>
                <a:spcPts val="0"/>
              </a:spcAft>
            </a:pPr>
            <a:r>
              <a:rPr lang="en-US" altLang="zh-CN" sz="1100" dirty="0">
                <a:solidFill>
                  <a:prstClr val="black"/>
                </a:solidFill>
                <a:latin typeface="+mn-lt"/>
                <a:ea typeface="+mn-ea"/>
              </a:rPr>
              <a:t>VM</a:t>
            </a:r>
            <a:endParaRPr lang="zh-CN" altLang="en-US" sz="1100" dirty="0">
              <a:solidFill>
                <a:prstClr val="black"/>
              </a:solidFill>
              <a:latin typeface="+mn-lt"/>
              <a:ea typeface="+mn-ea"/>
            </a:endParaRPr>
          </a:p>
        </p:txBody>
      </p:sp>
      <p:sp>
        <p:nvSpPr>
          <p:cNvPr id="334" name="矩形 333"/>
          <p:cNvSpPr/>
          <p:nvPr/>
        </p:nvSpPr>
        <p:spPr bwMode="auto">
          <a:xfrm>
            <a:off x="6926496" y="3337504"/>
            <a:ext cx="294844"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35" name="矩形 334"/>
          <p:cNvSpPr/>
          <p:nvPr/>
        </p:nvSpPr>
        <p:spPr bwMode="auto">
          <a:xfrm>
            <a:off x="7368761" y="3337504"/>
            <a:ext cx="294844"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36" name="矩形 335"/>
          <p:cNvSpPr/>
          <p:nvPr/>
        </p:nvSpPr>
        <p:spPr bwMode="auto">
          <a:xfrm>
            <a:off x="5393308" y="3326241"/>
            <a:ext cx="294846"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37" name="矩形 336"/>
          <p:cNvSpPr/>
          <p:nvPr/>
        </p:nvSpPr>
        <p:spPr bwMode="auto">
          <a:xfrm>
            <a:off x="5688153" y="3326241"/>
            <a:ext cx="294846"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38" name="矩形 337"/>
          <p:cNvSpPr/>
          <p:nvPr/>
        </p:nvSpPr>
        <p:spPr bwMode="auto">
          <a:xfrm>
            <a:off x="6130419" y="3314978"/>
            <a:ext cx="294846"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39" name="矩形 338"/>
          <p:cNvSpPr/>
          <p:nvPr/>
        </p:nvSpPr>
        <p:spPr bwMode="auto">
          <a:xfrm>
            <a:off x="6631653" y="3337504"/>
            <a:ext cx="294844"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40" name="矩形 339"/>
          <p:cNvSpPr/>
          <p:nvPr/>
        </p:nvSpPr>
        <p:spPr bwMode="auto">
          <a:xfrm>
            <a:off x="8587453" y="3314978"/>
            <a:ext cx="294846"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41" name="矩形 340"/>
          <p:cNvSpPr/>
          <p:nvPr/>
        </p:nvSpPr>
        <p:spPr bwMode="auto">
          <a:xfrm>
            <a:off x="8145185" y="3337504"/>
            <a:ext cx="294846"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42" name="矩形 341"/>
          <p:cNvSpPr/>
          <p:nvPr/>
        </p:nvSpPr>
        <p:spPr bwMode="auto">
          <a:xfrm>
            <a:off x="7860167" y="3326241"/>
            <a:ext cx="294846" cy="698325"/>
          </a:xfrm>
          <a:prstGeom prst="rect">
            <a:avLst/>
          </a:prstGeom>
          <a:solidFill>
            <a:srgbClr val="00B0F0">
              <a:alpha val="2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2" tIns="45706" rIns="91412" bIns="45706" numCol="1" rtlCol="0" anchor="t" anchorCtr="0" compatLnSpc="1">
            <a:prstTxWarp prst="textNoShape">
              <a:avLst/>
            </a:prstTxWarp>
          </a:bodyPr>
          <a:lstStyle/>
          <a:p>
            <a:pPr defTabSz="914037" fontAlgn="auto">
              <a:spcBef>
                <a:spcPts val="0"/>
              </a:spcBef>
              <a:spcAft>
                <a:spcPts val="0"/>
              </a:spcAft>
              <a:buClr>
                <a:srgbClr val="CC9900"/>
              </a:buClr>
              <a:buFont typeface="Wingdings" pitchFamily="2" charset="2"/>
              <a:buChar char="n"/>
            </a:pPr>
            <a:endParaRPr lang="zh-CN" altLang="en-US" sz="1400" dirty="0">
              <a:solidFill>
                <a:prstClr val="black"/>
              </a:solidFill>
              <a:latin typeface="+mn-lt"/>
              <a:ea typeface="+mn-ea"/>
            </a:endParaRPr>
          </a:p>
        </p:txBody>
      </p:sp>
      <p:sp>
        <p:nvSpPr>
          <p:cNvPr id="345" name="TextBox 344"/>
          <p:cNvSpPr txBox="1"/>
          <p:nvPr/>
        </p:nvSpPr>
        <p:spPr>
          <a:xfrm>
            <a:off x="1684899" y="5085184"/>
            <a:ext cx="5508612" cy="1126462"/>
          </a:xfrm>
          <a:prstGeom prst="rect">
            <a:avLst/>
          </a:prstGeom>
          <a:noFill/>
        </p:spPr>
        <p:txBody>
          <a:bodyPr wrap="square" rtlCol="0">
            <a:spAutoFit/>
          </a:bodyPr>
          <a:lstStyle/>
          <a:p>
            <a:pPr marL="301625" indent="-301625" defTabSz="801688" fontAlgn="base">
              <a:lnSpc>
                <a:spcPct val="140000"/>
              </a:lnSpc>
              <a:spcBef>
                <a:spcPct val="30000"/>
              </a:spcBef>
              <a:buClr>
                <a:srgbClr val="808080"/>
              </a:buClr>
              <a:buSzPct val="60000"/>
              <a:buFont typeface="Wingdings" pitchFamily="2" charset="2"/>
              <a:buChar char="l"/>
            </a:pPr>
            <a:r>
              <a:rPr lang="zh-CN" altLang="en-US" sz="1400" dirty="0">
                <a:latin typeface="+mn-ea"/>
                <a:ea typeface="+mn-ea"/>
              </a:rPr>
              <a:t>分布式控制器，可线性扩展至</a:t>
            </a:r>
            <a:r>
              <a:rPr lang="en-US" altLang="zh-CN" sz="1400" dirty="0">
                <a:latin typeface="+mn-ea"/>
                <a:ea typeface="+mn-ea"/>
              </a:rPr>
              <a:t>4096</a:t>
            </a:r>
            <a:r>
              <a:rPr lang="zh-CN" altLang="en-US" sz="1400" dirty="0">
                <a:latin typeface="+mn-ea"/>
                <a:ea typeface="+mn-ea"/>
              </a:rPr>
              <a:t>节点</a:t>
            </a:r>
            <a:endParaRPr lang="en-US" altLang="zh-CN" sz="1400" dirty="0">
              <a:latin typeface="+mn-ea"/>
              <a:ea typeface="+mn-ea"/>
            </a:endParaRPr>
          </a:p>
          <a:p>
            <a:pPr marL="301625" indent="-301625" defTabSz="801688" fontAlgn="base">
              <a:lnSpc>
                <a:spcPct val="140000"/>
              </a:lnSpc>
              <a:spcBef>
                <a:spcPct val="30000"/>
              </a:spcBef>
              <a:buClr>
                <a:srgbClr val="808080"/>
              </a:buClr>
              <a:buSzPct val="60000"/>
              <a:buFont typeface="Wingdings" pitchFamily="2" charset="2"/>
              <a:buChar char="l"/>
            </a:pPr>
            <a:r>
              <a:rPr lang="zh-CN" altLang="en-US" sz="1400" dirty="0">
                <a:latin typeface="+mn-ea"/>
                <a:ea typeface="+mn-ea"/>
              </a:rPr>
              <a:t>分布式</a:t>
            </a:r>
            <a:r>
              <a:rPr lang="en-US" altLang="zh-CN" sz="1400" dirty="0">
                <a:latin typeface="+mn-ea"/>
                <a:ea typeface="+mn-ea"/>
              </a:rPr>
              <a:t>Cache</a:t>
            </a:r>
            <a:r>
              <a:rPr lang="zh-CN" altLang="en-US" sz="1400" dirty="0">
                <a:latin typeface="+mn-ea"/>
                <a:ea typeface="+mn-ea"/>
              </a:rPr>
              <a:t>，扩展至</a:t>
            </a:r>
            <a:r>
              <a:rPr lang="en-US" altLang="zh-CN" sz="1400" dirty="0">
                <a:latin typeface="+mn-ea"/>
                <a:ea typeface="+mn-ea"/>
              </a:rPr>
              <a:t>TB</a:t>
            </a:r>
            <a:r>
              <a:rPr lang="zh-CN" altLang="en-US" sz="1400" dirty="0">
                <a:latin typeface="+mn-ea"/>
                <a:ea typeface="+mn-ea"/>
              </a:rPr>
              <a:t>级</a:t>
            </a:r>
          </a:p>
          <a:p>
            <a:pPr marL="301625" indent="-301625" defTabSz="801688" fontAlgn="base">
              <a:lnSpc>
                <a:spcPct val="140000"/>
              </a:lnSpc>
              <a:spcBef>
                <a:spcPct val="30000"/>
              </a:spcBef>
              <a:buClr>
                <a:srgbClr val="808080"/>
              </a:buClr>
              <a:buSzPct val="60000"/>
              <a:buFont typeface="Wingdings" pitchFamily="2" charset="2"/>
              <a:buChar char="l"/>
            </a:pPr>
            <a:r>
              <a:rPr lang="en-US" altLang="zh-CN" sz="1400" dirty="0">
                <a:latin typeface="+mn-ea"/>
                <a:ea typeface="+mn-ea"/>
              </a:rPr>
              <a:t>P2P</a:t>
            </a:r>
            <a:r>
              <a:rPr lang="zh-CN" altLang="en-US" sz="1400" dirty="0">
                <a:latin typeface="+mn-ea"/>
                <a:ea typeface="+mn-ea"/>
              </a:rPr>
              <a:t>无阻塞高速</a:t>
            </a:r>
            <a:r>
              <a:rPr lang="en-US" altLang="zh-CN" sz="1400" dirty="0">
                <a:latin typeface="+mn-ea"/>
                <a:ea typeface="+mn-ea"/>
              </a:rPr>
              <a:t>IB</a:t>
            </a:r>
            <a:r>
              <a:rPr lang="zh-CN" altLang="en-US" sz="1400" dirty="0">
                <a:latin typeface="+mn-ea"/>
                <a:ea typeface="+mn-ea"/>
              </a:rPr>
              <a:t>网络，</a:t>
            </a:r>
            <a:r>
              <a:rPr lang="en-US" altLang="zh-CN" sz="1400" dirty="0">
                <a:latin typeface="+mn-ea"/>
                <a:ea typeface="+mn-ea"/>
              </a:rPr>
              <a:t>56G </a:t>
            </a:r>
            <a:r>
              <a:rPr lang="en-US" altLang="zh-CN" sz="1400" dirty="0" err="1">
                <a:latin typeface="+mn-ea"/>
                <a:ea typeface="+mn-ea"/>
              </a:rPr>
              <a:t>InfiniBand</a:t>
            </a:r>
            <a:r>
              <a:rPr lang="en-US" altLang="zh-CN" sz="1400" dirty="0">
                <a:latin typeface="+mn-ea"/>
                <a:ea typeface="+mn-ea"/>
              </a:rPr>
              <a:t> RDMA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defTabSz="914037" fontAlgn="auto">
              <a:spcAft>
                <a:spcPts val="0"/>
              </a:spcAft>
            </a:pPr>
            <a:r>
              <a:rPr lang="zh-CN" altLang="en-US" dirty="0">
                <a:sym typeface="+mn-lt"/>
              </a:rPr>
              <a:t>存储发展趋势：分布式存储快速增长</a:t>
            </a:r>
          </a:p>
        </p:txBody>
      </p:sp>
      <p:grpSp>
        <p:nvGrpSpPr>
          <p:cNvPr id="202" name="组合 201"/>
          <p:cNvGrpSpPr/>
          <p:nvPr/>
        </p:nvGrpSpPr>
        <p:grpSpPr>
          <a:xfrm>
            <a:off x="1847528" y="1376366"/>
            <a:ext cx="6300625" cy="4788939"/>
            <a:chOff x="4465343" y="892083"/>
            <a:chExt cx="4196649" cy="2557029"/>
          </a:xfrm>
        </p:grpSpPr>
        <p:pic>
          <p:nvPicPr>
            <p:cNvPr id="204" name="Picture 2" descr="D:\00 WorkingFolder\16 上市材料\07 FusionStorage\01 主打胶片\EnterpriseHypervisorProjection.png">
              <a:hlinkClick r:id="rId3"/>
            </p:cNvPr>
            <p:cNvPicPr>
              <a:picLocks noChangeAspect="1" noChangeArrowheads="1"/>
            </p:cNvPicPr>
            <p:nvPr/>
          </p:nvPicPr>
          <p:blipFill>
            <a:blip r:embed="rId4" cstate="print"/>
            <a:srcRect/>
            <a:stretch>
              <a:fillRect/>
            </a:stretch>
          </p:blipFill>
          <p:spPr bwMode="auto">
            <a:xfrm>
              <a:off x="4465343" y="892083"/>
              <a:ext cx="4196649" cy="2557029"/>
            </a:xfrm>
            <a:prstGeom prst="rect">
              <a:avLst/>
            </a:prstGeom>
            <a:noFill/>
          </p:spPr>
        </p:pic>
        <p:cxnSp>
          <p:nvCxnSpPr>
            <p:cNvPr id="205" name="直接箭头连接符 204"/>
            <p:cNvCxnSpPr/>
            <p:nvPr/>
          </p:nvCxnSpPr>
          <p:spPr bwMode="auto">
            <a:xfrm>
              <a:off x="6220794" y="1975767"/>
              <a:ext cx="4601" cy="973517"/>
            </a:xfrm>
            <a:prstGeom prst="straightConnector1">
              <a:avLst/>
            </a:prstGeom>
            <a:noFill/>
            <a:ln>
              <a:solidFill>
                <a:schemeClr val="tx1"/>
              </a:solidFill>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 name="TextBox 13"/>
            <p:cNvSpPr txBox="1"/>
            <p:nvPr/>
          </p:nvSpPr>
          <p:spPr>
            <a:xfrm>
              <a:off x="5874735" y="1782502"/>
              <a:ext cx="662415" cy="147902"/>
            </a:xfrm>
            <a:prstGeom prst="rect">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defTabSz="914037"/>
              <a:r>
                <a:rPr lang="zh-CN" altLang="en-US" sz="1200" dirty="0">
                  <a:solidFill>
                    <a:prstClr val="black"/>
                  </a:solidFill>
                  <a:latin typeface="+mn-ea"/>
                  <a:ea typeface="+mn-ea"/>
                  <a:cs typeface="+mn-ea"/>
                  <a:sym typeface="+mn-lt"/>
                </a:rPr>
                <a:t>现在</a:t>
              </a:r>
            </a:p>
          </p:txBody>
        </p:sp>
      </p:grpSp>
      <p:sp>
        <p:nvSpPr>
          <p:cNvPr id="208" name="圆角矩形 207"/>
          <p:cNvSpPr/>
          <p:nvPr/>
        </p:nvSpPr>
        <p:spPr bwMode="auto">
          <a:xfrm>
            <a:off x="8472264" y="1376364"/>
            <a:ext cx="1619982" cy="4788941"/>
          </a:xfrm>
          <a:prstGeom prst="roundRect">
            <a:avLst/>
          </a:prstGeom>
          <a:noFill/>
          <a:ln>
            <a:noFill/>
            <a:headEnd/>
            <a:tailEnd/>
          </a:ln>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wrap="square" lIns="16839" tIns="8419" rIns="16839" bIns="8419" anchor="ctr" anchorCtr="1">
            <a:noAutofit/>
          </a:bodyP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301625" indent="-301625" defTabSz="801688" eaLnBrk="0" hangingPunct="0">
              <a:lnSpc>
                <a:spcPct val="140000"/>
              </a:lnSpc>
              <a:spcBef>
                <a:spcPct val="30000"/>
              </a:spcBef>
              <a:buClr>
                <a:srgbClr val="808080"/>
              </a:buClr>
              <a:buSzPct val="60000"/>
              <a:buFont typeface="Wingdings" pitchFamily="2" charset="2"/>
              <a:buChar char="l"/>
            </a:pPr>
            <a:r>
              <a:rPr lang="en-US" altLang="zh-CN" sz="1200" dirty="0">
                <a:solidFill>
                  <a:schemeClr val="tx1"/>
                </a:solidFill>
                <a:latin typeface="+mn-ea"/>
                <a:sym typeface="+mn-lt"/>
              </a:rPr>
              <a:t>Server SAN</a:t>
            </a:r>
            <a:r>
              <a:rPr lang="zh-CN" altLang="en-US" sz="1200" dirty="0">
                <a:solidFill>
                  <a:schemeClr val="tx1"/>
                </a:solidFill>
                <a:latin typeface="+mn-ea"/>
                <a:sym typeface="+mn-lt"/>
              </a:rPr>
              <a:t>：</a:t>
            </a:r>
            <a:r>
              <a:rPr lang="en-US" altLang="zh-CN" sz="1200" dirty="0">
                <a:solidFill>
                  <a:schemeClr val="tx1"/>
                </a:solidFill>
                <a:latin typeface="+mn-ea"/>
                <a:sym typeface="+mn-lt"/>
              </a:rPr>
              <a:t> </a:t>
            </a:r>
            <a:r>
              <a:rPr lang="zh-CN" altLang="en-US" sz="1200" dirty="0">
                <a:solidFill>
                  <a:schemeClr val="tx1"/>
                </a:solidFill>
                <a:latin typeface="+mn-ea"/>
                <a:sym typeface="+mn-lt"/>
              </a:rPr>
              <a:t>由多个独立服务器自带的存储组成一个存储资源池，同时融合了计算和存储资源</a:t>
            </a:r>
            <a:endParaRPr lang="en-US" altLang="zh-CN" sz="1200" dirty="0">
              <a:solidFill>
                <a:schemeClr val="tx1"/>
              </a:solidFill>
              <a:latin typeface="+mn-ea"/>
              <a:sym typeface="+mn-lt"/>
            </a:endParaRPr>
          </a:p>
          <a:p>
            <a:pPr marL="301625" indent="-301625" defTabSz="801688" eaLnBrk="0" hangingPunct="0">
              <a:lnSpc>
                <a:spcPct val="140000"/>
              </a:lnSpc>
              <a:spcBef>
                <a:spcPct val="30000"/>
              </a:spcBef>
              <a:buClr>
                <a:srgbClr val="808080"/>
              </a:buClr>
              <a:buSzPct val="60000"/>
              <a:buFont typeface="Wingdings" pitchFamily="2" charset="2"/>
              <a:buChar char="l"/>
            </a:pPr>
            <a:r>
              <a:rPr lang="zh-CN" altLang="en-US" sz="1200" dirty="0">
                <a:solidFill>
                  <a:schemeClr val="tx1"/>
                </a:solidFill>
                <a:latin typeface="+mn-ea"/>
                <a:sym typeface="+mn-lt"/>
              </a:rPr>
              <a:t>专有设备变通用设备</a:t>
            </a:r>
            <a:endParaRPr lang="en-US" altLang="zh-CN" sz="1200" dirty="0">
              <a:solidFill>
                <a:schemeClr val="tx1"/>
              </a:solidFill>
              <a:latin typeface="+mn-ea"/>
              <a:sym typeface="+mn-lt"/>
            </a:endParaRPr>
          </a:p>
          <a:p>
            <a:pPr marL="301625" indent="-301625" defTabSz="801688" eaLnBrk="0" hangingPunct="0">
              <a:lnSpc>
                <a:spcPct val="140000"/>
              </a:lnSpc>
              <a:spcBef>
                <a:spcPct val="30000"/>
              </a:spcBef>
              <a:buClr>
                <a:srgbClr val="808080"/>
              </a:buClr>
              <a:buSzPct val="60000"/>
              <a:buFont typeface="Wingdings" pitchFamily="2" charset="2"/>
              <a:buChar char="l"/>
            </a:pPr>
            <a:r>
              <a:rPr lang="zh-CN" altLang="en-US" sz="1200" dirty="0">
                <a:solidFill>
                  <a:schemeClr val="tx1"/>
                </a:solidFill>
                <a:latin typeface="+mn-ea"/>
                <a:sym typeface="+mn-lt"/>
              </a:rPr>
              <a:t>计算与存储线性扩展</a:t>
            </a:r>
          </a:p>
          <a:p>
            <a:pPr marL="301625" indent="-301625" defTabSz="801688" eaLnBrk="0" hangingPunct="0">
              <a:lnSpc>
                <a:spcPct val="140000"/>
              </a:lnSpc>
              <a:spcBef>
                <a:spcPct val="30000"/>
              </a:spcBef>
              <a:buClr>
                <a:srgbClr val="808080"/>
              </a:buClr>
              <a:buSzPct val="60000"/>
              <a:buFont typeface="Wingdings" pitchFamily="2" charset="2"/>
              <a:buChar char="l"/>
            </a:pPr>
            <a:r>
              <a:rPr lang="zh-CN" altLang="en-US" sz="1200" dirty="0">
                <a:solidFill>
                  <a:schemeClr val="tx1"/>
                </a:solidFill>
                <a:latin typeface="+mn-ea"/>
                <a:sym typeface="+mn-lt"/>
              </a:rPr>
              <a:t>简单管理、低</a:t>
            </a:r>
            <a:r>
              <a:rPr lang="en-US" altLang="zh-CN" sz="1200" dirty="0">
                <a:solidFill>
                  <a:schemeClr val="tx1"/>
                </a:solidFill>
                <a:latin typeface="+mn-ea"/>
                <a:sym typeface="+mn-lt"/>
              </a:rPr>
              <a:t>TCO</a:t>
            </a:r>
            <a:endParaRPr lang="zh-CN" altLang="en-US" sz="1200" dirty="0">
              <a:solidFill>
                <a:schemeClr val="tx1"/>
              </a:solidFill>
              <a:latin typeface="+mn-ea"/>
              <a:sym typeface="+mn-lt"/>
            </a:endParaRPr>
          </a:p>
          <a:p>
            <a:pPr defTabSz="587753" eaLnBrk="0" hangingPunct="0">
              <a:buClr>
                <a:srgbClr val="CC9900"/>
              </a:buClr>
              <a:buSzPct val="60000"/>
            </a:pPr>
            <a:endParaRPr lang="zh-CN" altLang="en-US" sz="1400" dirty="0">
              <a:solidFill>
                <a:prstClr val="black"/>
              </a:solidFill>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1"/>
          <p:cNvSpPr/>
          <p:nvPr/>
        </p:nvSpPr>
        <p:spPr bwMode="auto">
          <a:xfrm>
            <a:off x="6431011" y="1233488"/>
            <a:ext cx="5041853" cy="5148262"/>
          </a:xfrm>
          <a:prstGeom prst="rect">
            <a:avLst/>
          </a:prstGeom>
          <a:solidFill>
            <a:srgbClr val="CCE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endParaRPr>
          </a:p>
        </p:txBody>
      </p:sp>
      <p:sp>
        <p:nvSpPr>
          <p:cNvPr id="18" name="矩形 17"/>
          <p:cNvSpPr/>
          <p:nvPr/>
        </p:nvSpPr>
        <p:spPr bwMode="auto">
          <a:xfrm>
            <a:off x="1006309" y="1233488"/>
            <a:ext cx="5413727" cy="5148262"/>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endParaRPr>
          </a:p>
        </p:txBody>
      </p:sp>
      <p:sp>
        <p:nvSpPr>
          <p:cNvPr id="3" name="标题 2"/>
          <p:cNvSpPr>
            <a:spLocks noGrp="1"/>
          </p:cNvSpPr>
          <p:nvPr>
            <p:ph type="title"/>
          </p:nvPr>
        </p:nvSpPr>
        <p:spPr/>
        <p:txBody>
          <a:bodyPr/>
          <a:lstStyle/>
          <a:p>
            <a:r>
              <a:rPr lang="en-US" altLang="zh-CN" dirty="0">
                <a:sym typeface="微软雅黑" panose="020B0503020204020204" pitchFamily="34" charset="-122"/>
              </a:rPr>
              <a:t>SDS</a:t>
            </a:r>
            <a:r>
              <a:rPr lang="zh-CN" altLang="en-US" dirty="0">
                <a:sym typeface="微软雅黑" panose="020B0503020204020204" pitchFamily="34" charset="-122"/>
              </a:rPr>
              <a:t>与传统存储对比</a:t>
            </a:r>
            <a:r>
              <a:rPr lang="en-US" altLang="zh-CN" dirty="0">
                <a:sym typeface="微软雅黑" panose="020B0503020204020204" pitchFamily="34" charset="-122"/>
              </a:rPr>
              <a:t> - </a:t>
            </a:r>
            <a:r>
              <a:rPr lang="zh-CN" altLang="en-US" dirty="0">
                <a:sym typeface="微软雅黑" panose="020B0503020204020204" pitchFamily="34" charset="-122"/>
              </a:rPr>
              <a:t>存储管理</a:t>
            </a:r>
          </a:p>
        </p:txBody>
      </p:sp>
      <p:sp>
        <p:nvSpPr>
          <p:cNvPr id="2" name="圆角矩形 1"/>
          <p:cNvSpPr/>
          <p:nvPr/>
        </p:nvSpPr>
        <p:spPr bwMode="auto">
          <a:xfrm>
            <a:off x="1149020" y="1572654"/>
            <a:ext cx="2340261" cy="319370"/>
          </a:xfrm>
          <a:prstGeom prst="roundRect">
            <a:avLst/>
          </a:prstGeom>
          <a:solidFill>
            <a:srgbClr val="00206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LUN</a:t>
            </a:r>
            <a:r>
              <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rPr>
              <a:t>数量有限，存储不感知</a:t>
            </a: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VM</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8" name="圆角矩形 7"/>
          <p:cNvSpPr/>
          <p:nvPr/>
        </p:nvSpPr>
        <p:spPr bwMode="auto">
          <a:xfrm>
            <a:off x="3669301" y="1572654"/>
            <a:ext cx="828092" cy="319370"/>
          </a:xfrm>
          <a:prstGeom prst="roundRect">
            <a:avLst/>
          </a:prstGeom>
          <a:solidFill>
            <a:srgbClr val="00206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mn-ea"/>
                <a:ea typeface="+mn-ea"/>
                <a:sym typeface="微软雅黑" panose="020B0503020204020204" pitchFamily="34" charset="-122"/>
              </a:rPr>
              <a:t>扩展困难</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9" name="圆角矩形 8"/>
          <p:cNvSpPr/>
          <p:nvPr/>
        </p:nvSpPr>
        <p:spPr bwMode="auto">
          <a:xfrm>
            <a:off x="1581068" y="2006970"/>
            <a:ext cx="2284863" cy="321768"/>
          </a:xfrm>
          <a:prstGeom prst="roundRect">
            <a:avLst/>
          </a:prstGeom>
          <a:solidFill>
            <a:srgbClr val="00206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LUN</a:t>
            </a:r>
            <a:r>
              <a:rPr lang="zh-CN" altLang="en-US" sz="1200" dirty="0">
                <a:solidFill>
                  <a:schemeClr val="bg1"/>
                </a:solidFill>
                <a:latin typeface="+mn-ea"/>
                <a:ea typeface="+mn-ea"/>
                <a:sym typeface="微软雅黑" panose="020B0503020204020204" pitchFamily="34" charset="-122"/>
              </a:rPr>
              <a:t>配置复杂</a:t>
            </a:r>
            <a:r>
              <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rPr>
              <a:t>，修改配置困难</a:t>
            </a:r>
          </a:p>
        </p:txBody>
      </p:sp>
      <p:sp>
        <p:nvSpPr>
          <p:cNvPr id="10" name="圆角矩形 9"/>
          <p:cNvSpPr/>
          <p:nvPr/>
        </p:nvSpPr>
        <p:spPr bwMode="auto">
          <a:xfrm>
            <a:off x="1144331" y="2466504"/>
            <a:ext cx="3389066" cy="294282"/>
          </a:xfrm>
          <a:prstGeom prst="roundRect">
            <a:avLst/>
          </a:prstGeom>
          <a:solidFill>
            <a:srgbClr val="00206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mn-ea"/>
                <a:ea typeface="+mn-ea"/>
                <a:sym typeface="微软雅黑" panose="020B0503020204020204" pitchFamily="34" charset="-122"/>
              </a:rPr>
              <a:t>多</a:t>
            </a:r>
            <a:r>
              <a:rPr lang="en-US" altLang="zh-CN" sz="1200" dirty="0">
                <a:solidFill>
                  <a:schemeClr val="bg1"/>
                </a:solidFill>
                <a:latin typeface="+mn-ea"/>
                <a:ea typeface="+mn-ea"/>
                <a:sym typeface="微软雅黑" panose="020B0503020204020204" pitchFamily="34" charset="-122"/>
              </a:rPr>
              <a:t>VM</a:t>
            </a:r>
            <a:r>
              <a:rPr lang="zh-CN" altLang="en-US" sz="1200" dirty="0">
                <a:solidFill>
                  <a:schemeClr val="bg1"/>
                </a:solidFill>
                <a:latin typeface="+mn-ea"/>
                <a:ea typeface="+mn-ea"/>
                <a:sym typeface="微软雅黑" panose="020B0503020204020204" pitchFamily="34" charset="-122"/>
              </a:rPr>
              <a:t>运行同一个</a:t>
            </a:r>
            <a:r>
              <a:rPr lang="en-US" altLang="zh-CN" sz="1200" dirty="0">
                <a:solidFill>
                  <a:schemeClr val="bg1"/>
                </a:solidFill>
                <a:latin typeface="+mn-ea"/>
                <a:ea typeface="+mn-ea"/>
                <a:sym typeface="微软雅黑" panose="020B0503020204020204" pitchFamily="34" charset="-122"/>
              </a:rPr>
              <a:t>LUN</a:t>
            </a:r>
            <a:r>
              <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rPr>
              <a:t>，</a:t>
            </a:r>
            <a:r>
              <a:rPr lang="zh-CN" altLang="en-US" sz="1200" dirty="0">
                <a:solidFill>
                  <a:schemeClr val="bg1"/>
                </a:solidFill>
                <a:latin typeface="+mn-ea"/>
                <a:ea typeface="+mn-ea"/>
                <a:sym typeface="微软雅黑" panose="020B0503020204020204" pitchFamily="34" charset="-122"/>
              </a:rPr>
              <a:t>存在</a:t>
            </a:r>
            <a:r>
              <a:rPr lang="en-US" altLang="zh-CN" sz="1200" dirty="0">
                <a:solidFill>
                  <a:schemeClr val="bg1"/>
                </a:solidFill>
                <a:latin typeface="+mn-ea"/>
                <a:ea typeface="+mn-ea"/>
                <a:sym typeface="微软雅黑" panose="020B0503020204020204" pitchFamily="34" charset="-122"/>
              </a:rPr>
              <a:t>IO blending</a:t>
            </a:r>
            <a:r>
              <a:rPr lang="zh-CN" altLang="en-US" sz="1200" dirty="0">
                <a:solidFill>
                  <a:schemeClr val="bg1"/>
                </a:solidFill>
                <a:latin typeface="+mn-ea"/>
                <a:ea typeface="+mn-ea"/>
                <a:sym typeface="微软雅黑" panose="020B0503020204020204" pitchFamily="34" charset="-122"/>
              </a:rPr>
              <a:t>问题</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13" name="右箭头 12"/>
          <p:cNvSpPr/>
          <p:nvPr/>
        </p:nvSpPr>
        <p:spPr bwMode="auto">
          <a:xfrm>
            <a:off x="4533397" y="2076710"/>
            <a:ext cx="618976" cy="252028"/>
          </a:xfrm>
          <a:prstGeom prst="rightArrow">
            <a:avLst/>
          </a:prstGeom>
          <a:solidFill>
            <a:schemeClr val="bg1">
              <a:lumMod val="7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14" name="文本框 13"/>
          <p:cNvSpPr txBox="1"/>
          <p:nvPr/>
        </p:nvSpPr>
        <p:spPr bwMode="auto">
          <a:xfrm>
            <a:off x="5109461" y="2481297"/>
            <a:ext cx="965489"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b="1" dirty="0">
                <a:solidFill>
                  <a:srgbClr val="C00000"/>
                </a:solidFill>
                <a:latin typeface="+mn-ea"/>
                <a:ea typeface="+mn-ea"/>
                <a:sym typeface="微软雅黑" panose="020B0503020204020204" pitchFamily="34" charset="-122"/>
              </a:rPr>
              <a:t>如何解决？</a:t>
            </a:r>
          </a:p>
        </p:txBody>
      </p:sp>
      <p:sp>
        <p:nvSpPr>
          <p:cNvPr id="15" name="圆角矩形 14"/>
          <p:cNvSpPr/>
          <p:nvPr/>
        </p:nvSpPr>
        <p:spPr bwMode="auto">
          <a:xfrm>
            <a:off x="1056474" y="3367794"/>
            <a:ext cx="559900" cy="270756"/>
          </a:xfrm>
          <a:prstGeom prst="roundRect">
            <a:avLst/>
          </a:prstGeom>
          <a:solidFill>
            <a:srgbClr val="B35A2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App</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pic>
        <p:nvPicPr>
          <p:cNvPr id="16" name="图片 15"/>
          <p:cNvPicPr>
            <a:picLocks noChangeAspect="1"/>
          </p:cNvPicPr>
          <p:nvPr/>
        </p:nvPicPr>
        <p:blipFill>
          <a:blip r:embed="rId3"/>
          <a:stretch>
            <a:fillRect/>
          </a:stretch>
        </p:blipFill>
        <p:spPr>
          <a:xfrm>
            <a:off x="1006309" y="3710919"/>
            <a:ext cx="617984" cy="177671"/>
          </a:xfrm>
          <a:prstGeom prst="rect">
            <a:avLst/>
          </a:prstGeom>
        </p:spPr>
      </p:pic>
      <p:sp>
        <p:nvSpPr>
          <p:cNvPr id="21" name="右箭头 20"/>
          <p:cNvSpPr/>
          <p:nvPr/>
        </p:nvSpPr>
        <p:spPr bwMode="auto">
          <a:xfrm>
            <a:off x="3038984" y="3411631"/>
            <a:ext cx="1027414" cy="227127"/>
          </a:xfrm>
          <a:prstGeom prst="rightArrow">
            <a:avLst/>
          </a:prstGeom>
          <a:solidFill>
            <a:schemeClr val="bg1">
              <a:lumMod val="7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22" name="文本框 21"/>
          <p:cNvSpPr txBox="1"/>
          <p:nvPr/>
        </p:nvSpPr>
        <p:spPr bwMode="auto">
          <a:xfrm>
            <a:off x="2953640" y="3176092"/>
            <a:ext cx="1228366"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b="1" dirty="0">
                <a:latin typeface="+mn-ea"/>
                <a:ea typeface="+mn-ea"/>
                <a:sym typeface="微软雅黑" panose="020B0503020204020204" pitchFamily="34" charset="-122"/>
              </a:rPr>
              <a:t>Virtualization</a:t>
            </a:r>
            <a:endParaRPr lang="zh-CN" altLang="en-US" sz="1200" b="1" dirty="0">
              <a:latin typeface="+mn-ea"/>
              <a:ea typeface="+mn-ea"/>
              <a:sym typeface="微软雅黑" panose="020B0503020204020204" pitchFamily="34" charset="-122"/>
            </a:endParaRPr>
          </a:p>
        </p:txBody>
      </p:sp>
      <p:sp>
        <p:nvSpPr>
          <p:cNvPr id="23" name="圆角矩形 22"/>
          <p:cNvSpPr/>
          <p:nvPr/>
        </p:nvSpPr>
        <p:spPr bwMode="auto">
          <a:xfrm>
            <a:off x="4137353" y="3005312"/>
            <a:ext cx="488207" cy="307443"/>
          </a:xfrm>
          <a:prstGeom prst="round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VM</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24" name="圆角矩形 23"/>
          <p:cNvSpPr/>
          <p:nvPr/>
        </p:nvSpPr>
        <p:spPr bwMode="auto">
          <a:xfrm>
            <a:off x="4677413" y="3014350"/>
            <a:ext cx="497148" cy="285764"/>
          </a:xfrm>
          <a:prstGeom prst="round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VM</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25" name="圆角矩形 24"/>
          <p:cNvSpPr/>
          <p:nvPr/>
        </p:nvSpPr>
        <p:spPr bwMode="auto">
          <a:xfrm>
            <a:off x="1712242" y="3381055"/>
            <a:ext cx="559900" cy="270756"/>
          </a:xfrm>
          <a:prstGeom prst="roundRect">
            <a:avLst/>
          </a:prstGeom>
          <a:solidFill>
            <a:srgbClr val="B35A2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App</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26" name="圆角矩形 25"/>
          <p:cNvSpPr/>
          <p:nvPr/>
        </p:nvSpPr>
        <p:spPr bwMode="auto">
          <a:xfrm>
            <a:off x="2396755" y="3381055"/>
            <a:ext cx="559900" cy="270756"/>
          </a:xfrm>
          <a:prstGeom prst="roundRect">
            <a:avLst/>
          </a:prstGeom>
          <a:solidFill>
            <a:srgbClr val="B35A2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App</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pic>
        <p:nvPicPr>
          <p:cNvPr id="27" name="图片 26"/>
          <p:cNvPicPr>
            <a:picLocks noChangeAspect="1"/>
          </p:cNvPicPr>
          <p:nvPr/>
        </p:nvPicPr>
        <p:blipFill>
          <a:blip r:embed="rId3"/>
          <a:stretch>
            <a:fillRect/>
          </a:stretch>
        </p:blipFill>
        <p:spPr>
          <a:xfrm>
            <a:off x="1667518" y="3726168"/>
            <a:ext cx="617984" cy="177671"/>
          </a:xfrm>
          <a:prstGeom prst="rect">
            <a:avLst/>
          </a:prstGeom>
        </p:spPr>
      </p:pic>
      <p:pic>
        <p:nvPicPr>
          <p:cNvPr id="28" name="图片 27"/>
          <p:cNvPicPr>
            <a:picLocks noChangeAspect="1"/>
          </p:cNvPicPr>
          <p:nvPr/>
        </p:nvPicPr>
        <p:blipFill>
          <a:blip r:embed="rId3"/>
          <a:stretch>
            <a:fillRect/>
          </a:stretch>
        </p:blipFill>
        <p:spPr>
          <a:xfrm>
            <a:off x="2338671" y="3726168"/>
            <a:ext cx="617984" cy="177671"/>
          </a:xfrm>
          <a:prstGeom prst="rect">
            <a:avLst/>
          </a:prstGeom>
        </p:spPr>
      </p:pic>
      <p:sp>
        <p:nvSpPr>
          <p:cNvPr id="29" name="圆角矩形 28"/>
          <p:cNvSpPr/>
          <p:nvPr/>
        </p:nvSpPr>
        <p:spPr bwMode="auto">
          <a:xfrm>
            <a:off x="5217473" y="3026992"/>
            <a:ext cx="497148" cy="285764"/>
          </a:xfrm>
          <a:prstGeom prst="round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VM</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30" name="圆角矩形 29"/>
          <p:cNvSpPr/>
          <p:nvPr/>
        </p:nvSpPr>
        <p:spPr bwMode="auto">
          <a:xfrm>
            <a:off x="5757533" y="3026992"/>
            <a:ext cx="497148" cy="285764"/>
          </a:xfrm>
          <a:prstGeom prst="round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VM</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31" name="圆角矩形 30"/>
          <p:cNvSpPr/>
          <p:nvPr/>
        </p:nvSpPr>
        <p:spPr bwMode="auto">
          <a:xfrm>
            <a:off x="4125476" y="3408822"/>
            <a:ext cx="2090655" cy="282456"/>
          </a:xfrm>
          <a:prstGeom prst="roundRect">
            <a:avLst/>
          </a:prstGeom>
          <a:solidFill>
            <a:srgbClr val="00206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mn-ea"/>
                <a:ea typeface="+mn-ea"/>
                <a:sym typeface="微软雅黑" panose="020B0503020204020204" pitchFamily="34" charset="-122"/>
              </a:rPr>
              <a:t>Hypervisor(KVM)</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pic>
        <p:nvPicPr>
          <p:cNvPr id="32" name="图片 31"/>
          <p:cNvPicPr>
            <a:picLocks noChangeAspect="1"/>
          </p:cNvPicPr>
          <p:nvPr/>
        </p:nvPicPr>
        <p:blipFill>
          <a:blip r:embed="rId3"/>
          <a:stretch>
            <a:fillRect/>
          </a:stretch>
        </p:blipFill>
        <p:spPr>
          <a:xfrm>
            <a:off x="4072464" y="3804412"/>
            <a:ext cx="617984" cy="177671"/>
          </a:xfrm>
          <a:prstGeom prst="rect">
            <a:avLst/>
          </a:prstGeom>
        </p:spPr>
      </p:pic>
      <p:pic>
        <p:nvPicPr>
          <p:cNvPr id="33" name="图片 32"/>
          <p:cNvPicPr>
            <a:picLocks noChangeAspect="1"/>
          </p:cNvPicPr>
          <p:nvPr/>
        </p:nvPicPr>
        <p:blipFill>
          <a:blip r:embed="rId3"/>
          <a:stretch>
            <a:fillRect/>
          </a:stretch>
        </p:blipFill>
        <p:spPr>
          <a:xfrm>
            <a:off x="4777560" y="3804412"/>
            <a:ext cx="617984" cy="177671"/>
          </a:xfrm>
          <a:prstGeom prst="rect">
            <a:avLst/>
          </a:prstGeom>
        </p:spPr>
      </p:pic>
      <p:pic>
        <p:nvPicPr>
          <p:cNvPr id="34" name="图片 33"/>
          <p:cNvPicPr>
            <a:picLocks noChangeAspect="1"/>
          </p:cNvPicPr>
          <p:nvPr/>
        </p:nvPicPr>
        <p:blipFill>
          <a:blip r:embed="rId3"/>
          <a:stretch>
            <a:fillRect/>
          </a:stretch>
        </p:blipFill>
        <p:spPr>
          <a:xfrm>
            <a:off x="5482657" y="3804412"/>
            <a:ext cx="617984" cy="177671"/>
          </a:xfrm>
          <a:prstGeom prst="rect">
            <a:avLst/>
          </a:prstGeom>
        </p:spPr>
      </p:pic>
      <p:sp>
        <p:nvSpPr>
          <p:cNvPr id="35" name="上下箭头 34"/>
          <p:cNvSpPr/>
          <p:nvPr/>
        </p:nvSpPr>
        <p:spPr bwMode="auto">
          <a:xfrm>
            <a:off x="1868196" y="3932144"/>
            <a:ext cx="216627" cy="425646"/>
          </a:xfrm>
          <a:prstGeom prst="upDownArrow">
            <a:avLst/>
          </a:prstGeom>
          <a:solidFill>
            <a:schemeClr val="bg1">
              <a:lumMod val="75000"/>
            </a:schemeClr>
          </a:solid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pic>
        <p:nvPicPr>
          <p:cNvPr id="36" name="图片 35"/>
          <p:cNvPicPr>
            <a:picLocks noChangeAspect="1"/>
          </p:cNvPicPr>
          <p:nvPr/>
        </p:nvPicPr>
        <p:blipFill>
          <a:blip r:embed="rId4"/>
          <a:stretch>
            <a:fillRect/>
          </a:stretch>
        </p:blipFill>
        <p:spPr>
          <a:xfrm>
            <a:off x="1073950" y="4450559"/>
            <a:ext cx="704850" cy="533400"/>
          </a:xfrm>
          <a:prstGeom prst="rect">
            <a:avLst/>
          </a:prstGeom>
        </p:spPr>
      </p:pic>
      <p:pic>
        <p:nvPicPr>
          <p:cNvPr id="38" name="图片 37"/>
          <p:cNvPicPr>
            <a:picLocks noChangeAspect="1"/>
          </p:cNvPicPr>
          <p:nvPr/>
        </p:nvPicPr>
        <p:blipFill>
          <a:blip r:embed="rId5"/>
          <a:stretch>
            <a:fillRect/>
          </a:stretch>
        </p:blipFill>
        <p:spPr>
          <a:xfrm>
            <a:off x="1833097" y="4427317"/>
            <a:ext cx="628650" cy="628650"/>
          </a:xfrm>
          <a:prstGeom prst="rect">
            <a:avLst/>
          </a:prstGeom>
        </p:spPr>
      </p:pic>
      <p:pic>
        <p:nvPicPr>
          <p:cNvPr id="39" name="图片 38"/>
          <p:cNvPicPr>
            <a:picLocks noChangeAspect="1"/>
          </p:cNvPicPr>
          <p:nvPr/>
        </p:nvPicPr>
        <p:blipFill>
          <a:blip r:embed="rId4"/>
          <a:stretch>
            <a:fillRect/>
          </a:stretch>
        </p:blipFill>
        <p:spPr>
          <a:xfrm>
            <a:off x="4476619" y="4450559"/>
            <a:ext cx="704850" cy="533400"/>
          </a:xfrm>
          <a:prstGeom prst="rect">
            <a:avLst/>
          </a:prstGeom>
        </p:spPr>
      </p:pic>
      <p:pic>
        <p:nvPicPr>
          <p:cNvPr id="40" name="图片 39"/>
          <p:cNvPicPr>
            <a:picLocks noChangeAspect="1"/>
          </p:cNvPicPr>
          <p:nvPr/>
        </p:nvPicPr>
        <p:blipFill>
          <a:blip r:embed="rId5"/>
          <a:stretch>
            <a:fillRect/>
          </a:stretch>
        </p:blipFill>
        <p:spPr>
          <a:xfrm>
            <a:off x="5308903" y="4368197"/>
            <a:ext cx="628650" cy="628650"/>
          </a:xfrm>
          <a:prstGeom prst="rect">
            <a:avLst/>
          </a:prstGeom>
        </p:spPr>
      </p:pic>
      <p:sp>
        <p:nvSpPr>
          <p:cNvPr id="41" name="上下箭头 40"/>
          <p:cNvSpPr/>
          <p:nvPr/>
        </p:nvSpPr>
        <p:spPr bwMode="auto">
          <a:xfrm>
            <a:off x="5077649" y="3928846"/>
            <a:ext cx="216627" cy="425646"/>
          </a:xfrm>
          <a:prstGeom prst="upDownArrow">
            <a:avLst/>
          </a:prstGeom>
          <a:solidFill>
            <a:schemeClr val="bg1">
              <a:lumMod val="75000"/>
            </a:schemeClr>
          </a:solid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42" name="文本框 41"/>
          <p:cNvSpPr txBox="1"/>
          <p:nvPr/>
        </p:nvSpPr>
        <p:spPr bwMode="auto">
          <a:xfrm>
            <a:off x="1146999" y="4998666"/>
            <a:ext cx="552669"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SAN</a:t>
            </a:r>
            <a:endParaRPr lang="zh-CN" altLang="en-US" sz="1200" dirty="0">
              <a:latin typeface="+mn-ea"/>
              <a:ea typeface="+mn-ea"/>
              <a:sym typeface="微软雅黑" panose="020B0503020204020204" pitchFamily="34" charset="-122"/>
            </a:endParaRPr>
          </a:p>
        </p:txBody>
      </p:sp>
      <p:sp>
        <p:nvSpPr>
          <p:cNvPr id="43" name="文本框 42"/>
          <p:cNvSpPr txBox="1"/>
          <p:nvPr/>
        </p:nvSpPr>
        <p:spPr bwMode="auto">
          <a:xfrm>
            <a:off x="4625278" y="4994578"/>
            <a:ext cx="552669"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SAN</a:t>
            </a:r>
            <a:endParaRPr lang="zh-CN" altLang="en-US" sz="1200" dirty="0">
              <a:latin typeface="+mn-ea"/>
              <a:ea typeface="+mn-ea"/>
              <a:sym typeface="微软雅黑" panose="020B0503020204020204" pitchFamily="34" charset="-122"/>
            </a:endParaRPr>
          </a:p>
        </p:txBody>
      </p:sp>
      <p:sp>
        <p:nvSpPr>
          <p:cNvPr id="44" name="文本框 43"/>
          <p:cNvSpPr txBox="1"/>
          <p:nvPr/>
        </p:nvSpPr>
        <p:spPr bwMode="auto">
          <a:xfrm>
            <a:off x="1863916" y="5019963"/>
            <a:ext cx="552669"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NAS</a:t>
            </a:r>
            <a:endParaRPr lang="zh-CN" altLang="en-US" sz="1200" dirty="0">
              <a:latin typeface="+mn-ea"/>
              <a:ea typeface="+mn-ea"/>
              <a:sym typeface="微软雅黑" panose="020B0503020204020204" pitchFamily="34" charset="-122"/>
            </a:endParaRPr>
          </a:p>
        </p:txBody>
      </p:sp>
      <p:sp>
        <p:nvSpPr>
          <p:cNvPr id="45" name="文本框 44"/>
          <p:cNvSpPr txBox="1"/>
          <p:nvPr/>
        </p:nvSpPr>
        <p:spPr bwMode="auto">
          <a:xfrm>
            <a:off x="5348880" y="5034670"/>
            <a:ext cx="552669"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NAS</a:t>
            </a:r>
            <a:endParaRPr lang="zh-CN" altLang="en-US" sz="1200" dirty="0">
              <a:latin typeface="+mn-ea"/>
              <a:ea typeface="+mn-ea"/>
              <a:sym typeface="微软雅黑" panose="020B0503020204020204" pitchFamily="34" charset="-122"/>
            </a:endParaRPr>
          </a:p>
        </p:txBody>
      </p:sp>
      <p:sp>
        <p:nvSpPr>
          <p:cNvPr id="46" name="文本框 45"/>
          <p:cNvSpPr txBox="1"/>
          <p:nvPr/>
        </p:nvSpPr>
        <p:spPr bwMode="auto">
          <a:xfrm>
            <a:off x="2452153" y="4630904"/>
            <a:ext cx="2239491"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200" b="1" dirty="0">
                <a:solidFill>
                  <a:srgbClr val="002060"/>
                </a:solidFill>
                <a:latin typeface="+mn-ea"/>
                <a:ea typeface="+mn-ea"/>
                <a:sym typeface="微软雅黑" panose="020B0503020204020204" pitchFamily="34" charset="-122"/>
              </a:rPr>
              <a:t>创建</a:t>
            </a:r>
            <a:r>
              <a:rPr lang="en-US" altLang="zh-CN" sz="1200" b="1" dirty="0">
                <a:solidFill>
                  <a:srgbClr val="002060"/>
                </a:solidFill>
                <a:latin typeface="+mn-ea"/>
                <a:ea typeface="+mn-ea"/>
                <a:sym typeface="微软雅黑" panose="020B0503020204020204" pitchFamily="34" charset="-122"/>
              </a:rPr>
              <a:t>VM</a:t>
            </a:r>
            <a:r>
              <a:rPr lang="zh-CN" altLang="en-US" sz="1200" b="1" dirty="0">
                <a:solidFill>
                  <a:srgbClr val="002060"/>
                </a:solidFill>
                <a:latin typeface="+mn-ea"/>
                <a:ea typeface="+mn-ea"/>
                <a:sym typeface="微软雅黑" panose="020B0503020204020204" pitchFamily="34" charset="-122"/>
              </a:rPr>
              <a:t>：</a:t>
            </a:r>
            <a:r>
              <a:rPr lang="en-US" altLang="zh-CN" sz="1200" b="1" dirty="0">
                <a:solidFill>
                  <a:srgbClr val="002060"/>
                </a:solidFill>
                <a:latin typeface="+mn-ea"/>
                <a:ea typeface="+mn-ea"/>
                <a:sym typeface="微软雅黑" panose="020B0503020204020204" pitchFamily="34" charset="-122"/>
              </a:rPr>
              <a:t>2</a:t>
            </a:r>
            <a:r>
              <a:rPr lang="zh-CN" altLang="en-US" sz="1200" b="1" dirty="0">
                <a:solidFill>
                  <a:srgbClr val="002060"/>
                </a:solidFill>
                <a:latin typeface="+mn-ea"/>
                <a:ea typeface="+mn-ea"/>
                <a:sym typeface="微软雅黑" panose="020B0503020204020204" pitchFamily="34" charset="-122"/>
              </a:rPr>
              <a:t>分钟</a:t>
            </a:r>
            <a:endParaRPr lang="en-US" altLang="zh-CN" sz="1200" b="1" dirty="0">
              <a:solidFill>
                <a:srgbClr val="002060"/>
              </a:solidFill>
              <a:latin typeface="+mn-ea"/>
              <a:ea typeface="+mn-ea"/>
              <a:sym typeface="微软雅黑" panose="020B0503020204020204" pitchFamily="34" charset="-122"/>
            </a:endParaRPr>
          </a:p>
          <a:p>
            <a:r>
              <a:rPr lang="zh-CN" altLang="en-US" sz="1200" b="1" dirty="0">
                <a:solidFill>
                  <a:srgbClr val="002060"/>
                </a:solidFill>
                <a:latin typeface="+mn-ea"/>
                <a:ea typeface="+mn-ea"/>
                <a:sym typeface="微软雅黑" panose="020B0503020204020204" pitchFamily="34" charset="-122"/>
              </a:rPr>
              <a:t>为</a:t>
            </a:r>
            <a:r>
              <a:rPr lang="en-US" altLang="zh-CN" sz="1200" b="1" dirty="0">
                <a:solidFill>
                  <a:srgbClr val="002060"/>
                </a:solidFill>
                <a:latin typeface="+mn-ea"/>
                <a:ea typeface="+mn-ea"/>
                <a:sym typeface="微软雅黑" panose="020B0503020204020204" pitchFamily="34" charset="-122"/>
              </a:rPr>
              <a:t>VM</a:t>
            </a:r>
            <a:r>
              <a:rPr lang="zh-CN" altLang="en-US" sz="1200" b="1" dirty="0">
                <a:solidFill>
                  <a:srgbClr val="002060"/>
                </a:solidFill>
                <a:latin typeface="+mn-ea"/>
                <a:ea typeface="+mn-ea"/>
                <a:sym typeface="微软雅黑" panose="020B0503020204020204" pitchFamily="34" charset="-122"/>
              </a:rPr>
              <a:t>配置网络、存储：</a:t>
            </a:r>
            <a:r>
              <a:rPr lang="en-US" altLang="zh-CN" sz="1200" b="1" dirty="0">
                <a:solidFill>
                  <a:srgbClr val="002060"/>
                </a:solidFill>
                <a:latin typeface="+mn-ea"/>
                <a:ea typeface="+mn-ea"/>
                <a:sym typeface="微软雅黑" panose="020B0503020204020204" pitchFamily="34" charset="-122"/>
              </a:rPr>
              <a:t>5</a:t>
            </a:r>
            <a:r>
              <a:rPr lang="zh-CN" altLang="en-US" sz="1200" b="1" dirty="0">
                <a:solidFill>
                  <a:srgbClr val="002060"/>
                </a:solidFill>
                <a:latin typeface="+mn-ea"/>
                <a:ea typeface="+mn-ea"/>
                <a:sym typeface="微软雅黑" panose="020B0503020204020204" pitchFamily="34" charset="-122"/>
              </a:rPr>
              <a:t>天</a:t>
            </a:r>
          </a:p>
        </p:txBody>
      </p:sp>
      <p:sp>
        <p:nvSpPr>
          <p:cNvPr id="47" name="文本框 46"/>
          <p:cNvSpPr txBox="1"/>
          <p:nvPr/>
        </p:nvSpPr>
        <p:spPr bwMode="auto">
          <a:xfrm>
            <a:off x="2645014" y="5118981"/>
            <a:ext cx="1660528"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b="1" dirty="0">
                <a:solidFill>
                  <a:srgbClr val="C00000"/>
                </a:solidFill>
                <a:latin typeface="+mn-ea"/>
                <a:ea typeface="+mn-ea"/>
                <a:sym typeface="微软雅黑" panose="020B0503020204020204" pitchFamily="34" charset="-122"/>
              </a:rPr>
              <a:t>时间都去哪儿了？</a:t>
            </a:r>
          </a:p>
        </p:txBody>
      </p:sp>
      <p:sp>
        <p:nvSpPr>
          <p:cNvPr id="48" name="文本框 47"/>
          <p:cNvSpPr txBox="1"/>
          <p:nvPr/>
        </p:nvSpPr>
        <p:spPr bwMode="auto">
          <a:xfrm>
            <a:off x="2557638" y="5803785"/>
            <a:ext cx="279124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a:latin typeface="+mn-ea"/>
                <a:ea typeface="+mn-ea"/>
                <a:sym typeface="微软雅黑" panose="020B0503020204020204" pitchFamily="34" charset="-122"/>
              </a:rPr>
              <a:t>传统的存储管理</a:t>
            </a:r>
          </a:p>
        </p:txBody>
      </p:sp>
      <p:sp>
        <p:nvSpPr>
          <p:cNvPr id="50" name="椭圆形标注 49"/>
          <p:cNvSpPr/>
          <p:nvPr/>
        </p:nvSpPr>
        <p:spPr bwMode="auto">
          <a:xfrm>
            <a:off x="8076112" y="1588960"/>
            <a:ext cx="1506251" cy="562618"/>
          </a:xfrm>
          <a:prstGeom prst="wedgeEllipseCallout">
            <a:avLst>
              <a:gd name="adj1" fmla="val -62025"/>
              <a:gd name="adj2" fmla="val 71218"/>
            </a:avLst>
          </a:prstGeom>
          <a:solidFill>
            <a:srgbClr val="C6D9F1">
              <a:alpha val="54118"/>
            </a:srgbClr>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mn-ea"/>
                <a:ea typeface="+mn-ea"/>
                <a:sym typeface="微软雅黑" panose="020B0503020204020204" pitchFamily="34" charset="-122"/>
              </a:rPr>
              <a:t>Give me a VM for VDI</a:t>
            </a:r>
            <a:endParaRPr kumimoji="0" lang="zh-CN" altLang="en-US" sz="1200" b="0" i="0" u="none" strike="noStrike" cap="none" normalizeH="0" baseline="0" dirty="0">
              <a:ln>
                <a:noFill/>
              </a:ln>
              <a:solidFill>
                <a:schemeClr val="tx1"/>
              </a:solidFill>
              <a:effectLst/>
              <a:latin typeface="+mn-ea"/>
              <a:ea typeface="+mn-ea"/>
              <a:sym typeface="微软雅黑" panose="020B0503020204020204" pitchFamily="34" charset="-122"/>
            </a:endParaRPr>
          </a:p>
        </p:txBody>
      </p:sp>
      <p:sp>
        <p:nvSpPr>
          <p:cNvPr id="51" name="右箭头 50"/>
          <p:cNvSpPr/>
          <p:nvPr/>
        </p:nvSpPr>
        <p:spPr bwMode="auto">
          <a:xfrm rot="1420345">
            <a:off x="7979940" y="2455456"/>
            <a:ext cx="657849" cy="249011"/>
          </a:xfrm>
          <a:prstGeom prst="rightArrow">
            <a:avLst/>
          </a:prstGeom>
          <a:solidFill>
            <a:schemeClr val="bg1">
              <a:lumMod val="75000"/>
            </a:schemeClr>
          </a:solid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pic>
        <p:nvPicPr>
          <p:cNvPr id="52" name="图片 51"/>
          <p:cNvPicPr>
            <a:picLocks noChangeAspect="1"/>
          </p:cNvPicPr>
          <p:nvPr/>
        </p:nvPicPr>
        <p:blipFill>
          <a:blip r:embed="rId6"/>
          <a:stretch>
            <a:fillRect/>
          </a:stretch>
        </p:blipFill>
        <p:spPr>
          <a:xfrm>
            <a:off x="6913507" y="3032027"/>
            <a:ext cx="923316" cy="752475"/>
          </a:xfrm>
          <a:prstGeom prst="rect">
            <a:avLst/>
          </a:prstGeom>
        </p:spPr>
      </p:pic>
      <p:sp>
        <p:nvSpPr>
          <p:cNvPr id="53" name="右箭头 52"/>
          <p:cNvSpPr/>
          <p:nvPr/>
        </p:nvSpPr>
        <p:spPr bwMode="auto">
          <a:xfrm rot="9084798">
            <a:off x="7965072" y="3025466"/>
            <a:ext cx="657849" cy="249011"/>
          </a:xfrm>
          <a:prstGeom prst="rightArrow">
            <a:avLst/>
          </a:prstGeom>
          <a:solidFill>
            <a:schemeClr val="bg1">
              <a:lumMod val="75000"/>
            </a:schemeClr>
          </a:solid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54" name="圆角矩形 53"/>
          <p:cNvSpPr/>
          <p:nvPr/>
        </p:nvSpPr>
        <p:spPr bwMode="auto">
          <a:xfrm>
            <a:off x="8673174" y="2241153"/>
            <a:ext cx="652601" cy="947084"/>
          </a:xfrm>
          <a:prstGeom prst="roundRect">
            <a:avLst/>
          </a:prstGeom>
          <a:solidFill>
            <a:srgbClr val="00206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mn-ea"/>
                <a:ea typeface="+mn-ea"/>
                <a:sym typeface="微软雅黑" panose="020B0503020204020204" pitchFamily="34" charset="-122"/>
              </a:rPr>
              <a:t>自动化管理界面</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55" name="圆角矩形 54"/>
          <p:cNvSpPr/>
          <p:nvPr/>
        </p:nvSpPr>
        <p:spPr bwMode="auto">
          <a:xfrm>
            <a:off x="9447609" y="2226966"/>
            <a:ext cx="2024243" cy="242947"/>
          </a:xfrm>
          <a:prstGeom prst="roundRect">
            <a:avLst/>
          </a:prstGeom>
          <a:solidFill>
            <a:srgbClr val="B35A2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mn-ea"/>
                <a:ea typeface="+mn-ea"/>
                <a:sym typeface="微软雅黑" panose="020B0503020204020204" pitchFamily="34" charset="-122"/>
              </a:rPr>
              <a:t>计算界面</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56" name="圆角矩形 55"/>
          <p:cNvSpPr/>
          <p:nvPr/>
        </p:nvSpPr>
        <p:spPr bwMode="auto">
          <a:xfrm>
            <a:off x="9444421" y="2570868"/>
            <a:ext cx="2024243" cy="242947"/>
          </a:xfrm>
          <a:prstGeom prst="roundRect">
            <a:avLst/>
          </a:prstGeom>
          <a:solidFill>
            <a:srgbClr val="B35A2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mn-ea"/>
                <a:ea typeface="+mn-ea"/>
                <a:sym typeface="微软雅黑" panose="020B0503020204020204" pitchFamily="34" charset="-122"/>
              </a:rPr>
              <a:t>网络资源</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57" name="圆角矩形 56"/>
          <p:cNvSpPr/>
          <p:nvPr/>
        </p:nvSpPr>
        <p:spPr bwMode="auto">
          <a:xfrm>
            <a:off x="9448620" y="2911166"/>
            <a:ext cx="2024243" cy="242947"/>
          </a:xfrm>
          <a:prstGeom prst="roundRect">
            <a:avLst/>
          </a:prstGeom>
          <a:solidFill>
            <a:srgbClr val="B35A2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mn-ea"/>
                <a:ea typeface="+mn-ea"/>
                <a:sym typeface="微软雅黑" panose="020B0503020204020204" pitchFamily="34" charset="-122"/>
              </a:rPr>
              <a:t>存储资源</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58" name="椭圆形标注 57"/>
          <p:cNvSpPr/>
          <p:nvPr/>
        </p:nvSpPr>
        <p:spPr bwMode="auto">
          <a:xfrm>
            <a:off x="8034441" y="3595367"/>
            <a:ext cx="1470501" cy="551186"/>
          </a:xfrm>
          <a:prstGeom prst="wedgeEllipseCallout">
            <a:avLst>
              <a:gd name="adj1" fmla="val 16999"/>
              <a:gd name="adj2" fmla="val -118605"/>
            </a:avLst>
          </a:prstGeom>
          <a:solidFill>
            <a:srgbClr val="C6D9F1">
              <a:alpha val="54118"/>
            </a:srgbClr>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mn-ea"/>
                <a:ea typeface="+mn-ea"/>
                <a:sym typeface="微软雅黑" panose="020B0503020204020204" pitchFamily="34" charset="-122"/>
              </a:rPr>
              <a:t>Here is your VM</a:t>
            </a:r>
            <a:endParaRPr kumimoji="0" lang="zh-CN" altLang="en-US" sz="1200" b="0" i="0" u="none" strike="noStrike" cap="none" normalizeH="0" baseline="0" dirty="0">
              <a:ln>
                <a:noFill/>
              </a:ln>
              <a:solidFill>
                <a:schemeClr val="tx1"/>
              </a:solidFill>
              <a:effectLst/>
              <a:latin typeface="+mn-ea"/>
              <a:ea typeface="+mn-ea"/>
              <a:sym typeface="微软雅黑" panose="020B0503020204020204" pitchFamily="34" charset="-122"/>
            </a:endParaRPr>
          </a:p>
        </p:txBody>
      </p:sp>
      <p:sp>
        <p:nvSpPr>
          <p:cNvPr id="59" name="文本框 58"/>
          <p:cNvSpPr txBox="1"/>
          <p:nvPr/>
        </p:nvSpPr>
        <p:spPr bwMode="auto">
          <a:xfrm>
            <a:off x="7144344" y="4438176"/>
            <a:ext cx="1028636"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400" b="1" dirty="0">
                <a:solidFill>
                  <a:srgbClr val="002060"/>
                </a:solidFill>
                <a:latin typeface="+mn-ea"/>
                <a:ea typeface="+mn-ea"/>
                <a:sym typeface="微软雅黑" panose="020B0503020204020204" pitchFamily="34" charset="-122"/>
              </a:rPr>
              <a:t>如何做到？</a:t>
            </a:r>
          </a:p>
        </p:txBody>
      </p:sp>
      <p:sp>
        <p:nvSpPr>
          <p:cNvPr id="60" name="右箭头 59"/>
          <p:cNvSpPr/>
          <p:nvPr/>
        </p:nvSpPr>
        <p:spPr bwMode="auto">
          <a:xfrm>
            <a:off x="8198727" y="4465723"/>
            <a:ext cx="657849" cy="249011"/>
          </a:xfrm>
          <a:prstGeom prst="rightArrow">
            <a:avLst/>
          </a:prstGeom>
          <a:solidFill>
            <a:schemeClr val="bg1">
              <a:lumMod val="75000"/>
            </a:schemeClr>
          </a:solid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61" name="文本框 60"/>
          <p:cNvSpPr txBox="1"/>
          <p:nvPr/>
        </p:nvSpPr>
        <p:spPr bwMode="auto">
          <a:xfrm>
            <a:off x="8821232" y="4450559"/>
            <a:ext cx="709457"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400" b="1" dirty="0">
                <a:solidFill>
                  <a:srgbClr val="C00000"/>
                </a:solidFill>
                <a:latin typeface="+mn-ea"/>
                <a:ea typeface="+mn-ea"/>
                <a:sym typeface="微软雅黑" panose="020B0503020204020204" pitchFamily="34" charset="-122"/>
              </a:rPr>
              <a:t>SDDC</a:t>
            </a:r>
            <a:endParaRPr lang="zh-CN" altLang="en-US" sz="1400" b="1" dirty="0">
              <a:solidFill>
                <a:srgbClr val="C00000"/>
              </a:solidFill>
              <a:latin typeface="+mn-ea"/>
              <a:ea typeface="+mn-ea"/>
              <a:sym typeface="微软雅黑" panose="020B0503020204020204" pitchFamily="34" charset="-122"/>
            </a:endParaRPr>
          </a:p>
        </p:txBody>
      </p:sp>
      <p:sp>
        <p:nvSpPr>
          <p:cNvPr id="63" name="左大括号 62"/>
          <p:cNvSpPr/>
          <p:nvPr/>
        </p:nvSpPr>
        <p:spPr bwMode="auto">
          <a:xfrm>
            <a:off x="9416034" y="4192765"/>
            <a:ext cx="233679" cy="903310"/>
          </a:xfrm>
          <a:prstGeom prst="leftBrace">
            <a:avLst/>
          </a:prstGeom>
          <a:solidFill>
            <a:srgbClr val="CCECFF"/>
          </a:solidFill>
          <a:ln w="127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64" name="文本框 63"/>
          <p:cNvSpPr txBox="1"/>
          <p:nvPr/>
        </p:nvSpPr>
        <p:spPr bwMode="auto">
          <a:xfrm>
            <a:off x="9647858" y="4050981"/>
            <a:ext cx="1933542" cy="138132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400" b="1" dirty="0">
                <a:solidFill>
                  <a:srgbClr val="C00000"/>
                </a:solidFill>
                <a:latin typeface="+mn-ea"/>
                <a:ea typeface="+mn-ea"/>
                <a:sym typeface="微软雅黑" panose="020B0503020204020204" pitchFamily="34" charset="-122"/>
              </a:rPr>
              <a:t>SDC</a:t>
            </a:r>
            <a:r>
              <a:rPr lang="zh-CN" altLang="en-US" sz="1400" b="1" dirty="0">
                <a:solidFill>
                  <a:srgbClr val="C00000"/>
                </a:solidFill>
                <a:latin typeface="+mn-ea"/>
                <a:ea typeface="+mn-ea"/>
                <a:sym typeface="微软雅黑" panose="020B0503020204020204" pitchFamily="34" charset="-122"/>
              </a:rPr>
              <a:t>： 软件定义计算</a:t>
            </a:r>
            <a:endParaRPr lang="en-US" altLang="zh-CN" sz="1400" b="1" dirty="0">
              <a:solidFill>
                <a:srgbClr val="C00000"/>
              </a:solidFill>
              <a:latin typeface="+mn-ea"/>
              <a:ea typeface="+mn-ea"/>
              <a:sym typeface="微软雅黑" panose="020B0503020204020204" pitchFamily="34" charset="-122"/>
            </a:endParaRPr>
          </a:p>
          <a:p>
            <a:endParaRPr lang="en-US" altLang="zh-CN" sz="1400" b="1" dirty="0">
              <a:solidFill>
                <a:srgbClr val="C00000"/>
              </a:solidFill>
              <a:latin typeface="+mn-ea"/>
              <a:ea typeface="+mn-ea"/>
              <a:sym typeface="微软雅黑" panose="020B0503020204020204" pitchFamily="34" charset="-122"/>
            </a:endParaRPr>
          </a:p>
          <a:p>
            <a:r>
              <a:rPr lang="en-US" altLang="zh-CN" sz="1400" b="1" dirty="0">
                <a:solidFill>
                  <a:srgbClr val="C00000"/>
                </a:solidFill>
                <a:latin typeface="+mn-ea"/>
                <a:ea typeface="+mn-ea"/>
                <a:sym typeface="微软雅黑" panose="020B0503020204020204" pitchFamily="34" charset="-122"/>
              </a:rPr>
              <a:t>SDN</a:t>
            </a:r>
            <a:r>
              <a:rPr lang="zh-CN" altLang="en-US" sz="1400" b="1" dirty="0">
                <a:solidFill>
                  <a:srgbClr val="C00000"/>
                </a:solidFill>
                <a:latin typeface="+mn-ea"/>
                <a:ea typeface="+mn-ea"/>
                <a:sym typeface="微软雅黑" panose="020B0503020204020204" pitchFamily="34" charset="-122"/>
              </a:rPr>
              <a:t>：软件定义网络</a:t>
            </a:r>
            <a:endParaRPr lang="en-US" altLang="zh-CN" sz="1400" b="1" dirty="0">
              <a:solidFill>
                <a:srgbClr val="C00000"/>
              </a:solidFill>
              <a:latin typeface="+mn-ea"/>
              <a:ea typeface="+mn-ea"/>
              <a:sym typeface="微软雅黑" panose="020B0503020204020204" pitchFamily="34" charset="-122"/>
            </a:endParaRPr>
          </a:p>
          <a:p>
            <a:endParaRPr lang="en-US" altLang="zh-CN" sz="1400" b="1" dirty="0">
              <a:solidFill>
                <a:srgbClr val="C00000"/>
              </a:solidFill>
              <a:latin typeface="+mn-ea"/>
              <a:ea typeface="+mn-ea"/>
              <a:sym typeface="微软雅黑" panose="020B0503020204020204" pitchFamily="34" charset="-122"/>
            </a:endParaRPr>
          </a:p>
          <a:p>
            <a:r>
              <a:rPr lang="en-US" altLang="zh-CN" sz="1400" b="1" dirty="0">
                <a:solidFill>
                  <a:srgbClr val="C00000"/>
                </a:solidFill>
                <a:latin typeface="+mn-ea"/>
                <a:ea typeface="+mn-ea"/>
                <a:sym typeface="微软雅黑" panose="020B0503020204020204" pitchFamily="34" charset="-122"/>
              </a:rPr>
              <a:t>SDS</a:t>
            </a:r>
            <a:r>
              <a:rPr lang="zh-CN" altLang="en-US" sz="1400" b="1" dirty="0">
                <a:solidFill>
                  <a:srgbClr val="C00000"/>
                </a:solidFill>
                <a:latin typeface="+mn-ea"/>
                <a:ea typeface="+mn-ea"/>
                <a:sym typeface="微软雅黑" panose="020B0503020204020204" pitchFamily="34" charset="-122"/>
              </a:rPr>
              <a:t>： 软件定义存储</a:t>
            </a:r>
            <a:endParaRPr lang="en-US" altLang="zh-CN" sz="1400" b="1" dirty="0">
              <a:solidFill>
                <a:srgbClr val="C00000"/>
              </a:solidFill>
              <a:latin typeface="+mn-ea"/>
              <a:ea typeface="+mn-ea"/>
              <a:sym typeface="微软雅黑" panose="020B0503020204020204" pitchFamily="34" charset="-122"/>
            </a:endParaRPr>
          </a:p>
          <a:p>
            <a:endParaRPr lang="zh-CN" altLang="en-US" sz="1400" b="1" dirty="0">
              <a:solidFill>
                <a:srgbClr val="C00000"/>
              </a:solidFill>
              <a:latin typeface="+mn-ea"/>
              <a:ea typeface="+mn-ea"/>
              <a:sym typeface="微软雅黑" panose="020B0503020204020204" pitchFamily="34" charset="-122"/>
            </a:endParaRPr>
          </a:p>
        </p:txBody>
      </p:sp>
      <p:sp>
        <p:nvSpPr>
          <p:cNvPr id="65" name="文本框 64"/>
          <p:cNvSpPr txBox="1"/>
          <p:nvPr/>
        </p:nvSpPr>
        <p:spPr bwMode="auto">
          <a:xfrm>
            <a:off x="7873323" y="5798562"/>
            <a:ext cx="3102120"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800" dirty="0">
                <a:latin typeface="+mn-ea"/>
                <a:ea typeface="+mn-ea"/>
                <a:sym typeface="微软雅黑" panose="020B0503020204020204" pitchFamily="34" charset="-122"/>
              </a:rPr>
              <a:t>使用</a:t>
            </a:r>
            <a:r>
              <a:rPr lang="en-US" altLang="zh-CN" sz="1800" dirty="0">
                <a:latin typeface="+mn-ea"/>
                <a:ea typeface="+mn-ea"/>
                <a:sym typeface="微软雅黑" panose="020B0503020204020204" pitchFamily="34" charset="-122"/>
              </a:rPr>
              <a:t>SDS</a:t>
            </a:r>
            <a:r>
              <a:rPr lang="zh-CN" altLang="en-US" sz="1800" dirty="0">
                <a:latin typeface="+mn-ea"/>
                <a:ea typeface="+mn-ea"/>
                <a:sym typeface="微软雅黑" panose="020B0503020204020204" pitchFamily="34" charset="-122"/>
              </a:rPr>
              <a:t>的存储管理</a:t>
            </a:r>
          </a:p>
        </p:txBody>
      </p:sp>
      <p:pic>
        <p:nvPicPr>
          <p:cNvPr id="1026" name="Picture 2" descr="C:\Users\lwx640906\AppData\Roaming\eSpace_Desktop\UserData\lwx640906\imagefiles\63EF1961-75CA-4E51-8AEA-9A72F7B012EE.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13507" y="1704874"/>
            <a:ext cx="860617" cy="9286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lwx640906\AppData\Roaming\eSpace_Desktop\UserData\lwx640906\imagefiles\39ABFE32-DBFE-45D1-9B85-853BB78B60E5.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0019" y="1582658"/>
            <a:ext cx="842743" cy="865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810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bwMode="auto">
          <a:xfrm>
            <a:off x="6096000" y="1233488"/>
            <a:ext cx="5110958" cy="5148262"/>
          </a:xfrm>
          <a:prstGeom prst="rect">
            <a:avLst/>
          </a:prstGeom>
          <a:solidFill>
            <a:srgbClr val="CCE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endParaRPr>
          </a:p>
        </p:txBody>
      </p:sp>
      <p:sp>
        <p:nvSpPr>
          <p:cNvPr id="27" name="矩形 26"/>
          <p:cNvSpPr/>
          <p:nvPr/>
        </p:nvSpPr>
        <p:spPr bwMode="auto">
          <a:xfrm>
            <a:off x="1006309" y="1233488"/>
            <a:ext cx="5089691" cy="5148262"/>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endParaRPr>
          </a:p>
        </p:txBody>
      </p:sp>
      <p:sp>
        <p:nvSpPr>
          <p:cNvPr id="2" name="标题 1"/>
          <p:cNvSpPr>
            <a:spLocks noGrp="1"/>
          </p:cNvSpPr>
          <p:nvPr>
            <p:ph type="title"/>
          </p:nvPr>
        </p:nvSpPr>
        <p:spPr/>
        <p:txBody>
          <a:bodyPr/>
          <a:lstStyle/>
          <a:p>
            <a:r>
              <a:rPr lang="en-US" altLang="zh-CN" dirty="0">
                <a:sym typeface="微软雅黑" panose="020B0503020204020204" pitchFamily="34" charset="-122"/>
              </a:rPr>
              <a:t>SDS</a:t>
            </a:r>
            <a:r>
              <a:rPr lang="zh-CN" altLang="en-US" dirty="0">
                <a:sym typeface="微软雅黑" panose="020B0503020204020204" pitchFamily="34" charset="-122"/>
              </a:rPr>
              <a:t>与传统存储对比</a:t>
            </a:r>
            <a:r>
              <a:rPr lang="en-US" altLang="zh-CN" dirty="0">
                <a:sym typeface="微软雅黑" panose="020B0503020204020204" pitchFamily="34" charset="-122"/>
              </a:rPr>
              <a:t> - </a:t>
            </a:r>
            <a:r>
              <a:rPr lang="zh-CN" altLang="en-US" dirty="0">
                <a:sym typeface="微软雅黑" panose="020B0503020204020204" pitchFamily="34" charset="-122"/>
              </a:rPr>
              <a:t>存储系统软件</a:t>
            </a:r>
          </a:p>
        </p:txBody>
      </p:sp>
      <p:grpSp>
        <p:nvGrpSpPr>
          <p:cNvPr id="16" name="组合 15"/>
          <p:cNvGrpSpPr/>
          <p:nvPr/>
        </p:nvGrpSpPr>
        <p:grpSpPr>
          <a:xfrm>
            <a:off x="1689370" y="1875394"/>
            <a:ext cx="3833190" cy="4070414"/>
            <a:chOff x="1562360" y="2240868"/>
            <a:chExt cx="3833190" cy="4070414"/>
          </a:xfrm>
        </p:grpSpPr>
        <p:grpSp>
          <p:nvGrpSpPr>
            <p:cNvPr id="14" name="组合 13"/>
            <p:cNvGrpSpPr/>
            <p:nvPr/>
          </p:nvGrpSpPr>
          <p:grpSpPr>
            <a:xfrm>
              <a:off x="1921668" y="2240868"/>
              <a:ext cx="3416016" cy="3267450"/>
              <a:chOff x="1921668" y="2240868"/>
              <a:chExt cx="3416016" cy="3267450"/>
            </a:xfrm>
          </p:grpSpPr>
          <p:sp>
            <p:nvSpPr>
              <p:cNvPr id="7" name="圆角矩形 6"/>
              <p:cNvSpPr/>
              <p:nvPr/>
            </p:nvSpPr>
            <p:spPr bwMode="auto">
              <a:xfrm>
                <a:off x="1922726" y="2240868"/>
                <a:ext cx="2592288" cy="468052"/>
              </a:xfrm>
              <a:prstGeom prst="roundRect">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bg1"/>
                    </a:solidFill>
                    <a:effectLst/>
                    <a:latin typeface="+mn-ea"/>
                    <a:ea typeface="+mn-ea"/>
                    <a:sym typeface="微软雅黑" panose="020B0503020204020204" pitchFamily="34" charset="-122"/>
                  </a:rPr>
                  <a:t>LUN</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8" name="圆角矩形 7"/>
              <p:cNvSpPr/>
              <p:nvPr/>
            </p:nvSpPr>
            <p:spPr bwMode="auto">
              <a:xfrm>
                <a:off x="1939133" y="3032956"/>
                <a:ext cx="2592288" cy="468052"/>
              </a:xfrm>
              <a:prstGeom prst="roundRect">
                <a:avLst/>
              </a:prstGeom>
              <a:solidFill>
                <a:srgbClr val="98480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bg1"/>
                    </a:solidFill>
                    <a:latin typeface="+mn-ea"/>
                    <a:ea typeface="+mn-ea"/>
                    <a:sym typeface="微软雅黑" panose="020B0503020204020204" pitchFamily="34" charset="-122"/>
                  </a:rPr>
                  <a:t>Storage Pool</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9" name="圆角矩形 8"/>
              <p:cNvSpPr/>
              <p:nvPr/>
            </p:nvSpPr>
            <p:spPr bwMode="auto">
              <a:xfrm>
                <a:off x="1939133" y="3608288"/>
                <a:ext cx="2592288" cy="468052"/>
              </a:xfrm>
              <a:prstGeom prst="roundRect">
                <a:avLst/>
              </a:prstGeom>
              <a:solidFill>
                <a:srgbClr val="98480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bg1"/>
                    </a:solidFill>
                    <a:latin typeface="+mn-ea"/>
                    <a:ea typeface="+mn-ea"/>
                    <a:sym typeface="微软雅黑" panose="020B0503020204020204" pitchFamily="34" charset="-122"/>
                  </a:rPr>
                  <a:t>RAID</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10" name="圆角矩形 9"/>
              <p:cNvSpPr/>
              <p:nvPr/>
            </p:nvSpPr>
            <p:spPr bwMode="auto">
              <a:xfrm>
                <a:off x="1921668" y="4184122"/>
                <a:ext cx="2592288" cy="468052"/>
              </a:xfrm>
              <a:prstGeom prst="roundRect">
                <a:avLst/>
              </a:prstGeom>
              <a:solidFill>
                <a:srgbClr val="98480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bg1"/>
                    </a:solidFill>
                    <a:latin typeface="+mn-ea"/>
                    <a:ea typeface="+mn-ea"/>
                    <a:sym typeface="微软雅黑" panose="020B0503020204020204" pitchFamily="34" charset="-122"/>
                  </a:rPr>
                  <a:t>Disk Group</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11" name="上箭头 10"/>
              <p:cNvSpPr/>
              <p:nvPr/>
            </p:nvSpPr>
            <p:spPr bwMode="auto">
              <a:xfrm>
                <a:off x="4915763" y="2518199"/>
                <a:ext cx="421921" cy="2808312"/>
              </a:xfrm>
              <a:prstGeom prst="upArrow">
                <a:avLst/>
              </a:prstGeom>
              <a:solidFill>
                <a:srgbClr val="948A5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12" name="圆柱形 11"/>
              <p:cNvSpPr/>
              <p:nvPr/>
            </p:nvSpPr>
            <p:spPr bwMode="auto">
              <a:xfrm>
                <a:off x="1922973" y="4983743"/>
                <a:ext cx="1136421" cy="524575"/>
              </a:xfrm>
              <a:prstGeom prst="can">
                <a:avLst/>
              </a:prstGeom>
              <a:solidFill>
                <a:srgbClr val="C4BD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mn-ea"/>
                    <a:ea typeface="+mn-ea"/>
                    <a:sym typeface="微软雅黑" panose="020B0503020204020204" pitchFamily="34" charset="-122"/>
                  </a:rPr>
                  <a:t>HDD</a:t>
                </a:r>
                <a:endParaRPr kumimoji="0" lang="zh-CN" altLang="en-US" sz="1600" b="0" i="0" u="none" strike="noStrike" cap="none" normalizeH="0" baseline="0" dirty="0">
                  <a:ln>
                    <a:noFill/>
                  </a:ln>
                  <a:solidFill>
                    <a:schemeClr val="tx1"/>
                  </a:solidFill>
                  <a:effectLst/>
                  <a:latin typeface="+mn-ea"/>
                  <a:ea typeface="+mn-ea"/>
                  <a:sym typeface="微软雅黑" panose="020B0503020204020204" pitchFamily="34" charset="-122"/>
                </a:endParaRPr>
              </a:p>
            </p:txBody>
          </p:sp>
          <p:sp>
            <p:nvSpPr>
              <p:cNvPr id="13" name="圆柱形 12"/>
              <p:cNvSpPr/>
              <p:nvPr/>
            </p:nvSpPr>
            <p:spPr bwMode="auto">
              <a:xfrm>
                <a:off x="3273871" y="4983743"/>
                <a:ext cx="1136421" cy="524575"/>
              </a:xfrm>
              <a:prstGeom prst="can">
                <a:avLst/>
              </a:prstGeom>
              <a:solidFill>
                <a:srgbClr val="C4BD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mn-ea"/>
                    <a:ea typeface="+mn-ea"/>
                    <a:sym typeface="微软雅黑" panose="020B0503020204020204" pitchFamily="34" charset="-122"/>
                  </a:rPr>
                  <a:t>HDD</a:t>
                </a:r>
                <a:endParaRPr kumimoji="0" lang="zh-CN" altLang="en-US" sz="1600" b="0" i="0" u="none" strike="noStrike" cap="none" normalizeH="0" baseline="0" dirty="0">
                  <a:ln>
                    <a:noFill/>
                  </a:ln>
                  <a:solidFill>
                    <a:schemeClr val="tx1"/>
                  </a:solidFill>
                  <a:effectLst/>
                  <a:latin typeface="+mn-ea"/>
                  <a:ea typeface="+mn-ea"/>
                  <a:sym typeface="微软雅黑" panose="020B0503020204020204" pitchFamily="34" charset="-122"/>
                </a:endParaRPr>
              </a:p>
            </p:txBody>
          </p:sp>
        </p:grpSp>
        <p:sp>
          <p:nvSpPr>
            <p:cNvPr id="15" name="文本框 14"/>
            <p:cNvSpPr txBox="1"/>
            <p:nvPr/>
          </p:nvSpPr>
          <p:spPr bwMode="auto">
            <a:xfrm>
              <a:off x="1562360" y="5945624"/>
              <a:ext cx="3833190"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800" dirty="0">
                  <a:latin typeface="+mn-ea"/>
                  <a:ea typeface="+mn-ea"/>
                  <a:sym typeface="微软雅黑" panose="020B0503020204020204" pitchFamily="34" charset="-122"/>
                </a:rPr>
                <a:t>传统的存储系统设计（自底向上）</a:t>
              </a:r>
              <a:endParaRPr lang="en-US" altLang="zh-CN" sz="1800" dirty="0">
                <a:latin typeface="+mn-ea"/>
                <a:ea typeface="+mn-ea"/>
                <a:sym typeface="微软雅黑" panose="020B0503020204020204" pitchFamily="34" charset="-122"/>
              </a:endParaRPr>
            </a:p>
          </p:txBody>
        </p:sp>
      </p:grpSp>
      <p:grpSp>
        <p:nvGrpSpPr>
          <p:cNvPr id="17" name="组合 16"/>
          <p:cNvGrpSpPr/>
          <p:nvPr/>
        </p:nvGrpSpPr>
        <p:grpSpPr>
          <a:xfrm>
            <a:off x="7356140" y="1880828"/>
            <a:ext cx="3416016" cy="4057539"/>
            <a:chOff x="1921668" y="2240868"/>
            <a:chExt cx="3416016" cy="4057539"/>
          </a:xfrm>
        </p:grpSpPr>
        <p:grpSp>
          <p:nvGrpSpPr>
            <p:cNvPr id="18" name="组合 17"/>
            <p:cNvGrpSpPr/>
            <p:nvPr/>
          </p:nvGrpSpPr>
          <p:grpSpPr>
            <a:xfrm>
              <a:off x="1921668" y="2240868"/>
              <a:ext cx="3416016" cy="3267450"/>
              <a:chOff x="1921668" y="2240868"/>
              <a:chExt cx="3416016" cy="3267450"/>
            </a:xfrm>
          </p:grpSpPr>
          <p:sp>
            <p:nvSpPr>
              <p:cNvPr id="20" name="圆角矩形 19"/>
              <p:cNvSpPr/>
              <p:nvPr/>
            </p:nvSpPr>
            <p:spPr bwMode="auto">
              <a:xfrm>
                <a:off x="1922726" y="2240868"/>
                <a:ext cx="2592288" cy="468052"/>
              </a:xfrm>
              <a:prstGeom prst="roundRect">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bg1"/>
                    </a:solidFill>
                    <a:latin typeface="+mn-ea"/>
                    <a:ea typeface="+mn-ea"/>
                    <a:sym typeface="微软雅黑" panose="020B0503020204020204" pitchFamily="34" charset="-122"/>
                  </a:rPr>
                  <a:t>APP</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21" name="圆角矩形 20"/>
              <p:cNvSpPr/>
              <p:nvPr/>
            </p:nvSpPr>
            <p:spPr bwMode="auto">
              <a:xfrm>
                <a:off x="1939133" y="3032956"/>
                <a:ext cx="2592288" cy="468052"/>
              </a:xfrm>
              <a:prstGeom prst="roundRect">
                <a:avLst/>
              </a:prstGeom>
              <a:solidFill>
                <a:srgbClr val="98480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err="1">
                    <a:solidFill>
                      <a:schemeClr val="bg1"/>
                    </a:solidFill>
                    <a:latin typeface="+mn-ea"/>
                    <a:ea typeface="+mn-ea"/>
                    <a:sym typeface="微软雅黑" panose="020B0503020204020204" pitchFamily="34" charset="-122"/>
                  </a:rPr>
                  <a:t>vDisks</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22" name="圆角矩形 21"/>
              <p:cNvSpPr/>
              <p:nvPr/>
            </p:nvSpPr>
            <p:spPr bwMode="auto">
              <a:xfrm>
                <a:off x="1939133" y="3608288"/>
                <a:ext cx="2592288" cy="468052"/>
              </a:xfrm>
              <a:prstGeom prst="roundRect">
                <a:avLst/>
              </a:prstGeom>
              <a:solidFill>
                <a:srgbClr val="98480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bg1"/>
                    </a:solidFill>
                    <a:latin typeface="+mn-ea"/>
                    <a:ea typeface="+mn-ea"/>
                    <a:sym typeface="微软雅黑" panose="020B0503020204020204" pitchFamily="34" charset="-122"/>
                  </a:rPr>
                  <a:t>Container</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23" name="圆角矩形 22"/>
              <p:cNvSpPr/>
              <p:nvPr/>
            </p:nvSpPr>
            <p:spPr bwMode="auto">
              <a:xfrm>
                <a:off x="1921668" y="4184122"/>
                <a:ext cx="2592288" cy="468052"/>
              </a:xfrm>
              <a:prstGeom prst="roundRect">
                <a:avLst/>
              </a:prstGeom>
              <a:solidFill>
                <a:srgbClr val="984807"/>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600" dirty="0">
                    <a:solidFill>
                      <a:schemeClr val="bg1"/>
                    </a:solidFill>
                    <a:latin typeface="+mn-ea"/>
                    <a:ea typeface="+mn-ea"/>
                    <a:sym typeface="微软雅黑" panose="020B0503020204020204" pitchFamily="34" charset="-122"/>
                  </a:rPr>
                  <a:t>Storage Pool</a:t>
                </a:r>
                <a:endParaRPr kumimoji="0" lang="zh-CN" altLang="en-US" sz="16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24" name="上箭头 23"/>
              <p:cNvSpPr/>
              <p:nvPr/>
            </p:nvSpPr>
            <p:spPr bwMode="auto">
              <a:xfrm rot="10800000">
                <a:off x="4915763" y="2518199"/>
                <a:ext cx="421921" cy="2808312"/>
              </a:xfrm>
              <a:prstGeom prst="upArrow">
                <a:avLst/>
              </a:prstGeom>
              <a:solidFill>
                <a:srgbClr val="948A5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25" name="圆柱形 24"/>
              <p:cNvSpPr/>
              <p:nvPr/>
            </p:nvSpPr>
            <p:spPr bwMode="auto">
              <a:xfrm>
                <a:off x="1922973" y="4983743"/>
                <a:ext cx="1136421" cy="524575"/>
              </a:xfrm>
              <a:prstGeom prst="can">
                <a:avLst/>
              </a:prstGeom>
              <a:solidFill>
                <a:srgbClr val="C4BD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mn-ea"/>
                    <a:ea typeface="+mn-ea"/>
                    <a:sym typeface="微软雅黑" panose="020B0503020204020204" pitchFamily="34" charset="-122"/>
                  </a:rPr>
                  <a:t>HDD</a:t>
                </a:r>
                <a:endParaRPr kumimoji="0" lang="zh-CN" altLang="en-US" sz="1600" b="0" i="0" u="none" strike="noStrike" cap="none" normalizeH="0" baseline="0" dirty="0">
                  <a:ln>
                    <a:noFill/>
                  </a:ln>
                  <a:solidFill>
                    <a:schemeClr val="tx1"/>
                  </a:solidFill>
                  <a:effectLst/>
                  <a:latin typeface="+mn-ea"/>
                  <a:ea typeface="+mn-ea"/>
                  <a:sym typeface="微软雅黑" panose="020B0503020204020204" pitchFamily="34" charset="-122"/>
                </a:endParaRPr>
              </a:p>
            </p:txBody>
          </p:sp>
          <p:sp>
            <p:nvSpPr>
              <p:cNvPr id="26" name="圆柱形 25"/>
              <p:cNvSpPr/>
              <p:nvPr/>
            </p:nvSpPr>
            <p:spPr bwMode="auto">
              <a:xfrm>
                <a:off x="3273871" y="4983743"/>
                <a:ext cx="1136421" cy="524575"/>
              </a:xfrm>
              <a:prstGeom prst="can">
                <a:avLst/>
              </a:prstGeom>
              <a:solidFill>
                <a:srgbClr val="C4BD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mn-ea"/>
                    <a:ea typeface="+mn-ea"/>
                    <a:sym typeface="微软雅黑" panose="020B0503020204020204" pitchFamily="34" charset="-122"/>
                  </a:rPr>
                  <a:t>HDD</a:t>
                </a:r>
                <a:endParaRPr kumimoji="0" lang="zh-CN" altLang="en-US" sz="1600" b="0" i="0" u="none" strike="noStrike" cap="none" normalizeH="0" baseline="0" dirty="0">
                  <a:ln>
                    <a:noFill/>
                  </a:ln>
                  <a:solidFill>
                    <a:schemeClr val="tx1"/>
                  </a:solidFill>
                  <a:effectLst/>
                  <a:latin typeface="+mn-ea"/>
                  <a:ea typeface="+mn-ea"/>
                  <a:sym typeface="微软雅黑" panose="020B0503020204020204" pitchFamily="34" charset="-122"/>
                </a:endParaRPr>
              </a:p>
            </p:txBody>
          </p:sp>
        </p:grpSp>
        <p:sp>
          <p:nvSpPr>
            <p:cNvPr id="19" name="文本框 18"/>
            <p:cNvSpPr txBox="1"/>
            <p:nvPr/>
          </p:nvSpPr>
          <p:spPr bwMode="auto">
            <a:xfrm>
              <a:off x="1952173" y="5932749"/>
              <a:ext cx="3242492"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800" dirty="0">
                  <a:latin typeface="+mn-ea"/>
                  <a:ea typeface="+mn-ea"/>
                  <a:sym typeface="微软雅黑" panose="020B0503020204020204" pitchFamily="34" charset="-122"/>
                </a:rPr>
                <a:t>SDS</a:t>
              </a:r>
              <a:r>
                <a:rPr lang="zh-CN" altLang="en-US" sz="1800" dirty="0">
                  <a:latin typeface="+mn-ea"/>
                  <a:ea typeface="+mn-ea"/>
                  <a:sym typeface="微软雅黑" panose="020B0503020204020204" pitchFamily="34" charset="-122"/>
                </a:rPr>
                <a:t>存储系统设计（自顶向下）</a:t>
              </a:r>
            </a:p>
          </p:txBody>
        </p:sp>
      </p:grpSp>
    </p:spTree>
    <p:extLst>
      <p:ext uri="{BB962C8B-B14F-4D97-AF65-F5344CB8AC3E}">
        <p14:creationId xmlns:p14="http://schemas.microsoft.com/office/powerpoint/2010/main" val="2221960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1"/>
                </a:solidFill>
              </a:rPr>
              <a:t>新业务催生新资源供给模式</a:t>
            </a:r>
          </a:p>
        </p:txBody>
      </p:sp>
      <p:sp>
        <p:nvSpPr>
          <p:cNvPr id="3" name="Freeform 16"/>
          <p:cNvSpPr>
            <a:spLocks/>
          </p:cNvSpPr>
          <p:nvPr/>
        </p:nvSpPr>
        <p:spPr bwMode="auto">
          <a:xfrm rot="16200000">
            <a:off x="5525141" y="3134372"/>
            <a:ext cx="1946874" cy="805156"/>
          </a:xfrm>
          <a:custGeom>
            <a:avLst/>
            <a:gdLst>
              <a:gd name="T0" fmla="*/ 1190 w 1190"/>
              <a:gd name="T1" fmla="*/ 0 h 574"/>
              <a:gd name="T2" fmla="*/ 704 w 1190"/>
              <a:gd name="T3" fmla="*/ 0 h 574"/>
              <a:gd name="T4" fmla="*/ 595 w 1190"/>
              <a:gd name="T5" fmla="*/ 166 h 574"/>
              <a:gd name="T6" fmla="*/ 595 w 1190"/>
              <a:gd name="T7" fmla="*/ 166 h 574"/>
              <a:gd name="T8" fmla="*/ 595 w 1190"/>
              <a:gd name="T9" fmla="*/ 166 h 574"/>
              <a:gd name="T10" fmla="*/ 486 w 1190"/>
              <a:gd name="T11" fmla="*/ 0 h 574"/>
              <a:gd name="T12" fmla="*/ 0 w 1190"/>
              <a:gd name="T13" fmla="*/ 0 h 574"/>
              <a:gd name="T14" fmla="*/ 501 w 1190"/>
              <a:gd name="T15" fmla="*/ 424 h 574"/>
              <a:gd name="T16" fmla="*/ 501 w 1190"/>
              <a:gd name="T17" fmla="*/ 424 h 574"/>
              <a:gd name="T18" fmla="*/ 501 w 1190"/>
              <a:gd name="T19" fmla="*/ 424 h 574"/>
              <a:gd name="T20" fmla="*/ 501 w 1190"/>
              <a:gd name="T21" fmla="*/ 425 h 574"/>
              <a:gd name="T22" fmla="*/ 395 w 1190"/>
              <a:gd name="T23" fmla="*/ 425 h 574"/>
              <a:gd name="T24" fmla="*/ 598 w 1190"/>
              <a:gd name="T25" fmla="*/ 574 h 574"/>
              <a:gd name="T26" fmla="*/ 801 w 1190"/>
              <a:gd name="T27" fmla="*/ 425 h 574"/>
              <a:gd name="T28" fmla="*/ 689 w 1190"/>
              <a:gd name="T29" fmla="*/ 425 h 574"/>
              <a:gd name="T30" fmla="*/ 689 w 1190"/>
              <a:gd name="T31" fmla="*/ 424 h 574"/>
              <a:gd name="T32" fmla="*/ 1190 w 1190"/>
              <a:gd name="T33" fmla="*/ 0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90" h="574">
                <a:moveTo>
                  <a:pt x="1190" y="0"/>
                </a:moveTo>
                <a:cubicBezTo>
                  <a:pt x="704" y="0"/>
                  <a:pt x="704" y="0"/>
                  <a:pt x="704" y="0"/>
                </a:cubicBezTo>
                <a:cubicBezTo>
                  <a:pt x="704" y="0"/>
                  <a:pt x="649" y="65"/>
                  <a:pt x="595" y="166"/>
                </a:cubicBezTo>
                <a:cubicBezTo>
                  <a:pt x="595" y="166"/>
                  <a:pt x="595" y="166"/>
                  <a:pt x="595" y="166"/>
                </a:cubicBezTo>
                <a:cubicBezTo>
                  <a:pt x="595" y="166"/>
                  <a:pt x="595" y="166"/>
                  <a:pt x="595" y="166"/>
                </a:cubicBezTo>
                <a:cubicBezTo>
                  <a:pt x="541" y="65"/>
                  <a:pt x="486" y="0"/>
                  <a:pt x="486" y="0"/>
                </a:cubicBezTo>
                <a:cubicBezTo>
                  <a:pt x="0" y="0"/>
                  <a:pt x="0" y="0"/>
                  <a:pt x="0" y="0"/>
                </a:cubicBezTo>
                <a:cubicBezTo>
                  <a:pt x="313" y="135"/>
                  <a:pt x="468" y="369"/>
                  <a:pt x="501" y="424"/>
                </a:cubicBezTo>
                <a:cubicBezTo>
                  <a:pt x="501" y="424"/>
                  <a:pt x="501" y="424"/>
                  <a:pt x="501" y="424"/>
                </a:cubicBezTo>
                <a:cubicBezTo>
                  <a:pt x="501" y="424"/>
                  <a:pt x="501" y="424"/>
                  <a:pt x="501" y="424"/>
                </a:cubicBezTo>
                <a:cubicBezTo>
                  <a:pt x="501" y="424"/>
                  <a:pt x="501" y="424"/>
                  <a:pt x="501" y="425"/>
                </a:cubicBezTo>
                <a:cubicBezTo>
                  <a:pt x="395" y="425"/>
                  <a:pt x="395" y="425"/>
                  <a:pt x="395" y="425"/>
                </a:cubicBezTo>
                <a:cubicBezTo>
                  <a:pt x="598" y="574"/>
                  <a:pt x="598" y="574"/>
                  <a:pt x="598" y="574"/>
                </a:cubicBezTo>
                <a:cubicBezTo>
                  <a:pt x="801" y="425"/>
                  <a:pt x="801" y="425"/>
                  <a:pt x="801" y="425"/>
                </a:cubicBezTo>
                <a:cubicBezTo>
                  <a:pt x="689" y="425"/>
                  <a:pt x="689" y="425"/>
                  <a:pt x="689" y="425"/>
                </a:cubicBezTo>
                <a:cubicBezTo>
                  <a:pt x="689" y="424"/>
                  <a:pt x="689" y="424"/>
                  <a:pt x="689" y="424"/>
                </a:cubicBezTo>
                <a:cubicBezTo>
                  <a:pt x="722" y="369"/>
                  <a:pt x="877" y="135"/>
                  <a:pt x="1190" y="0"/>
                </a:cubicBezTo>
                <a:close/>
              </a:path>
            </a:pathLst>
          </a:custGeom>
          <a:solidFill>
            <a:srgbClr val="FFFFFF">
              <a:lumMod val="85000"/>
            </a:srgbClr>
          </a:solidFill>
          <a:ln w="12700" algn="ctr">
            <a:noFill/>
            <a:round/>
            <a:headEnd/>
            <a:tailEnd/>
          </a:ln>
          <a:effectLst/>
        </p:spPr>
        <p:txBody>
          <a:bodyPr wrap="none" anchor="ctr"/>
          <a:lstStyle/>
          <a:p>
            <a:pPr marL="0" marR="0" lvl="0" indent="0" defTabSz="914478" eaLnBrk="0" fontAlgn="base" latinLnBrk="0" hangingPunct="0">
              <a:lnSpc>
                <a:spcPct val="100000"/>
              </a:lnSpc>
              <a:spcBef>
                <a:spcPts val="0"/>
              </a:spcBef>
              <a:spcAft>
                <a:spcPts val="0"/>
              </a:spcAft>
              <a:buClr>
                <a:srgbClr val="990000"/>
              </a:buClr>
              <a:buSzPct val="60000"/>
              <a:buFontTx/>
              <a:buNone/>
              <a:tabLst/>
              <a:defRPr/>
            </a:pPr>
            <a:endParaRPr kumimoji="0" lang="zh-CN" altLang="en-US" sz="3200" b="0" i="0" u="none" strike="noStrike" kern="0" cap="none" spc="0" normalizeH="0" baseline="0" noProof="0" dirty="0">
              <a:ln>
                <a:noFill/>
              </a:ln>
              <a:effectLst/>
              <a:uLnTx/>
              <a:uFillTx/>
              <a:latin typeface="+mn-ea"/>
              <a:ea typeface="+mn-ea"/>
              <a:cs typeface="Arial" pitchFamily="34" charset="0"/>
            </a:endParaRPr>
          </a:p>
        </p:txBody>
      </p:sp>
      <p:sp>
        <p:nvSpPr>
          <p:cNvPr id="4" name="矩形 3"/>
          <p:cNvSpPr/>
          <p:nvPr/>
        </p:nvSpPr>
        <p:spPr>
          <a:xfrm>
            <a:off x="7436980" y="1677128"/>
            <a:ext cx="3640172" cy="3858680"/>
          </a:xfrm>
          <a:prstGeom prst="rect">
            <a:avLst/>
          </a:prstGeom>
          <a:solidFill>
            <a:srgbClr val="CCECFF"/>
          </a:solidFill>
          <a:ln w="25400" cap="flat" cmpd="sng" algn="ctr">
            <a:noFill/>
            <a:prstDash val="solid"/>
          </a:ln>
          <a:effectLst/>
        </p:spPr>
        <p:txBody>
          <a:bodyPr rtlCol="0" anchor="ctr"/>
          <a:lstStyle/>
          <a:p>
            <a:pPr algn="ctr" defTabSz="1219444" fontAlgn="auto">
              <a:spcBef>
                <a:spcPts val="0"/>
              </a:spcBef>
              <a:spcAft>
                <a:spcPts val="0"/>
              </a:spcAft>
              <a:defRPr/>
            </a:pPr>
            <a:endParaRPr lang="zh-CN" altLang="en-US" sz="2400" kern="0">
              <a:latin typeface="+mn-ea"/>
              <a:ea typeface="+mn-ea"/>
            </a:endParaRPr>
          </a:p>
        </p:txBody>
      </p:sp>
      <p:pic>
        <p:nvPicPr>
          <p:cNvPr id="5" name="图片 4"/>
          <p:cNvPicPr>
            <a:picLocks noChangeAspect="1"/>
          </p:cNvPicPr>
          <p:nvPr/>
        </p:nvPicPr>
        <p:blipFill>
          <a:blip r:embed="rId3" cstate="print"/>
          <a:stretch>
            <a:fillRect/>
          </a:stretch>
        </p:blipFill>
        <p:spPr>
          <a:xfrm>
            <a:off x="8428973" y="4465154"/>
            <a:ext cx="1656184" cy="899325"/>
          </a:xfrm>
          <a:prstGeom prst="rect">
            <a:avLst/>
          </a:prstGeom>
        </p:spPr>
      </p:pic>
      <p:cxnSp>
        <p:nvCxnSpPr>
          <p:cNvPr id="6" name="直接连接符 5"/>
          <p:cNvCxnSpPr/>
          <p:nvPr/>
        </p:nvCxnSpPr>
        <p:spPr>
          <a:xfrm>
            <a:off x="6951293" y="6107763"/>
            <a:ext cx="4302110" cy="0"/>
          </a:xfrm>
          <a:prstGeom prst="line">
            <a:avLst/>
          </a:prstGeom>
          <a:noFill/>
          <a:ln w="12700" cap="flat">
            <a:solidFill>
              <a:srgbClr val="313E4F">
                <a:alpha val="47843"/>
              </a:srgbClr>
            </a:solidFill>
            <a:prstDash val="solid"/>
            <a:miter lim="400000"/>
          </a:ln>
          <a:effectLst/>
        </p:spPr>
      </p:cxnSp>
      <p:sp>
        <p:nvSpPr>
          <p:cNvPr id="7" name="矩形 18"/>
          <p:cNvSpPr/>
          <p:nvPr/>
        </p:nvSpPr>
        <p:spPr>
          <a:xfrm>
            <a:off x="7436979" y="5685787"/>
            <a:ext cx="3640173" cy="246221"/>
          </a:xfrm>
          <a:prstGeom prst="rect">
            <a:avLst/>
          </a:prstGeom>
        </p:spPr>
        <p:txBody>
          <a:bodyPr wrap="square" lIns="0" tIns="0" rIns="0" bIns="0">
            <a:spAutoFit/>
          </a:bodyPr>
          <a:lstStyle/>
          <a:p>
            <a:pPr algn="ctr" defTabSz="1219444" fontAlgn="auto">
              <a:spcBef>
                <a:spcPct val="20000"/>
              </a:spcBef>
              <a:spcAft>
                <a:spcPts val="0"/>
              </a:spcAft>
              <a:defRPr/>
            </a:pPr>
            <a:r>
              <a:rPr lang="zh-CN" altLang="en-US" sz="1600" dirty="0">
                <a:latin typeface="+mn-ea"/>
                <a:ea typeface="+mn-ea"/>
                <a:cs typeface="Arial" pitchFamily="34" charset="0"/>
              </a:rPr>
              <a:t>“软件定义”是云的关键价值  </a:t>
            </a:r>
          </a:p>
        </p:txBody>
      </p:sp>
      <p:grpSp>
        <p:nvGrpSpPr>
          <p:cNvPr id="8" name="组合 7"/>
          <p:cNvGrpSpPr/>
          <p:nvPr/>
        </p:nvGrpSpPr>
        <p:grpSpPr>
          <a:xfrm>
            <a:off x="7825599" y="4244952"/>
            <a:ext cx="2880000" cy="0"/>
            <a:chOff x="1669677" y="2233707"/>
            <a:chExt cx="8705850" cy="0"/>
          </a:xfrm>
        </p:grpSpPr>
        <p:sp>
          <p:nvSpPr>
            <p:cNvPr id="9" name="Line 9"/>
            <p:cNvSpPr>
              <a:spLocks noChangeShapeType="1"/>
            </p:cNvSpPr>
            <p:nvPr/>
          </p:nvSpPr>
          <p:spPr bwMode="auto">
            <a:xfrm>
              <a:off x="1669677" y="2233707"/>
              <a:ext cx="4367213" cy="0"/>
            </a:xfrm>
            <a:prstGeom prst="line">
              <a:avLst/>
            </a:prstGeom>
            <a:noFill/>
            <a:ln w="127000">
              <a:solidFill>
                <a:srgbClr val="8EBECB"/>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pPr defTabSz="1219444" fontAlgn="auto">
                <a:spcBef>
                  <a:spcPts val="0"/>
                </a:spcBef>
                <a:spcAft>
                  <a:spcPts val="0"/>
                </a:spcAft>
              </a:pPr>
              <a:endParaRPr lang="zh-CN" altLang="en-US" sz="2400">
                <a:latin typeface="+mn-ea"/>
                <a:ea typeface="+mn-ea"/>
              </a:endParaRPr>
            </a:p>
          </p:txBody>
        </p:sp>
        <p:sp>
          <p:nvSpPr>
            <p:cNvPr id="10" name="Line 10"/>
            <p:cNvSpPr>
              <a:spLocks noChangeShapeType="1"/>
            </p:cNvSpPr>
            <p:nvPr/>
          </p:nvSpPr>
          <p:spPr bwMode="auto">
            <a:xfrm>
              <a:off x="6036890" y="2233707"/>
              <a:ext cx="4338637" cy="0"/>
            </a:xfrm>
            <a:prstGeom prst="line">
              <a:avLst/>
            </a:prstGeom>
            <a:noFill/>
            <a:ln w="127000">
              <a:solidFill>
                <a:srgbClr val="A6CED8"/>
              </a:solidFill>
              <a:round/>
              <a:headEnd/>
              <a:tailEnd type="triangle" w="sm" len="lg"/>
            </a:ln>
            <a:extLst>
              <a:ext uri="{909E8E84-426E-40DD-AFC4-6F175D3DCCD1}">
                <a14:hiddenFill xmlns:a14="http://schemas.microsoft.com/office/drawing/2010/main">
                  <a:noFill/>
                </a14:hiddenFill>
              </a:ext>
            </a:extLst>
          </p:spPr>
          <p:txBody>
            <a:bodyPr wrap="none" anchor="ctr"/>
            <a:lstStyle/>
            <a:p>
              <a:pPr defTabSz="1219444" fontAlgn="auto">
                <a:spcBef>
                  <a:spcPts val="0"/>
                </a:spcBef>
                <a:spcAft>
                  <a:spcPts val="0"/>
                </a:spcAft>
              </a:pPr>
              <a:endParaRPr lang="zh-CN" altLang="en-US" sz="2400">
                <a:latin typeface="+mn-ea"/>
                <a:ea typeface="+mn-ea"/>
              </a:endParaRPr>
            </a:p>
          </p:txBody>
        </p:sp>
      </p:grpSp>
      <p:sp>
        <p:nvSpPr>
          <p:cNvPr id="11" name="矩形 10"/>
          <p:cNvSpPr/>
          <p:nvPr/>
        </p:nvSpPr>
        <p:spPr>
          <a:xfrm>
            <a:off x="7437338" y="1314112"/>
            <a:ext cx="3639813" cy="338552"/>
          </a:xfrm>
          <a:prstGeom prst="rect">
            <a:avLst/>
          </a:prstGeom>
          <a:solidFill>
            <a:srgbClr val="CCECFF"/>
          </a:solidFill>
          <a:ln w="19050">
            <a:solidFill>
              <a:sysClr val="window" lastClr="FFFFFF">
                <a:lumMod val="75000"/>
              </a:sysClr>
            </a:solidFill>
          </a:ln>
        </p:spPr>
        <p:txBody>
          <a:bodyPr wrap="square" lIns="91437" tIns="45719" rIns="91437" bIns="45719">
            <a:spAutoFit/>
          </a:bodyPr>
          <a:lstStyle/>
          <a:p>
            <a:pPr algn="ctr" defTabSz="1219444" eaLnBrk="0" fontAlgn="base" hangingPunct="0">
              <a:defRPr/>
            </a:pPr>
            <a:r>
              <a:rPr kumimoji="1" lang="zh-CN" altLang="en-US" sz="1600" b="1" kern="0" dirty="0">
                <a:latin typeface="+mn-ea"/>
                <a:ea typeface="+mn-ea"/>
                <a:cs typeface="Arial"/>
              </a:rPr>
              <a:t>新架构：云</a:t>
            </a:r>
          </a:p>
        </p:txBody>
      </p:sp>
      <p:pic>
        <p:nvPicPr>
          <p:cNvPr id="12" name="图片 11"/>
          <p:cNvPicPr>
            <a:picLocks noChangeAspect="1"/>
          </p:cNvPicPr>
          <p:nvPr/>
        </p:nvPicPr>
        <p:blipFill>
          <a:blip r:embed="rId4" cstate="print">
            <a:duotone>
              <a:srgbClr val="4BACC6">
                <a:shade val="45000"/>
                <a:satMod val="135000"/>
              </a:srgbClr>
              <a:prstClr val="white"/>
            </a:duotone>
            <a:extLst>
              <a:ext uri="{28A0092B-C50C-407E-A947-70E740481C1C}">
                <a14:useLocalDpi xmlns:a14="http://schemas.microsoft.com/office/drawing/2010/main" val="0"/>
              </a:ext>
            </a:extLst>
          </a:blip>
          <a:stretch>
            <a:fillRect/>
          </a:stretch>
        </p:blipFill>
        <p:spPr>
          <a:xfrm>
            <a:off x="8798234" y="1981930"/>
            <a:ext cx="701547" cy="606838"/>
          </a:xfrm>
          <a:prstGeom prst="rect">
            <a:avLst/>
          </a:prstGeom>
        </p:spPr>
      </p:pic>
      <p:pic>
        <p:nvPicPr>
          <p:cNvPr id="13" name="图片 12"/>
          <p:cNvPicPr>
            <a:picLocks noChangeAspect="1"/>
          </p:cNvPicPr>
          <p:nvPr/>
        </p:nvPicPr>
        <p:blipFill>
          <a:blip r:embed="rId5" cstate="print">
            <a:duotone>
              <a:srgbClr val="4BACC6">
                <a:shade val="45000"/>
                <a:satMod val="135000"/>
              </a:srgbClr>
              <a:prstClr val="white"/>
            </a:duotone>
            <a:extLst>
              <a:ext uri="{28A0092B-C50C-407E-A947-70E740481C1C}">
                <a14:useLocalDpi xmlns:a14="http://schemas.microsoft.com/office/drawing/2010/main" val="0"/>
              </a:ext>
            </a:extLst>
          </a:blip>
          <a:stretch>
            <a:fillRect/>
          </a:stretch>
        </p:blipFill>
        <p:spPr>
          <a:xfrm>
            <a:off x="7784764" y="1948866"/>
            <a:ext cx="639902" cy="639902"/>
          </a:xfrm>
          <a:prstGeom prst="rect">
            <a:avLst/>
          </a:prstGeom>
        </p:spPr>
      </p:pic>
      <p:pic>
        <p:nvPicPr>
          <p:cNvPr id="14" name="图片 13"/>
          <p:cNvPicPr>
            <a:picLocks noChangeAspect="1"/>
          </p:cNvPicPr>
          <p:nvPr/>
        </p:nvPicPr>
        <p:blipFill>
          <a:blip r:embed="rId6" cstate="print">
            <a:duotone>
              <a:srgbClr val="4BACC6">
                <a:shade val="45000"/>
                <a:satMod val="135000"/>
              </a:srgbClr>
              <a:prstClr val="white"/>
            </a:duotone>
            <a:extLst>
              <a:ext uri="{28A0092B-C50C-407E-A947-70E740481C1C}">
                <a14:useLocalDpi xmlns:a14="http://schemas.microsoft.com/office/drawing/2010/main" val="0"/>
              </a:ext>
            </a:extLst>
          </a:blip>
          <a:stretch>
            <a:fillRect/>
          </a:stretch>
        </p:blipFill>
        <p:spPr>
          <a:xfrm>
            <a:off x="9873350" y="1982517"/>
            <a:ext cx="966375" cy="606251"/>
          </a:xfrm>
          <a:prstGeom prst="rect">
            <a:avLst/>
          </a:prstGeom>
        </p:spPr>
      </p:pic>
      <p:grpSp>
        <p:nvGrpSpPr>
          <p:cNvPr id="15" name="组合 14"/>
          <p:cNvGrpSpPr/>
          <p:nvPr/>
        </p:nvGrpSpPr>
        <p:grpSpPr>
          <a:xfrm>
            <a:off x="8524567" y="3255181"/>
            <a:ext cx="1448178" cy="789101"/>
            <a:chOff x="5229225" y="971551"/>
            <a:chExt cx="512762" cy="279400"/>
          </a:xfrm>
          <a:solidFill>
            <a:sysClr val="window" lastClr="FFFFFF">
              <a:lumMod val="65000"/>
            </a:sysClr>
          </a:solidFill>
        </p:grpSpPr>
        <p:sp>
          <p:nvSpPr>
            <p:cNvPr id="16" name="Freeform 20"/>
            <p:cNvSpPr>
              <a:spLocks noEditPoints="1"/>
            </p:cNvSpPr>
            <p:nvPr/>
          </p:nvSpPr>
          <p:spPr bwMode="auto">
            <a:xfrm>
              <a:off x="5372100" y="971551"/>
              <a:ext cx="369887" cy="244475"/>
            </a:xfrm>
            <a:custGeom>
              <a:avLst/>
              <a:gdLst>
                <a:gd name="T0" fmla="*/ 94 w 176"/>
                <a:gd name="T1" fmla="*/ 8 h 115"/>
                <a:gd name="T2" fmla="*/ 120 w 176"/>
                <a:gd name="T3" fmla="*/ 31 h 115"/>
                <a:gd name="T4" fmla="*/ 126 w 176"/>
                <a:gd name="T5" fmla="*/ 31 h 115"/>
                <a:gd name="T6" fmla="*/ 139 w 176"/>
                <a:gd name="T7" fmla="*/ 56 h 115"/>
                <a:gd name="T8" fmla="*/ 144 w 176"/>
                <a:gd name="T9" fmla="*/ 55 h 115"/>
                <a:gd name="T10" fmla="*/ 168 w 176"/>
                <a:gd name="T11" fmla="*/ 79 h 115"/>
                <a:gd name="T12" fmla="*/ 136 w 176"/>
                <a:gd name="T13" fmla="*/ 106 h 115"/>
                <a:gd name="T14" fmla="*/ 90 w 176"/>
                <a:gd name="T15" fmla="*/ 106 h 115"/>
                <a:gd name="T16" fmla="*/ 44 w 176"/>
                <a:gd name="T17" fmla="*/ 106 h 115"/>
                <a:gd name="T18" fmla="*/ 8 w 176"/>
                <a:gd name="T19" fmla="*/ 78 h 115"/>
                <a:gd name="T20" fmla="*/ 32 w 176"/>
                <a:gd name="T21" fmla="*/ 51 h 115"/>
                <a:gd name="T22" fmla="*/ 39 w 176"/>
                <a:gd name="T23" fmla="*/ 52 h 115"/>
                <a:gd name="T24" fmla="*/ 38 w 176"/>
                <a:gd name="T25" fmla="*/ 49 h 115"/>
                <a:gd name="T26" fmla="*/ 56 w 176"/>
                <a:gd name="T27" fmla="*/ 28 h 115"/>
                <a:gd name="T28" fmla="*/ 66 w 176"/>
                <a:gd name="T29" fmla="*/ 31 h 115"/>
                <a:gd name="T30" fmla="*/ 94 w 176"/>
                <a:gd name="T31" fmla="*/ 8 h 115"/>
                <a:gd name="T32" fmla="*/ 93 w 176"/>
                <a:gd name="T33" fmla="*/ 8 h 115"/>
                <a:gd name="T34" fmla="*/ 94 w 176"/>
                <a:gd name="T35" fmla="*/ 0 h 115"/>
                <a:gd name="T36" fmla="*/ 94 w 176"/>
                <a:gd name="T37" fmla="*/ 0 h 115"/>
                <a:gd name="T38" fmla="*/ 63 w 176"/>
                <a:gd name="T39" fmla="*/ 14 h 115"/>
                <a:gd name="T40" fmla="*/ 59 w 176"/>
                <a:gd name="T41" fmla="*/ 21 h 115"/>
                <a:gd name="T42" fmla="*/ 56 w 176"/>
                <a:gd name="T43" fmla="*/ 20 h 115"/>
                <a:gd name="T44" fmla="*/ 35 w 176"/>
                <a:gd name="T45" fmla="*/ 30 h 115"/>
                <a:gd name="T46" fmla="*/ 29 w 176"/>
                <a:gd name="T47" fmla="*/ 43 h 115"/>
                <a:gd name="T48" fmla="*/ 9 w 176"/>
                <a:gd name="T49" fmla="*/ 54 h 115"/>
                <a:gd name="T50" fmla="*/ 0 w 176"/>
                <a:gd name="T51" fmla="*/ 78 h 115"/>
                <a:gd name="T52" fmla="*/ 44 w 176"/>
                <a:gd name="T53" fmla="*/ 115 h 115"/>
                <a:gd name="T54" fmla="*/ 90 w 176"/>
                <a:gd name="T55" fmla="*/ 115 h 115"/>
                <a:gd name="T56" fmla="*/ 136 w 176"/>
                <a:gd name="T57" fmla="*/ 115 h 115"/>
                <a:gd name="T58" fmla="*/ 176 w 176"/>
                <a:gd name="T59" fmla="*/ 79 h 115"/>
                <a:gd name="T60" fmla="*/ 149 w 176"/>
                <a:gd name="T61" fmla="*/ 48 h 115"/>
                <a:gd name="T62" fmla="*/ 146 w 176"/>
                <a:gd name="T63" fmla="*/ 33 h 115"/>
                <a:gd name="T64" fmla="*/ 129 w 176"/>
                <a:gd name="T65" fmla="*/ 23 h 115"/>
                <a:gd name="T66" fmla="*/ 125 w 176"/>
                <a:gd name="T67" fmla="*/ 14 h 115"/>
                <a:gd name="T68" fmla="*/ 94 w 176"/>
                <a:gd name="T6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6" h="115">
                  <a:moveTo>
                    <a:pt x="94" y="8"/>
                  </a:moveTo>
                  <a:cubicBezTo>
                    <a:pt x="109" y="8"/>
                    <a:pt x="125" y="18"/>
                    <a:pt x="120" y="31"/>
                  </a:cubicBezTo>
                  <a:cubicBezTo>
                    <a:pt x="122" y="31"/>
                    <a:pt x="124" y="31"/>
                    <a:pt x="126" y="31"/>
                  </a:cubicBezTo>
                  <a:cubicBezTo>
                    <a:pt x="143" y="31"/>
                    <a:pt x="143" y="47"/>
                    <a:pt x="139" y="56"/>
                  </a:cubicBezTo>
                  <a:cubicBezTo>
                    <a:pt x="141" y="55"/>
                    <a:pt x="142" y="55"/>
                    <a:pt x="144" y="55"/>
                  </a:cubicBezTo>
                  <a:cubicBezTo>
                    <a:pt x="160" y="55"/>
                    <a:pt x="168" y="68"/>
                    <a:pt x="168" y="79"/>
                  </a:cubicBezTo>
                  <a:cubicBezTo>
                    <a:pt x="168" y="95"/>
                    <a:pt x="158" y="106"/>
                    <a:pt x="136" y="106"/>
                  </a:cubicBezTo>
                  <a:cubicBezTo>
                    <a:pt x="90" y="106"/>
                    <a:pt x="90" y="106"/>
                    <a:pt x="90" y="106"/>
                  </a:cubicBezTo>
                  <a:cubicBezTo>
                    <a:pt x="44" y="106"/>
                    <a:pt x="44" y="106"/>
                    <a:pt x="44" y="106"/>
                  </a:cubicBezTo>
                  <a:cubicBezTo>
                    <a:pt x="25" y="106"/>
                    <a:pt x="8" y="98"/>
                    <a:pt x="8" y="78"/>
                  </a:cubicBezTo>
                  <a:cubicBezTo>
                    <a:pt x="8" y="64"/>
                    <a:pt x="18" y="51"/>
                    <a:pt x="32" y="51"/>
                  </a:cubicBezTo>
                  <a:cubicBezTo>
                    <a:pt x="34" y="51"/>
                    <a:pt x="36" y="51"/>
                    <a:pt x="39" y="52"/>
                  </a:cubicBezTo>
                  <a:cubicBezTo>
                    <a:pt x="39" y="52"/>
                    <a:pt x="38" y="49"/>
                    <a:pt x="38" y="49"/>
                  </a:cubicBezTo>
                  <a:cubicBezTo>
                    <a:pt x="35" y="40"/>
                    <a:pt x="44" y="28"/>
                    <a:pt x="56" y="28"/>
                  </a:cubicBezTo>
                  <a:cubicBezTo>
                    <a:pt x="59" y="28"/>
                    <a:pt x="63" y="29"/>
                    <a:pt x="66" y="31"/>
                  </a:cubicBezTo>
                  <a:cubicBezTo>
                    <a:pt x="64" y="18"/>
                    <a:pt x="80" y="8"/>
                    <a:pt x="94" y="8"/>
                  </a:cubicBezTo>
                  <a:cubicBezTo>
                    <a:pt x="94" y="8"/>
                    <a:pt x="93" y="8"/>
                    <a:pt x="93" y="8"/>
                  </a:cubicBezTo>
                  <a:moveTo>
                    <a:pt x="94" y="0"/>
                  </a:moveTo>
                  <a:cubicBezTo>
                    <a:pt x="94" y="0"/>
                    <a:pt x="94" y="0"/>
                    <a:pt x="94" y="0"/>
                  </a:cubicBezTo>
                  <a:cubicBezTo>
                    <a:pt x="82" y="0"/>
                    <a:pt x="70" y="5"/>
                    <a:pt x="63" y="14"/>
                  </a:cubicBezTo>
                  <a:cubicBezTo>
                    <a:pt x="61" y="16"/>
                    <a:pt x="60" y="18"/>
                    <a:pt x="59" y="21"/>
                  </a:cubicBezTo>
                  <a:cubicBezTo>
                    <a:pt x="58" y="20"/>
                    <a:pt x="57" y="20"/>
                    <a:pt x="56" y="20"/>
                  </a:cubicBezTo>
                  <a:cubicBezTo>
                    <a:pt x="48" y="20"/>
                    <a:pt x="40" y="24"/>
                    <a:pt x="35" y="30"/>
                  </a:cubicBezTo>
                  <a:cubicBezTo>
                    <a:pt x="32" y="34"/>
                    <a:pt x="30" y="38"/>
                    <a:pt x="29" y="43"/>
                  </a:cubicBezTo>
                  <a:cubicBezTo>
                    <a:pt x="21" y="44"/>
                    <a:pt x="14" y="47"/>
                    <a:pt x="9" y="54"/>
                  </a:cubicBezTo>
                  <a:cubicBezTo>
                    <a:pt x="3" y="60"/>
                    <a:pt x="0" y="69"/>
                    <a:pt x="0" y="78"/>
                  </a:cubicBezTo>
                  <a:cubicBezTo>
                    <a:pt x="0" y="100"/>
                    <a:pt x="17" y="115"/>
                    <a:pt x="44" y="115"/>
                  </a:cubicBezTo>
                  <a:cubicBezTo>
                    <a:pt x="90" y="115"/>
                    <a:pt x="90" y="115"/>
                    <a:pt x="90" y="115"/>
                  </a:cubicBezTo>
                  <a:cubicBezTo>
                    <a:pt x="136" y="115"/>
                    <a:pt x="136" y="115"/>
                    <a:pt x="136" y="115"/>
                  </a:cubicBezTo>
                  <a:cubicBezTo>
                    <a:pt x="161" y="115"/>
                    <a:pt x="176" y="101"/>
                    <a:pt x="176" y="79"/>
                  </a:cubicBezTo>
                  <a:cubicBezTo>
                    <a:pt x="176" y="65"/>
                    <a:pt x="167" y="50"/>
                    <a:pt x="149" y="48"/>
                  </a:cubicBezTo>
                  <a:cubicBezTo>
                    <a:pt x="150" y="42"/>
                    <a:pt x="149" y="37"/>
                    <a:pt x="146" y="33"/>
                  </a:cubicBezTo>
                  <a:cubicBezTo>
                    <a:pt x="142" y="27"/>
                    <a:pt x="136" y="23"/>
                    <a:pt x="129" y="23"/>
                  </a:cubicBezTo>
                  <a:cubicBezTo>
                    <a:pt x="128" y="20"/>
                    <a:pt x="127" y="17"/>
                    <a:pt x="125" y="14"/>
                  </a:cubicBezTo>
                  <a:cubicBezTo>
                    <a:pt x="119" y="6"/>
                    <a:pt x="107" y="0"/>
                    <a:pt x="9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444" fontAlgn="auto">
                <a:spcBef>
                  <a:spcPts val="0"/>
                </a:spcBef>
                <a:spcAft>
                  <a:spcPts val="0"/>
                </a:spcAft>
                <a:defRPr/>
              </a:pPr>
              <a:endParaRPr lang="zh-CN" altLang="en-US" sz="2400" kern="0">
                <a:latin typeface="+mn-ea"/>
                <a:ea typeface="+mn-ea"/>
              </a:endParaRPr>
            </a:p>
          </p:txBody>
        </p:sp>
        <p:sp>
          <p:nvSpPr>
            <p:cNvPr id="17" name="Freeform 21"/>
            <p:cNvSpPr>
              <a:spLocks/>
            </p:cNvSpPr>
            <p:nvPr/>
          </p:nvSpPr>
          <p:spPr bwMode="auto">
            <a:xfrm>
              <a:off x="5229225" y="971551"/>
              <a:ext cx="423862" cy="279400"/>
            </a:xfrm>
            <a:custGeom>
              <a:avLst/>
              <a:gdLst>
                <a:gd name="T0" fmla="*/ 108 w 202"/>
                <a:gd name="T1" fmla="*/ 0 h 132"/>
                <a:gd name="T2" fmla="*/ 108 w 202"/>
                <a:gd name="T3" fmla="*/ 0 h 132"/>
                <a:gd name="T4" fmla="*/ 73 w 202"/>
                <a:gd name="T5" fmla="*/ 16 h 132"/>
                <a:gd name="T6" fmla="*/ 68 w 202"/>
                <a:gd name="T7" fmla="*/ 24 h 132"/>
                <a:gd name="T8" fmla="*/ 65 w 202"/>
                <a:gd name="T9" fmla="*/ 23 h 132"/>
                <a:gd name="T10" fmla="*/ 40 w 202"/>
                <a:gd name="T11" fmla="*/ 35 h 132"/>
                <a:gd name="T12" fmla="*/ 34 w 202"/>
                <a:gd name="T13" fmla="*/ 49 h 132"/>
                <a:gd name="T14" fmla="*/ 10 w 202"/>
                <a:gd name="T15" fmla="*/ 62 h 132"/>
                <a:gd name="T16" fmla="*/ 0 w 202"/>
                <a:gd name="T17" fmla="*/ 89 h 132"/>
                <a:gd name="T18" fmla="*/ 51 w 202"/>
                <a:gd name="T19" fmla="*/ 132 h 132"/>
                <a:gd name="T20" fmla="*/ 104 w 202"/>
                <a:gd name="T21" fmla="*/ 132 h 132"/>
                <a:gd name="T22" fmla="*/ 157 w 202"/>
                <a:gd name="T23" fmla="*/ 132 h 132"/>
                <a:gd name="T24" fmla="*/ 202 w 202"/>
                <a:gd name="T25" fmla="*/ 91 h 132"/>
                <a:gd name="T26" fmla="*/ 172 w 202"/>
                <a:gd name="T27" fmla="*/ 55 h 132"/>
                <a:gd name="T28" fmla="*/ 168 w 202"/>
                <a:gd name="T29" fmla="*/ 37 h 132"/>
                <a:gd name="T30" fmla="*/ 148 w 202"/>
                <a:gd name="T31" fmla="*/ 26 h 132"/>
                <a:gd name="T32" fmla="*/ 144 w 202"/>
                <a:gd name="T33" fmla="*/ 17 h 132"/>
                <a:gd name="T34" fmla="*/ 108 w 202"/>
                <a:gd name="T35"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 h="132">
                  <a:moveTo>
                    <a:pt x="108" y="0"/>
                  </a:moveTo>
                  <a:cubicBezTo>
                    <a:pt x="108" y="0"/>
                    <a:pt x="108" y="0"/>
                    <a:pt x="108" y="0"/>
                  </a:cubicBezTo>
                  <a:cubicBezTo>
                    <a:pt x="95" y="0"/>
                    <a:pt x="81" y="6"/>
                    <a:pt x="73" y="16"/>
                  </a:cubicBezTo>
                  <a:cubicBezTo>
                    <a:pt x="71" y="18"/>
                    <a:pt x="69" y="21"/>
                    <a:pt x="68" y="24"/>
                  </a:cubicBezTo>
                  <a:cubicBezTo>
                    <a:pt x="67" y="23"/>
                    <a:pt x="66" y="23"/>
                    <a:pt x="65" y="23"/>
                  </a:cubicBezTo>
                  <a:cubicBezTo>
                    <a:pt x="55" y="23"/>
                    <a:pt x="46" y="28"/>
                    <a:pt x="40" y="35"/>
                  </a:cubicBezTo>
                  <a:cubicBezTo>
                    <a:pt x="37" y="39"/>
                    <a:pt x="35" y="44"/>
                    <a:pt x="34" y="49"/>
                  </a:cubicBezTo>
                  <a:cubicBezTo>
                    <a:pt x="25" y="50"/>
                    <a:pt x="17" y="54"/>
                    <a:pt x="10" y="62"/>
                  </a:cubicBezTo>
                  <a:cubicBezTo>
                    <a:pt x="4" y="69"/>
                    <a:pt x="0" y="80"/>
                    <a:pt x="0" y="89"/>
                  </a:cubicBezTo>
                  <a:cubicBezTo>
                    <a:pt x="0" y="115"/>
                    <a:pt x="20" y="132"/>
                    <a:pt x="51" y="132"/>
                  </a:cubicBezTo>
                  <a:cubicBezTo>
                    <a:pt x="104" y="132"/>
                    <a:pt x="104" y="132"/>
                    <a:pt x="104" y="132"/>
                  </a:cubicBezTo>
                  <a:cubicBezTo>
                    <a:pt x="157" y="132"/>
                    <a:pt x="157" y="132"/>
                    <a:pt x="157" y="132"/>
                  </a:cubicBezTo>
                  <a:cubicBezTo>
                    <a:pt x="185" y="132"/>
                    <a:pt x="202" y="116"/>
                    <a:pt x="202" y="91"/>
                  </a:cubicBezTo>
                  <a:cubicBezTo>
                    <a:pt x="202" y="74"/>
                    <a:pt x="192" y="58"/>
                    <a:pt x="172" y="55"/>
                  </a:cubicBezTo>
                  <a:cubicBezTo>
                    <a:pt x="172" y="49"/>
                    <a:pt x="171" y="43"/>
                    <a:pt x="168" y="37"/>
                  </a:cubicBezTo>
                  <a:cubicBezTo>
                    <a:pt x="164" y="31"/>
                    <a:pt x="157" y="27"/>
                    <a:pt x="148" y="26"/>
                  </a:cubicBezTo>
                  <a:cubicBezTo>
                    <a:pt x="148" y="23"/>
                    <a:pt x="146" y="20"/>
                    <a:pt x="144" y="17"/>
                  </a:cubicBezTo>
                  <a:cubicBezTo>
                    <a:pt x="137" y="7"/>
                    <a:pt x="123" y="0"/>
                    <a:pt x="1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444" fontAlgn="auto">
                <a:spcBef>
                  <a:spcPts val="0"/>
                </a:spcBef>
                <a:spcAft>
                  <a:spcPts val="0"/>
                </a:spcAft>
                <a:defRPr/>
              </a:pPr>
              <a:endParaRPr lang="zh-CN" altLang="en-US" sz="2400" kern="0">
                <a:latin typeface="+mn-ea"/>
                <a:ea typeface="+mn-ea"/>
              </a:endParaRPr>
            </a:p>
          </p:txBody>
        </p:sp>
      </p:grpSp>
      <p:sp>
        <p:nvSpPr>
          <p:cNvPr id="18" name="矩形 18"/>
          <p:cNvSpPr/>
          <p:nvPr/>
        </p:nvSpPr>
        <p:spPr>
          <a:xfrm>
            <a:off x="8824686" y="4528699"/>
            <a:ext cx="1022453" cy="215444"/>
          </a:xfrm>
          <a:prstGeom prst="rect">
            <a:avLst/>
          </a:prstGeom>
        </p:spPr>
        <p:txBody>
          <a:bodyPr wrap="square" lIns="0" tIns="0" rIns="0" bIns="0">
            <a:spAutoFit/>
          </a:bodyPr>
          <a:lstStyle/>
          <a:p>
            <a:pPr defTabSz="1219444" fontAlgn="auto">
              <a:spcBef>
                <a:spcPct val="20000"/>
              </a:spcBef>
              <a:spcAft>
                <a:spcPts val="0"/>
              </a:spcAft>
              <a:defRPr/>
            </a:pPr>
            <a:r>
              <a:rPr lang="zh-CN" altLang="en-US" sz="1400" dirty="0">
                <a:latin typeface="+mn-ea"/>
                <a:ea typeface="+mn-ea"/>
                <a:cs typeface="Arial" pitchFamily="34" charset="0"/>
              </a:rPr>
              <a:t>存储即服务</a:t>
            </a:r>
          </a:p>
        </p:txBody>
      </p:sp>
      <p:sp>
        <p:nvSpPr>
          <p:cNvPr id="19" name="文本框 18"/>
          <p:cNvSpPr txBox="1"/>
          <p:nvPr/>
        </p:nvSpPr>
        <p:spPr>
          <a:xfrm>
            <a:off x="7671373" y="3558337"/>
            <a:ext cx="800219"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资源池化</a:t>
            </a:r>
          </a:p>
        </p:txBody>
      </p:sp>
      <p:sp>
        <p:nvSpPr>
          <p:cNvPr id="20" name="文本框 19"/>
          <p:cNvSpPr txBox="1"/>
          <p:nvPr/>
        </p:nvSpPr>
        <p:spPr>
          <a:xfrm>
            <a:off x="8656214" y="3000656"/>
            <a:ext cx="800219"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弹性按需</a:t>
            </a:r>
          </a:p>
        </p:txBody>
      </p:sp>
      <p:sp>
        <p:nvSpPr>
          <p:cNvPr id="21" name="文本框 20"/>
          <p:cNvSpPr txBox="1"/>
          <p:nvPr/>
        </p:nvSpPr>
        <p:spPr>
          <a:xfrm>
            <a:off x="9968755" y="3600412"/>
            <a:ext cx="800219"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统一管理</a:t>
            </a:r>
          </a:p>
        </p:txBody>
      </p:sp>
      <p:sp>
        <p:nvSpPr>
          <p:cNvPr id="22" name="梯形 81"/>
          <p:cNvSpPr/>
          <p:nvPr/>
        </p:nvSpPr>
        <p:spPr>
          <a:xfrm rot="10800000">
            <a:off x="7511817" y="2507811"/>
            <a:ext cx="3490496" cy="394207"/>
          </a:xfrm>
          <a:prstGeom prst="trapezoid">
            <a:avLst>
              <a:gd name="adj" fmla="val 442723"/>
            </a:avLst>
          </a:prstGeom>
          <a:gradFill flip="none" rotWithShape="1">
            <a:gsLst>
              <a:gs pos="0">
                <a:sysClr val="window" lastClr="FFFFFF">
                  <a:lumMod val="75000"/>
                </a:sysClr>
              </a:gs>
              <a:gs pos="100000">
                <a:sysClr val="window" lastClr="FFFFFF">
                  <a:lumMod val="85000"/>
                </a:sysClr>
              </a:gs>
            </a:gsLst>
            <a:lin ang="5400000" scaled="0"/>
            <a:tileRect/>
          </a:gradFill>
          <a:ln w="25400" cap="flat" cmpd="sng" algn="ctr">
            <a:noFill/>
            <a:prstDash val="solid"/>
          </a:ln>
          <a:effectLst/>
        </p:spPr>
        <p:txBody>
          <a:bodyPr lIns="408140" tIns="57593" rIns="115185" bIns="57593" rtlCol="0" anchor="ctr"/>
          <a:lstStyle/>
          <a:p>
            <a:pPr marL="0" lvl="1" algn="ctr" defTabSz="1151784" eaLnBrk="0" fontAlgn="base" hangingPunct="0">
              <a:spcAft>
                <a:spcPts val="756"/>
              </a:spcAft>
              <a:buClr>
                <a:srgbClr val="990000"/>
              </a:buClr>
              <a:buSzPct val="75000"/>
              <a:defRPr/>
            </a:pPr>
            <a:endParaRPr lang="zh-CN" altLang="en-US" sz="1800" kern="0" dirty="0">
              <a:effectLst>
                <a:outerShdw blurRad="38100" dist="38100" dir="2700000" algn="tl">
                  <a:srgbClr val="000000">
                    <a:alpha val="43137"/>
                  </a:srgbClr>
                </a:outerShdw>
              </a:effectLst>
              <a:latin typeface="+mn-ea"/>
              <a:ea typeface="+mn-ea"/>
              <a:cs typeface="微软雅黑" pitchFamily="18" charset="0"/>
            </a:endParaRPr>
          </a:p>
        </p:txBody>
      </p:sp>
      <p:sp>
        <p:nvSpPr>
          <p:cNvPr id="23" name="文本框 22"/>
          <p:cNvSpPr txBox="1"/>
          <p:nvPr/>
        </p:nvSpPr>
        <p:spPr>
          <a:xfrm>
            <a:off x="7755735" y="1672562"/>
            <a:ext cx="492443" cy="338554"/>
          </a:xfrm>
          <a:prstGeom prst="rect">
            <a:avLst/>
          </a:prstGeom>
          <a:noFill/>
        </p:spPr>
        <p:txBody>
          <a:bodyPr wrap="none" rtlCol="0">
            <a:spAutoFit/>
          </a:bodyPr>
          <a:lstStyle/>
          <a:p>
            <a:pPr defTabSz="1219444" fontAlgn="auto">
              <a:spcBef>
                <a:spcPts val="0"/>
              </a:spcBef>
              <a:spcAft>
                <a:spcPts val="0"/>
              </a:spcAft>
            </a:pPr>
            <a:r>
              <a:rPr lang="en-US" altLang="zh-CN" sz="1600" dirty="0">
                <a:latin typeface="+mn-ea"/>
                <a:ea typeface="+mn-ea"/>
              </a:rPr>
              <a:t>IoT</a:t>
            </a:r>
            <a:endParaRPr lang="zh-CN" altLang="en-US" sz="1600" dirty="0">
              <a:latin typeface="+mn-ea"/>
              <a:ea typeface="+mn-ea"/>
            </a:endParaRPr>
          </a:p>
        </p:txBody>
      </p:sp>
      <p:sp>
        <p:nvSpPr>
          <p:cNvPr id="24" name="文本框 23"/>
          <p:cNvSpPr txBox="1"/>
          <p:nvPr/>
        </p:nvSpPr>
        <p:spPr>
          <a:xfrm>
            <a:off x="8607477" y="1672562"/>
            <a:ext cx="1210588" cy="338554"/>
          </a:xfrm>
          <a:prstGeom prst="rect">
            <a:avLst/>
          </a:prstGeom>
          <a:noFill/>
        </p:spPr>
        <p:txBody>
          <a:bodyPr wrap="none" rtlCol="0">
            <a:spAutoFit/>
          </a:bodyPr>
          <a:lstStyle/>
          <a:p>
            <a:pPr defTabSz="1219444" fontAlgn="auto">
              <a:spcBef>
                <a:spcPts val="0"/>
              </a:spcBef>
              <a:spcAft>
                <a:spcPts val="0"/>
              </a:spcAft>
            </a:pPr>
            <a:r>
              <a:rPr lang="zh-CN" altLang="en-US" sz="1600" dirty="0">
                <a:latin typeface="+mn-ea"/>
                <a:ea typeface="+mn-ea"/>
              </a:rPr>
              <a:t>移动互联网</a:t>
            </a:r>
          </a:p>
        </p:txBody>
      </p:sp>
      <p:sp>
        <p:nvSpPr>
          <p:cNvPr id="25" name="文本框 24"/>
          <p:cNvSpPr txBox="1"/>
          <p:nvPr/>
        </p:nvSpPr>
        <p:spPr>
          <a:xfrm>
            <a:off x="10047637" y="1672562"/>
            <a:ext cx="800219" cy="338554"/>
          </a:xfrm>
          <a:prstGeom prst="rect">
            <a:avLst/>
          </a:prstGeom>
          <a:noFill/>
        </p:spPr>
        <p:txBody>
          <a:bodyPr wrap="none" rtlCol="0">
            <a:spAutoFit/>
          </a:bodyPr>
          <a:lstStyle/>
          <a:p>
            <a:pPr defTabSz="1219444" fontAlgn="auto">
              <a:spcBef>
                <a:spcPts val="0"/>
              </a:spcBef>
              <a:spcAft>
                <a:spcPts val="0"/>
              </a:spcAft>
            </a:pPr>
            <a:r>
              <a:rPr lang="zh-CN" altLang="en-US" sz="1600" dirty="0">
                <a:latin typeface="+mn-ea"/>
                <a:ea typeface="+mn-ea"/>
              </a:rPr>
              <a:t>大数据</a:t>
            </a:r>
          </a:p>
        </p:txBody>
      </p:sp>
      <p:sp>
        <p:nvSpPr>
          <p:cNvPr id="26" name="矩形 25"/>
          <p:cNvSpPr/>
          <p:nvPr/>
        </p:nvSpPr>
        <p:spPr>
          <a:xfrm>
            <a:off x="1329107" y="1650449"/>
            <a:ext cx="1366466" cy="3858679"/>
          </a:xfrm>
          <a:prstGeom prst="rect">
            <a:avLst/>
          </a:prstGeom>
          <a:solidFill>
            <a:schemeClr val="bg1">
              <a:lumMod val="95000"/>
            </a:schemeClr>
          </a:solidFill>
          <a:ln w="25400" cap="flat" cmpd="sng" algn="ctr">
            <a:noFill/>
            <a:prstDash val="solid"/>
          </a:ln>
          <a:effectLst/>
        </p:spPr>
        <p:txBody>
          <a:bodyPr rtlCol="0" anchor="ctr"/>
          <a:lstStyle/>
          <a:p>
            <a:pPr algn="ctr" defTabSz="1219444" fontAlgn="auto">
              <a:spcBef>
                <a:spcPts val="0"/>
              </a:spcBef>
              <a:spcAft>
                <a:spcPts val="0"/>
              </a:spcAft>
              <a:defRPr/>
            </a:pPr>
            <a:endParaRPr lang="zh-CN" altLang="en-US" sz="2400" kern="0">
              <a:latin typeface="+mn-ea"/>
              <a:ea typeface="+mn-ea"/>
            </a:endParaRPr>
          </a:p>
        </p:txBody>
      </p:sp>
      <p:grpSp>
        <p:nvGrpSpPr>
          <p:cNvPr id="27" name="组合 26"/>
          <p:cNvGrpSpPr/>
          <p:nvPr/>
        </p:nvGrpSpPr>
        <p:grpSpPr>
          <a:xfrm>
            <a:off x="1536378" y="1882948"/>
            <a:ext cx="951926" cy="1016432"/>
            <a:chOff x="3336607" y="539433"/>
            <a:chExt cx="1639887" cy="1751012"/>
          </a:xfrm>
          <a:solidFill>
            <a:srgbClr val="C7000A">
              <a:lumMod val="60000"/>
              <a:lumOff val="40000"/>
            </a:srgbClr>
          </a:solidFill>
        </p:grpSpPr>
        <p:grpSp>
          <p:nvGrpSpPr>
            <p:cNvPr id="28" name="组合 27"/>
            <p:cNvGrpSpPr/>
            <p:nvPr/>
          </p:nvGrpSpPr>
          <p:grpSpPr>
            <a:xfrm>
              <a:off x="3336607" y="539433"/>
              <a:ext cx="1639887" cy="1751012"/>
              <a:chOff x="3570288" y="519113"/>
              <a:chExt cx="1639887" cy="1751013"/>
            </a:xfrm>
            <a:grpFill/>
          </p:grpSpPr>
          <p:sp>
            <p:nvSpPr>
              <p:cNvPr id="30" name="Freeform 21"/>
              <p:cNvSpPr>
                <a:spLocks/>
              </p:cNvSpPr>
              <p:nvPr/>
            </p:nvSpPr>
            <p:spPr bwMode="auto">
              <a:xfrm>
                <a:off x="5084763" y="987426"/>
                <a:ext cx="125412" cy="819150"/>
              </a:xfrm>
              <a:custGeom>
                <a:avLst/>
                <a:gdLst>
                  <a:gd name="T0" fmla="*/ 0 w 33"/>
                  <a:gd name="T1" fmla="*/ 215 h 217"/>
                  <a:gd name="T2" fmla="*/ 28 w 33"/>
                  <a:gd name="T3" fmla="*/ 108 h 217"/>
                  <a:gd name="T4" fmla="*/ 0 w 33"/>
                  <a:gd name="T5" fmla="*/ 2 h 217"/>
                  <a:gd name="T6" fmla="*/ 4 w 33"/>
                  <a:gd name="T7" fmla="*/ 0 h 217"/>
                  <a:gd name="T8" fmla="*/ 33 w 33"/>
                  <a:gd name="T9" fmla="*/ 108 h 217"/>
                  <a:gd name="T10" fmla="*/ 4 w 33"/>
                  <a:gd name="T11" fmla="*/ 217 h 217"/>
                  <a:gd name="T12" fmla="*/ 0 w 33"/>
                  <a:gd name="T13" fmla="*/ 215 h 217"/>
                </a:gdLst>
                <a:ahLst/>
                <a:cxnLst>
                  <a:cxn ang="0">
                    <a:pos x="T0" y="T1"/>
                  </a:cxn>
                  <a:cxn ang="0">
                    <a:pos x="T2" y="T3"/>
                  </a:cxn>
                  <a:cxn ang="0">
                    <a:pos x="T4" y="T5"/>
                  </a:cxn>
                  <a:cxn ang="0">
                    <a:pos x="T6" y="T7"/>
                  </a:cxn>
                  <a:cxn ang="0">
                    <a:pos x="T8" y="T9"/>
                  </a:cxn>
                  <a:cxn ang="0">
                    <a:pos x="T10" y="T11"/>
                  </a:cxn>
                  <a:cxn ang="0">
                    <a:pos x="T12" y="T13"/>
                  </a:cxn>
                </a:cxnLst>
                <a:rect l="0" t="0" r="r" b="b"/>
                <a:pathLst>
                  <a:path w="33" h="217">
                    <a:moveTo>
                      <a:pt x="0" y="215"/>
                    </a:moveTo>
                    <a:cubicBezTo>
                      <a:pt x="19" y="182"/>
                      <a:pt x="28" y="146"/>
                      <a:pt x="28" y="108"/>
                    </a:cubicBezTo>
                    <a:cubicBezTo>
                      <a:pt x="28" y="71"/>
                      <a:pt x="19" y="34"/>
                      <a:pt x="0" y="2"/>
                    </a:cubicBezTo>
                    <a:cubicBezTo>
                      <a:pt x="4" y="0"/>
                      <a:pt x="4" y="0"/>
                      <a:pt x="4" y="0"/>
                    </a:cubicBezTo>
                    <a:cubicBezTo>
                      <a:pt x="23" y="33"/>
                      <a:pt x="33" y="70"/>
                      <a:pt x="33" y="108"/>
                    </a:cubicBezTo>
                    <a:cubicBezTo>
                      <a:pt x="33" y="146"/>
                      <a:pt x="23" y="184"/>
                      <a:pt x="4" y="217"/>
                    </a:cubicBezTo>
                    <a:lnTo>
                      <a:pt x="0"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1" name="Freeform 22"/>
              <p:cNvSpPr>
                <a:spLocks/>
              </p:cNvSpPr>
              <p:nvPr/>
            </p:nvSpPr>
            <p:spPr bwMode="auto">
              <a:xfrm>
                <a:off x="3570288" y="987426"/>
                <a:ext cx="125412" cy="819150"/>
              </a:xfrm>
              <a:custGeom>
                <a:avLst/>
                <a:gdLst>
                  <a:gd name="T0" fmla="*/ 0 w 33"/>
                  <a:gd name="T1" fmla="*/ 108 h 217"/>
                  <a:gd name="T2" fmla="*/ 29 w 33"/>
                  <a:gd name="T3" fmla="*/ 0 h 217"/>
                  <a:gd name="T4" fmla="*/ 33 w 33"/>
                  <a:gd name="T5" fmla="*/ 2 h 217"/>
                  <a:gd name="T6" fmla="*/ 4 w 33"/>
                  <a:gd name="T7" fmla="*/ 108 h 217"/>
                  <a:gd name="T8" fmla="*/ 33 w 33"/>
                  <a:gd name="T9" fmla="*/ 215 h 217"/>
                  <a:gd name="T10" fmla="*/ 29 w 33"/>
                  <a:gd name="T11" fmla="*/ 217 h 217"/>
                  <a:gd name="T12" fmla="*/ 0 w 33"/>
                  <a:gd name="T13" fmla="*/ 108 h 217"/>
                </a:gdLst>
                <a:ahLst/>
                <a:cxnLst>
                  <a:cxn ang="0">
                    <a:pos x="T0" y="T1"/>
                  </a:cxn>
                  <a:cxn ang="0">
                    <a:pos x="T2" y="T3"/>
                  </a:cxn>
                  <a:cxn ang="0">
                    <a:pos x="T4" y="T5"/>
                  </a:cxn>
                  <a:cxn ang="0">
                    <a:pos x="T6" y="T7"/>
                  </a:cxn>
                  <a:cxn ang="0">
                    <a:pos x="T8" y="T9"/>
                  </a:cxn>
                  <a:cxn ang="0">
                    <a:pos x="T10" y="T11"/>
                  </a:cxn>
                  <a:cxn ang="0">
                    <a:pos x="T12" y="T13"/>
                  </a:cxn>
                </a:cxnLst>
                <a:rect l="0" t="0" r="r" b="b"/>
                <a:pathLst>
                  <a:path w="33" h="217">
                    <a:moveTo>
                      <a:pt x="0" y="108"/>
                    </a:moveTo>
                    <a:cubicBezTo>
                      <a:pt x="0" y="70"/>
                      <a:pt x="10" y="33"/>
                      <a:pt x="29" y="0"/>
                    </a:cubicBezTo>
                    <a:cubicBezTo>
                      <a:pt x="33" y="2"/>
                      <a:pt x="33" y="2"/>
                      <a:pt x="33" y="2"/>
                    </a:cubicBezTo>
                    <a:cubicBezTo>
                      <a:pt x="14" y="34"/>
                      <a:pt x="4" y="71"/>
                      <a:pt x="4" y="108"/>
                    </a:cubicBezTo>
                    <a:cubicBezTo>
                      <a:pt x="4" y="146"/>
                      <a:pt x="14" y="182"/>
                      <a:pt x="33" y="215"/>
                    </a:cubicBezTo>
                    <a:cubicBezTo>
                      <a:pt x="29" y="217"/>
                      <a:pt x="29" y="217"/>
                      <a:pt x="29" y="217"/>
                    </a:cubicBezTo>
                    <a:cubicBezTo>
                      <a:pt x="10" y="184"/>
                      <a:pt x="0" y="146"/>
                      <a:pt x="0"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2" name="Freeform 23"/>
              <p:cNvSpPr>
                <a:spLocks/>
              </p:cNvSpPr>
              <p:nvPr/>
            </p:nvSpPr>
            <p:spPr bwMode="auto">
              <a:xfrm>
                <a:off x="3925888" y="715963"/>
                <a:ext cx="928687" cy="188913"/>
              </a:xfrm>
              <a:custGeom>
                <a:avLst/>
                <a:gdLst>
                  <a:gd name="T0" fmla="*/ 0 w 246"/>
                  <a:gd name="T1" fmla="*/ 49 h 50"/>
                  <a:gd name="T2" fmla="*/ 2 w 246"/>
                  <a:gd name="T3" fmla="*/ 50 h 50"/>
                  <a:gd name="T4" fmla="*/ 123 w 246"/>
                  <a:gd name="T5" fmla="*/ 3 h 50"/>
                  <a:gd name="T6" fmla="*/ 244 w 246"/>
                  <a:gd name="T7" fmla="*/ 50 h 50"/>
                  <a:gd name="T8" fmla="*/ 246 w 246"/>
                  <a:gd name="T9" fmla="*/ 49 h 50"/>
                  <a:gd name="T10" fmla="*/ 123 w 246"/>
                  <a:gd name="T11" fmla="*/ 0 h 50"/>
                  <a:gd name="T12" fmla="*/ 0 w 246"/>
                  <a:gd name="T13" fmla="*/ 49 h 50"/>
                </a:gdLst>
                <a:ahLst/>
                <a:cxnLst>
                  <a:cxn ang="0">
                    <a:pos x="T0" y="T1"/>
                  </a:cxn>
                  <a:cxn ang="0">
                    <a:pos x="T2" y="T3"/>
                  </a:cxn>
                  <a:cxn ang="0">
                    <a:pos x="T4" y="T5"/>
                  </a:cxn>
                  <a:cxn ang="0">
                    <a:pos x="T6" y="T7"/>
                  </a:cxn>
                  <a:cxn ang="0">
                    <a:pos x="T8" y="T9"/>
                  </a:cxn>
                  <a:cxn ang="0">
                    <a:pos x="T10" y="T11"/>
                  </a:cxn>
                  <a:cxn ang="0">
                    <a:pos x="T12" y="T13"/>
                  </a:cxn>
                </a:cxnLst>
                <a:rect l="0" t="0" r="r" b="b"/>
                <a:pathLst>
                  <a:path w="246" h="50">
                    <a:moveTo>
                      <a:pt x="0" y="49"/>
                    </a:moveTo>
                    <a:cubicBezTo>
                      <a:pt x="2" y="50"/>
                      <a:pt x="2" y="50"/>
                      <a:pt x="2" y="50"/>
                    </a:cubicBezTo>
                    <a:cubicBezTo>
                      <a:pt x="34" y="21"/>
                      <a:pt x="76" y="3"/>
                      <a:pt x="123" y="3"/>
                    </a:cubicBezTo>
                    <a:cubicBezTo>
                      <a:pt x="169" y="3"/>
                      <a:pt x="212" y="21"/>
                      <a:pt x="244" y="50"/>
                    </a:cubicBezTo>
                    <a:cubicBezTo>
                      <a:pt x="246" y="49"/>
                      <a:pt x="246" y="49"/>
                      <a:pt x="246" y="49"/>
                    </a:cubicBezTo>
                    <a:cubicBezTo>
                      <a:pt x="214" y="19"/>
                      <a:pt x="170" y="0"/>
                      <a:pt x="123" y="0"/>
                    </a:cubicBezTo>
                    <a:cubicBezTo>
                      <a:pt x="75" y="0"/>
                      <a:pt x="32" y="19"/>
                      <a:pt x="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3" name="Freeform 24"/>
              <p:cNvSpPr>
                <a:spLocks/>
              </p:cNvSpPr>
              <p:nvPr/>
            </p:nvSpPr>
            <p:spPr bwMode="auto">
              <a:xfrm>
                <a:off x="4881563" y="930276"/>
                <a:ext cx="188912" cy="933450"/>
              </a:xfrm>
              <a:custGeom>
                <a:avLst/>
                <a:gdLst>
                  <a:gd name="T0" fmla="*/ 1 w 50"/>
                  <a:gd name="T1" fmla="*/ 0 h 247"/>
                  <a:gd name="T2" fmla="*/ 0 w 50"/>
                  <a:gd name="T3" fmla="*/ 3 h 247"/>
                  <a:gd name="T4" fmla="*/ 47 w 50"/>
                  <a:gd name="T5" fmla="*/ 123 h 247"/>
                  <a:gd name="T6" fmla="*/ 0 w 50"/>
                  <a:gd name="T7" fmla="*/ 244 h 247"/>
                  <a:gd name="T8" fmla="*/ 1 w 50"/>
                  <a:gd name="T9" fmla="*/ 247 h 247"/>
                  <a:gd name="T10" fmla="*/ 50 w 50"/>
                  <a:gd name="T11" fmla="*/ 123 h 247"/>
                  <a:gd name="T12" fmla="*/ 1 w 50"/>
                  <a:gd name="T13" fmla="*/ 0 h 247"/>
                </a:gdLst>
                <a:ahLst/>
                <a:cxnLst>
                  <a:cxn ang="0">
                    <a:pos x="T0" y="T1"/>
                  </a:cxn>
                  <a:cxn ang="0">
                    <a:pos x="T2" y="T3"/>
                  </a:cxn>
                  <a:cxn ang="0">
                    <a:pos x="T4" y="T5"/>
                  </a:cxn>
                  <a:cxn ang="0">
                    <a:pos x="T6" y="T7"/>
                  </a:cxn>
                  <a:cxn ang="0">
                    <a:pos x="T8" y="T9"/>
                  </a:cxn>
                  <a:cxn ang="0">
                    <a:pos x="T10" y="T11"/>
                  </a:cxn>
                  <a:cxn ang="0">
                    <a:pos x="T12" y="T13"/>
                  </a:cxn>
                </a:cxnLst>
                <a:rect l="0" t="0" r="r" b="b"/>
                <a:pathLst>
                  <a:path w="50" h="247">
                    <a:moveTo>
                      <a:pt x="1" y="0"/>
                    </a:moveTo>
                    <a:cubicBezTo>
                      <a:pt x="0" y="3"/>
                      <a:pt x="0" y="3"/>
                      <a:pt x="0" y="3"/>
                    </a:cubicBezTo>
                    <a:cubicBezTo>
                      <a:pt x="29" y="34"/>
                      <a:pt x="47" y="77"/>
                      <a:pt x="47" y="123"/>
                    </a:cubicBezTo>
                    <a:cubicBezTo>
                      <a:pt x="47" y="170"/>
                      <a:pt x="29" y="212"/>
                      <a:pt x="0" y="244"/>
                    </a:cubicBezTo>
                    <a:cubicBezTo>
                      <a:pt x="1" y="247"/>
                      <a:pt x="1" y="247"/>
                      <a:pt x="1" y="247"/>
                    </a:cubicBezTo>
                    <a:cubicBezTo>
                      <a:pt x="31" y="214"/>
                      <a:pt x="50" y="171"/>
                      <a:pt x="50" y="123"/>
                    </a:cubicBezTo>
                    <a:cubicBezTo>
                      <a:pt x="50" y="76"/>
                      <a:pt x="32" y="3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4" name="Freeform 25"/>
              <p:cNvSpPr>
                <a:spLocks/>
              </p:cNvSpPr>
              <p:nvPr/>
            </p:nvSpPr>
            <p:spPr bwMode="auto">
              <a:xfrm>
                <a:off x="3925888" y="1885951"/>
                <a:ext cx="928687" cy="192088"/>
              </a:xfrm>
              <a:custGeom>
                <a:avLst/>
                <a:gdLst>
                  <a:gd name="T0" fmla="*/ 246 w 246"/>
                  <a:gd name="T1" fmla="*/ 2 h 51"/>
                  <a:gd name="T2" fmla="*/ 243 w 246"/>
                  <a:gd name="T3" fmla="*/ 0 h 51"/>
                  <a:gd name="T4" fmla="*/ 123 w 246"/>
                  <a:gd name="T5" fmla="*/ 48 h 51"/>
                  <a:gd name="T6" fmla="*/ 2 w 246"/>
                  <a:gd name="T7" fmla="*/ 0 h 51"/>
                  <a:gd name="T8" fmla="*/ 0 w 246"/>
                  <a:gd name="T9" fmla="*/ 2 h 51"/>
                  <a:gd name="T10" fmla="*/ 123 w 246"/>
                  <a:gd name="T11" fmla="*/ 51 h 51"/>
                  <a:gd name="T12" fmla="*/ 246 w 246"/>
                  <a:gd name="T13" fmla="*/ 2 h 51"/>
                </a:gdLst>
                <a:ahLst/>
                <a:cxnLst>
                  <a:cxn ang="0">
                    <a:pos x="T0" y="T1"/>
                  </a:cxn>
                  <a:cxn ang="0">
                    <a:pos x="T2" y="T3"/>
                  </a:cxn>
                  <a:cxn ang="0">
                    <a:pos x="T4" y="T5"/>
                  </a:cxn>
                  <a:cxn ang="0">
                    <a:pos x="T6" y="T7"/>
                  </a:cxn>
                  <a:cxn ang="0">
                    <a:pos x="T8" y="T9"/>
                  </a:cxn>
                  <a:cxn ang="0">
                    <a:pos x="T10" y="T11"/>
                  </a:cxn>
                  <a:cxn ang="0">
                    <a:pos x="T12" y="T13"/>
                  </a:cxn>
                </a:cxnLst>
                <a:rect l="0" t="0" r="r" b="b"/>
                <a:pathLst>
                  <a:path w="246" h="51">
                    <a:moveTo>
                      <a:pt x="246" y="2"/>
                    </a:moveTo>
                    <a:cubicBezTo>
                      <a:pt x="243" y="0"/>
                      <a:pt x="243" y="0"/>
                      <a:pt x="243" y="0"/>
                    </a:cubicBezTo>
                    <a:cubicBezTo>
                      <a:pt x="212" y="30"/>
                      <a:pt x="169" y="48"/>
                      <a:pt x="123" y="48"/>
                    </a:cubicBezTo>
                    <a:cubicBezTo>
                      <a:pt x="76" y="48"/>
                      <a:pt x="34" y="30"/>
                      <a:pt x="2" y="0"/>
                    </a:cubicBezTo>
                    <a:cubicBezTo>
                      <a:pt x="0" y="2"/>
                      <a:pt x="0" y="2"/>
                      <a:pt x="0" y="2"/>
                    </a:cubicBezTo>
                    <a:cubicBezTo>
                      <a:pt x="32" y="32"/>
                      <a:pt x="75" y="51"/>
                      <a:pt x="123" y="51"/>
                    </a:cubicBezTo>
                    <a:cubicBezTo>
                      <a:pt x="170" y="51"/>
                      <a:pt x="214" y="32"/>
                      <a:pt x="24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5" name="Freeform 26"/>
              <p:cNvSpPr>
                <a:spLocks/>
              </p:cNvSpPr>
              <p:nvPr/>
            </p:nvSpPr>
            <p:spPr bwMode="auto">
              <a:xfrm>
                <a:off x="3709988" y="930276"/>
                <a:ext cx="188912" cy="928688"/>
              </a:xfrm>
              <a:custGeom>
                <a:avLst/>
                <a:gdLst>
                  <a:gd name="T0" fmla="*/ 48 w 50"/>
                  <a:gd name="T1" fmla="*/ 246 h 246"/>
                  <a:gd name="T2" fmla="*/ 50 w 50"/>
                  <a:gd name="T3" fmla="*/ 244 h 246"/>
                  <a:gd name="T4" fmla="*/ 2 w 50"/>
                  <a:gd name="T5" fmla="*/ 123 h 246"/>
                  <a:gd name="T6" fmla="*/ 50 w 50"/>
                  <a:gd name="T7" fmla="*/ 2 h 246"/>
                  <a:gd name="T8" fmla="*/ 48 w 50"/>
                  <a:gd name="T9" fmla="*/ 0 h 246"/>
                  <a:gd name="T10" fmla="*/ 0 w 50"/>
                  <a:gd name="T11" fmla="*/ 123 h 246"/>
                  <a:gd name="T12" fmla="*/ 48 w 50"/>
                  <a:gd name="T13" fmla="*/ 246 h 246"/>
                </a:gdLst>
                <a:ahLst/>
                <a:cxnLst>
                  <a:cxn ang="0">
                    <a:pos x="T0" y="T1"/>
                  </a:cxn>
                  <a:cxn ang="0">
                    <a:pos x="T2" y="T3"/>
                  </a:cxn>
                  <a:cxn ang="0">
                    <a:pos x="T4" y="T5"/>
                  </a:cxn>
                  <a:cxn ang="0">
                    <a:pos x="T6" y="T7"/>
                  </a:cxn>
                  <a:cxn ang="0">
                    <a:pos x="T8" y="T9"/>
                  </a:cxn>
                  <a:cxn ang="0">
                    <a:pos x="T10" y="T11"/>
                  </a:cxn>
                  <a:cxn ang="0">
                    <a:pos x="T12" y="T13"/>
                  </a:cxn>
                </a:cxnLst>
                <a:rect l="0" t="0" r="r" b="b"/>
                <a:pathLst>
                  <a:path w="50" h="246">
                    <a:moveTo>
                      <a:pt x="48" y="246"/>
                    </a:moveTo>
                    <a:cubicBezTo>
                      <a:pt x="50" y="244"/>
                      <a:pt x="50" y="244"/>
                      <a:pt x="50" y="244"/>
                    </a:cubicBezTo>
                    <a:cubicBezTo>
                      <a:pt x="20" y="212"/>
                      <a:pt x="2" y="170"/>
                      <a:pt x="2" y="123"/>
                    </a:cubicBezTo>
                    <a:cubicBezTo>
                      <a:pt x="2" y="77"/>
                      <a:pt x="20" y="34"/>
                      <a:pt x="50" y="2"/>
                    </a:cubicBezTo>
                    <a:cubicBezTo>
                      <a:pt x="48" y="0"/>
                      <a:pt x="48" y="0"/>
                      <a:pt x="48" y="0"/>
                    </a:cubicBezTo>
                    <a:cubicBezTo>
                      <a:pt x="18" y="32"/>
                      <a:pt x="0" y="76"/>
                      <a:pt x="0" y="123"/>
                    </a:cubicBezTo>
                    <a:cubicBezTo>
                      <a:pt x="0" y="171"/>
                      <a:pt x="18" y="214"/>
                      <a:pt x="48" y="2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6" name="Freeform 27"/>
              <p:cNvSpPr>
                <a:spLocks/>
              </p:cNvSpPr>
              <p:nvPr/>
            </p:nvSpPr>
            <p:spPr bwMode="auto">
              <a:xfrm>
                <a:off x="3895725" y="1905001"/>
                <a:ext cx="985837" cy="230188"/>
              </a:xfrm>
              <a:custGeom>
                <a:avLst/>
                <a:gdLst>
                  <a:gd name="T0" fmla="*/ 261 w 261"/>
                  <a:gd name="T1" fmla="*/ 11 h 61"/>
                  <a:gd name="T2" fmla="*/ 258 w 261"/>
                  <a:gd name="T3" fmla="*/ 0 h 61"/>
                  <a:gd name="T4" fmla="*/ 131 w 261"/>
                  <a:gd name="T5" fmla="*/ 50 h 61"/>
                  <a:gd name="T6" fmla="*/ 4 w 261"/>
                  <a:gd name="T7" fmla="*/ 0 h 61"/>
                  <a:gd name="T8" fmla="*/ 0 w 261"/>
                  <a:gd name="T9" fmla="*/ 11 h 61"/>
                  <a:gd name="T10" fmla="*/ 131 w 261"/>
                  <a:gd name="T11" fmla="*/ 61 h 61"/>
                  <a:gd name="T12" fmla="*/ 261 w 261"/>
                  <a:gd name="T13" fmla="*/ 11 h 61"/>
                </a:gdLst>
                <a:ahLst/>
                <a:cxnLst>
                  <a:cxn ang="0">
                    <a:pos x="T0" y="T1"/>
                  </a:cxn>
                  <a:cxn ang="0">
                    <a:pos x="T2" y="T3"/>
                  </a:cxn>
                  <a:cxn ang="0">
                    <a:pos x="T4" y="T5"/>
                  </a:cxn>
                  <a:cxn ang="0">
                    <a:pos x="T6" y="T7"/>
                  </a:cxn>
                  <a:cxn ang="0">
                    <a:pos x="T8" y="T9"/>
                  </a:cxn>
                  <a:cxn ang="0">
                    <a:pos x="T10" y="T11"/>
                  </a:cxn>
                  <a:cxn ang="0">
                    <a:pos x="T12" y="T13"/>
                  </a:cxn>
                </a:cxnLst>
                <a:rect l="0" t="0" r="r" b="b"/>
                <a:pathLst>
                  <a:path w="261" h="61">
                    <a:moveTo>
                      <a:pt x="261" y="11"/>
                    </a:moveTo>
                    <a:cubicBezTo>
                      <a:pt x="258" y="0"/>
                      <a:pt x="258" y="0"/>
                      <a:pt x="258" y="0"/>
                    </a:cubicBezTo>
                    <a:cubicBezTo>
                      <a:pt x="224" y="31"/>
                      <a:pt x="180" y="50"/>
                      <a:pt x="131" y="50"/>
                    </a:cubicBezTo>
                    <a:cubicBezTo>
                      <a:pt x="82" y="50"/>
                      <a:pt x="37" y="31"/>
                      <a:pt x="4" y="0"/>
                    </a:cubicBezTo>
                    <a:cubicBezTo>
                      <a:pt x="0" y="11"/>
                      <a:pt x="0" y="11"/>
                      <a:pt x="0" y="11"/>
                    </a:cubicBezTo>
                    <a:cubicBezTo>
                      <a:pt x="36" y="43"/>
                      <a:pt x="82" y="61"/>
                      <a:pt x="131" y="61"/>
                    </a:cubicBezTo>
                    <a:cubicBezTo>
                      <a:pt x="180" y="61"/>
                      <a:pt x="226" y="43"/>
                      <a:pt x="26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7" name="Freeform 28"/>
              <p:cNvSpPr>
                <a:spLocks/>
              </p:cNvSpPr>
              <p:nvPr/>
            </p:nvSpPr>
            <p:spPr bwMode="auto">
              <a:xfrm>
                <a:off x="4897438" y="904876"/>
                <a:ext cx="230187" cy="984250"/>
              </a:xfrm>
              <a:custGeom>
                <a:avLst/>
                <a:gdLst>
                  <a:gd name="T0" fmla="*/ 0 w 61"/>
                  <a:gd name="T1" fmla="*/ 3 h 261"/>
                  <a:gd name="T2" fmla="*/ 51 w 61"/>
                  <a:gd name="T3" fmla="*/ 130 h 261"/>
                  <a:gd name="T4" fmla="*/ 0 w 61"/>
                  <a:gd name="T5" fmla="*/ 258 h 261"/>
                  <a:gd name="T6" fmla="*/ 11 w 61"/>
                  <a:gd name="T7" fmla="*/ 261 h 261"/>
                  <a:gd name="T8" fmla="*/ 61 w 61"/>
                  <a:gd name="T9" fmla="*/ 130 h 261"/>
                  <a:gd name="T10" fmla="*/ 11 w 61"/>
                  <a:gd name="T11" fmla="*/ 0 h 261"/>
                  <a:gd name="T12" fmla="*/ 0 w 61"/>
                  <a:gd name="T13" fmla="*/ 3 h 261"/>
                </a:gdLst>
                <a:ahLst/>
                <a:cxnLst>
                  <a:cxn ang="0">
                    <a:pos x="T0" y="T1"/>
                  </a:cxn>
                  <a:cxn ang="0">
                    <a:pos x="T2" y="T3"/>
                  </a:cxn>
                  <a:cxn ang="0">
                    <a:pos x="T4" y="T5"/>
                  </a:cxn>
                  <a:cxn ang="0">
                    <a:pos x="T6" y="T7"/>
                  </a:cxn>
                  <a:cxn ang="0">
                    <a:pos x="T8" y="T9"/>
                  </a:cxn>
                  <a:cxn ang="0">
                    <a:pos x="T10" y="T11"/>
                  </a:cxn>
                  <a:cxn ang="0">
                    <a:pos x="T12" y="T13"/>
                  </a:cxn>
                </a:cxnLst>
                <a:rect l="0" t="0" r="r" b="b"/>
                <a:pathLst>
                  <a:path w="61" h="261">
                    <a:moveTo>
                      <a:pt x="0" y="3"/>
                    </a:moveTo>
                    <a:cubicBezTo>
                      <a:pt x="32" y="37"/>
                      <a:pt x="51" y="81"/>
                      <a:pt x="51" y="130"/>
                    </a:cubicBezTo>
                    <a:cubicBezTo>
                      <a:pt x="51" y="180"/>
                      <a:pt x="32" y="224"/>
                      <a:pt x="0" y="258"/>
                    </a:cubicBezTo>
                    <a:cubicBezTo>
                      <a:pt x="11" y="261"/>
                      <a:pt x="11" y="261"/>
                      <a:pt x="11" y="261"/>
                    </a:cubicBezTo>
                    <a:cubicBezTo>
                      <a:pt x="44" y="225"/>
                      <a:pt x="61" y="179"/>
                      <a:pt x="61" y="130"/>
                    </a:cubicBezTo>
                    <a:cubicBezTo>
                      <a:pt x="61" y="82"/>
                      <a:pt x="44" y="36"/>
                      <a:pt x="11" y="0"/>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8" name="Freeform 29"/>
              <p:cNvSpPr>
                <a:spLocks/>
              </p:cNvSpPr>
              <p:nvPr/>
            </p:nvSpPr>
            <p:spPr bwMode="auto">
              <a:xfrm>
                <a:off x="3649663" y="900113"/>
                <a:ext cx="234950" cy="989013"/>
              </a:xfrm>
              <a:custGeom>
                <a:avLst/>
                <a:gdLst>
                  <a:gd name="T0" fmla="*/ 61 w 62"/>
                  <a:gd name="T1" fmla="*/ 258 h 262"/>
                  <a:gd name="T2" fmla="*/ 11 w 62"/>
                  <a:gd name="T3" fmla="*/ 131 h 262"/>
                  <a:gd name="T4" fmla="*/ 62 w 62"/>
                  <a:gd name="T5" fmla="*/ 4 h 262"/>
                  <a:gd name="T6" fmla="*/ 50 w 62"/>
                  <a:gd name="T7" fmla="*/ 0 h 262"/>
                  <a:gd name="T8" fmla="*/ 0 w 62"/>
                  <a:gd name="T9" fmla="*/ 131 h 262"/>
                  <a:gd name="T10" fmla="*/ 50 w 62"/>
                  <a:gd name="T11" fmla="*/ 262 h 262"/>
                  <a:gd name="T12" fmla="*/ 61 w 62"/>
                  <a:gd name="T13" fmla="*/ 258 h 262"/>
                </a:gdLst>
                <a:ahLst/>
                <a:cxnLst>
                  <a:cxn ang="0">
                    <a:pos x="T0" y="T1"/>
                  </a:cxn>
                  <a:cxn ang="0">
                    <a:pos x="T2" y="T3"/>
                  </a:cxn>
                  <a:cxn ang="0">
                    <a:pos x="T4" y="T5"/>
                  </a:cxn>
                  <a:cxn ang="0">
                    <a:pos x="T6" y="T7"/>
                  </a:cxn>
                  <a:cxn ang="0">
                    <a:pos x="T8" y="T9"/>
                  </a:cxn>
                  <a:cxn ang="0">
                    <a:pos x="T10" y="T11"/>
                  </a:cxn>
                  <a:cxn ang="0">
                    <a:pos x="T12" y="T13"/>
                  </a:cxn>
                </a:cxnLst>
                <a:rect l="0" t="0" r="r" b="b"/>
                <a:pathLst>
                  <a:path w="62" h="262">
                    <a:moveTo>
                      <a:pt x="61" y="258"/>
                    </a:moveTo>
                    <a:cubicBezTo>
                      <a:pt x="30" y="225"/>
                      <a:pt x="11" y="180"/>
                      <a:pt x="11" y="131"/>
                    </a:cubicBezTo>
                    <a:cubicBezTo>
                      <a:pt x="11" y="82"/>
                      <a:pt x="30" y="37"/>
                      <a:pt x="62" y="4"/>
                    </a:cubicBezTo>
                    <a:cubicBezTo>
                      <a:pt x="50" y="0"/>
                      <a:pt x="50" y="0"/>
                      <a:pt x="50" y="0"/>
                    </a:cubicBezTo>
                    <a:cubicBezTo>
                      <a:pt x="18" y="36"/>
                      <a:pt x="0" y="83"/>
                      <a:pt x="0" y="131"/>
                    </a:cubicBezTo>
                    <a:cubicBezTo>
                      <a:pt x="0" y="180"/>
                      <a:pt x="18" y="226"/>
                      <a:pt x="50" y="262"/>
                    </a:cubicBezTo>
                    <a:lnTo>
                      <a:pt x="61" y="2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39" name="Freeform 30"/>
              <p:cNvSpPr>
                <a:spLocks/>
              </p:cNvSpPr>
              <p:nvPr/>
            </p:nvSpPr>
            <p:spPr bwMode="auto">
              <a:xfrm>
                <a:off x="3895725" y="658813"/>
                <a:ext cx="989012" cy="230188"/>
              </a:xfrm>
              <a:custGeom>
                <a:avLst/>
                <a:gdLst>
                  <a:gd name="T0" fmla="*/ 4 w 262"/>
                  <a:gd name="T1" fmla="*/ 61 h 61"/>
                  <a:gd name="T2" fmla="*/ 131 w 262"/>
                  <a:gd name="T3" fmla="*/ 10 h 61"/>
                  <a:gd name="T4" fmla="*/ 258 w 262"/>
                  <a:gd name="T5" fmla="*/ 61 h 61"/>
                  <a:gd name="T6" fmla="*/ 262 w 262"/>
                  <a:gd name="T7" fmla="*/ 50 h 61"/>
                  <a:gd name="T8" fmla="*/ 131 w 262"/>
                  <a:gd name="T9" fmla="*/ 0 h 61"/>
                  <a:gd name="T10" fmla="*/ 0 w 262"/>
                  <a:gd name="T11" fmla="*/ 50 h 61"/>
                  <a:gd name="T12" fmla="*/ 4 w 262"/>
                  <a:gd name="T13" fmla="*/ 61 h 61"/>
                </a:gdLst>
                <a:ahLst/>
                <a:cxnLst>
                  <a:cxn ang="0">
                    <a:pos x="T0" y="T1"/>
                  </a:cxn>
                  <a:cxn ang="0">
                    <a:pos x="T2" y="T3"/>
                  </a:cxn>
                  <a:cxn ang="0">
                    <a:pos x="T4" y="T5"/>
                  </a:cxn>
                  <a:cxn ang="0">
                    <a:pos x="T6" y="T7"/>
                  </a:cxn>
                  <a:cxn ang="0">
                    <a:pos x="T8" y="T9"/>
                  </a:cxn>
                  <a:cxn ang="0">
                    <a:pos x="T10" y="T11"/>
                  </a:cxn>
                  <a:cxn ang="0">
                    <a:pos x="T12" y="T13"/>
                  </a:cxn>
                </a:cxnLst>
                <a:rect l="0" t="0" r="r" b="b"/>
                <a:pathLst>
                  <a:path w="262" h="61">
                    <a:moveTo>
                      <a:pt x="4" y="61"/>
                    </a:moveTo>
                    <a:cubicBezTo>
                      <a:pt x="37" y="29"/>
                      <a:pt x="82" y="10"/>
                      <a:pt x="131" y="10"/>
                    </a:cubicBezTo>
                    <a:cubicBezTo>
                      <a:pt x="180" y="10"/>
                      <a:pt x="225" y="30"/>
                      <a:pt x="258" y="61"/>
                    </a:cubicBezTo>
                    <a:cubicBezTo>
                      <a:pt x="262" y="50"/>
                      <a:pt x="262" y="50"/>
                      <a:pt x="262" y="50"/>
                    </a:cubicBezTo>
                    <a:cubicBezTo>
                      <a:pt x="226" y="17"/>
                      <a:pt x="180" y="0"/>
                      <a:pt x="131" y="0"/>
                    </a:cubicBezTo>
                    <a:cubicBezTo>
                      <a:pt x="82" y="0"/>
                      <a:pt x="36" y="17"/>
                      <a:pt x="0" y="50"/>
                    </a:cubicBezTo>
                    <a:lnTo>
                      <a:pt x="4"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40" name="Freeform 31"/>
              <p:cNvSpPr>
                <a:spLocks noEditPoints="1"/>
              </p:cNvSpPr>
              <p:nvPr/>
            </p:nvSpPr>
            <p:spPr bwMode="auto">
              <a:xfrm>
                <a:off x="3941763" y="2025651"/>
                <a:ext cx="981075" cy="244475"/>
              </a:xfrm>
              <a:custGeom>
                <a:avLst/>
                <a:gdLst>
                  <a:gd name="T0" fmla="*/ 28 w 618"/>
                  <a:gd name="T1" fmla="*/ 33 h 154"/>
                  <a:gd name="T2" fmla="*/ 21 w 618"/>
                  <a:gd name="T3" fmla="*/ 90 h 154"/>
                  <a:gd name="T4" fmla="*/ 23 w 618"/>
                  <a:gd name="T5" fmla="*/ 90 h 154"/>
                  <a:gd name="T6" fmla="*/ 69 w 618"/>
                  <a:gd name="T7" fmla="*/ 55 h 154"/>
                  <a:gd name="T8" fmla="*/ 45 w 618"/>
                  <a:gd name="T9" fmla="*/ 102 h 154"/>
                  <a:gd name="T10" fmla="*/ 90 w 618"/>
                  <a:gd name="T11" fmla="*/ 64 h 154"/>
                  <a:gd name="T12" fmla="*/ 92 w 618"/>
                  <a:gd name="T13" fmla="*/ 121 h 154"/>
                  <a:gd name="T14" fmla="*/ 95 w 618"/>
                  <a:gd name="T15" fmla="*/ 124 h 154"/>
                  <a:gd name="T16" fmla="*/ 133 w 618"/>
                  <a:gd name="T17" fmla="*/ 81 h 154"/>
                  <a:gd name="T18" fmla="*/ 118 w 618"/>
                  <a:gd name="T19" fmla="*/ 131 h 154"/>
                  <a:gd name="T20" fmla="*/ 159 w 618"/>
                  <a:gd name="T21" fmla="*/ 88 h 154"/>
                  <a:gd name="T22" fmla="*/ 168 w 618"/>
                  <a:gd name="T23" fmla="*/ 143 h 154"/>
                  <a:gd name="T24" fmla="*/ 171 w 618"/>
                  <a:gd name="T25" fmla="*/ 145 h 154"/>
                  <a:gd name="T26" fmla="*/ 204 w 618"/>
                  <a:gd name="T27" fmla="*/ 97 h 154"/>
                  <a:gd name="T28" fmla="*/ 195 w 618"/>
                  <a:gd name="T29" fmla="*/ 147 h 154"/>
                  <a:gd name="T30" fmla="*/ 228 w 618"/>
                  <a:gd name="T31" fmla="*/ 100 h 154"/>
                  <a:gd name="T32" fmla="*/ 247 w 618"/>
                  <a:gd name="T33" fmla="*/ 154 h 154"/>
                  <a:gd name="T34" fmla="*/ 249 w 618"/>
                  <a:gd name="T35" fmla="*/ 154 h 154"/>
                  <a:gd name="T36" fmla="*/ 273 w 618"/>
                  <a:gd name="T37" fmla="*/ 102 h 154"/>
                  <a:gd name="T38" fmla="*/ 273 w 618"/>
                  <a:gd name="T39" fmla="*/ 154 h 154"/>
                  <a:gd name="T40" fmla="*/ 302 w 618"/>
                  <a:gd name="T41" fmla="*/ 154 h 154"/>
                  <a:gd name="T42" fmla="*/ 321 w 618"/>
                  <a:gd name="T43" fmla="*/ 102 h 154"/>
                  <a:gd name="T44" fmla="*/ 325 w 618"/>
                  <a:gd name="T45" fmla="*/ 152 h 154"/>
                  <a:gd name="T46" fmla="*/ 347 w 618"/>
                  <a:gd name="T47" fmla="*/ 100 h 154"/>
                  <a:gd name="T48" fmla="*/ 345 w 618"/>
                  <a:gd name="T49" fmla="*/ 100 h 154"/>
                  <a:gd name="T50" fmla="*/ 380 w 618"/>
                  <a:gd name="T51" fmla="*/ 147 h 154"/>
                  <a:gd name="T52" fmla="*/ 392 w 618"/>
                  <a:gd name="T53" fmla="*/ 90 h 154"/>
                  <a:gd name="T54" fmla="*/ 404 w 618"/>
                  <a:gd name="T55" fmla="*/ 143 h 154"/>
                  <a:gd name="T56" fmla="*/ 418 w 618"/>
                  <a:gd name="T57" fmla="*/ 86 h 154"/>
                  <a:gd name="T58" fmla="*/ 416 w 618"/>
                  <a:gd name="T59" fmla="*/ 86 h 154"/>
                  <a:gd name="T60" fmla="*/ 456 w 618"/>
                  <a:gd name="T61" fmla="*/ 126 h 154"/>
                  <a:gd name="T62" fmla="*/ 461 w 618"/>
                  <a:gd name="T63" fmla="*/ 71 h 154"/>
                  <a:gd name="T64" fmla="*/ 480 w 618"/>
                  <a:gd name="T65" fmla="*/ 119 h 154"/>
                  <a:gd name="T66" fmla="*/ 485 w 618"/>
                  <a:gd name="T67" fmla="*/ 59 h 154"/>
                  <a:gd name="T68" fmla="*/ 483 w 618"/>
                  <a:gd name="T69" fmla="*/ 62 h 154"/>
                  <a:gd name="T70" fmla="*/ 530 w 618"/>
                  <a:gd name="T71" fmla="*/ 97 h 154"/>
                  <a:gd name="T72" fmla="*/ 525 w 618"/>
                  <a:gd name="T73" fmla="*/ 40 h 154"/>
                  <a:gd name="T74" fmla="*/ 552 w 618"/>
                  <a:gd name="T75" fmla="*/ 86 h 154"/>
                  <a:gd name="T76" fmla="*/ 547 w 618"/>
                  <a:gd name="T77" fmla="*/ 26 h 154"/>
                  <a:gd name="T78" fmla="*/ 544 w 618"/>
                  <a:gd name="T79" fmla="*/ 28 h 154"/>
                  <a:gd name="T80" fmla="*/ 597 w 618"/>
                  <a:gd name="T81" fmla="*/ 57 h 154"/>
                  <a:gd name="T82" fmla="*/ 585 w 618"/>
                  <a:gd name="T83" fmla="*/ 0 h 154"/>
                  <a:gd name="T84" fmla="*/ 616 w 618"/>
                  <a:gd name="T85" fmla="*/ 4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8" h="154">
                    <a:moveTo>
                      <a:pt x="0" y="76"/>
                    </a:moveTo>
                    <a:lnTo>
                      <a:pt x="26" y="33"/>
                    </a:lnTo>
                    <a:lnTo>
                      <a:pt x="28" y="33"/>
                    </a:lnTo>
                    <a:lnTo>
                      <a:pt x="0" y="78"/>
                    </a:lnTo>
                    <a:lnTo>
                      <a:pt x="0" y="76"/>
                    </a:lnTo>
                    <a:close/>
                    <a:moveTo>
                      <a:pt x="21" y="90"/>
                    </a:moveTo>
                    <a:lnTo>
                      <a:pt x="47" y="43"/>
                    </a:lnTo>
                    <a:lnTo>
                      <a:pt x="47" y="45"/>
                    </a:lnTo>
                    <a:lnTo>
                      <a:pt x="23" y="90"/>
                    </a:lnTo>
                    <a:lnTo>
                      <a:pt x="21" y="90"/>
                    </a:lnTo>
                    <a:close/>
                    <a:moveTo>
                      <a:pt x="45" y="102"/>
                    </a:moveTo>
                    <a:lnTo>
                      <a:pt x="69" y="55"/>
                    </a:lnTo>
                    <a:lnTo>
                      <a:pt x="69" y="55"/>
                    </a:lnTo>
                    <a:lnTo>
                      <a:pt x="47" y="102"/>
                    </a:lnTo>
                    <a:lnTo>
                      <a:pt x="45" y="102"/>
                    </a:lnTo>
                    <a:close/>
                    <a:moveTo>
                      <a:pt x="69" y="112"/>
                    </a:moveTo>
                    <a:lnTo>
                      <a:pt x="90" y="64"/>
                    </a:lnTo>
                    <a:lnTo>
                      <a:pt x="90" y="64"/>
                    </a:lnTo>
                    <a:lnTo>
                      <a:pt x="71" y="114"/>
                    </a:lnTo>
                    <a:lnTo>
                      <a:pt x="69" y="112"/>
                    </a:lnTo>
                    <a:close/>
                    <a:moveTo>
                      <a:pt x="92" y="121"/>
                    </a:moveTo>
                    <a:lnTo>
                      <a:pt x="111" y="74"/>
                    </a:lnTo>
                    <a:lnTo>
                      <a:pt x="114" y="74"/>
                    </a:lnTo>
                    <a:lnTo>
                      <a:pt x="95" y="124"/>
                    </a:lnTo>
                    <a:lnTo>
                      <a:pt x="92" y="121"/>
                    </a:lnTo>
                    <a:close/>
                    <a:moveTo>
                      <a:pt x="118" y="131"/>
                    </a:moveTo>
                    <a:lnTo>
                      <a:pt x="133" y="81"/>
                    </a:lnTo>
                    <a:lnTo>
                      <a:pt x="135" y="81"/>
                    </a:lnTo>
                    <a:lnTo>
                      <a:pt x="121" y="131"/>
                    </a:lnTo>
                    <a:lnTo>
                      <a:pt x="118" y="131"/>
                    </a:lnTo>
                    <a:close/>
                    <a:moveTo>
                      <a:pt x="145" y="138"/>
                    </a:moveTo>
                    <a:lnTo>
                      <a:pt x="157" y="88"/>
                    </a:lnTo>
                    <a:lnTo>
                      <a:pt x="159" y="88"/>
                    </a:lnTo>
                    <a:lnTo>
                      <a:pt x="145" y="138"/>
                    </a:lnTo>
                    <a:lnTo>
                      <a:pt x="145" y="138"/>
                    </a:lnTo>
                    <a:close/>
                    <a:moveTo>
                      <a:pt x="168" y="143"/>
                    </a:moveTo>
                    <a:lnTo>
                      <a:pt x="180" y="93"/>
                    </a:lnTo>
                    <a:lnTo>
                      <a:pt x="183" y="93"/>
                    </a:lnTo>
                    <a:lnTo>
                      <a:pt x="171" y="145"/>
                    </a:lnTo>
                    <a:lnTo>
                      <a:pt x="168" y="143"/>
                    </a:lnTo>
                    <a:close/>
                    <a:moveTo>
                      <a:pt x="195" y="147"/>
                    </a:moveTo>
                    <a:lnTo>
                      <a:pt x="204" y="97"/>
                    </a:lnTo>
                    <a:lnTo>
                      <a:pt x="204" y="97"/>
                    </a:lnTo>
                    <a:lnTo>
                      <a:pt x="197" y="147"/>
                    </a:lnTo>
                    <a:lnTo>
                      <a:pt x="195" y="147"/>
                    </a:lnTo>
                    <a:close/>
                    <a:moveTo>
                      <a:pt x="221" y="152"/>
                    </a:moveTo>
                    <a:lnTo>
                      <a:pt x="228" y="100"/>
                    </a:lnTo>
                    <a:lnTo>
                      <a:pt x="228" y="100"/>
                    </a:lnTo>
                    <a:lnTo>
                      <a:pt x="223" y="152"/>
                    </a:lnTo>
                    <a:lnTo>
                      <a:pt x="221" y="152"/>
                    </a:lnTo>
                    <a:close/>
                    <a:moveTo>
                      <a:pt x="247" y="154"/>
                    </a:moveTo>
                    <a:lnTo>
                      <a:pt x="249" y="102"/>
                    </a:lnTo>
                    <a:lnTo>
                      <a:pt x="252" y="102"/>
                    </a:lnTo>
                    <a:lnTo>
                      <a:pt x="249" y="154"/>
                    </a:lnTo>
                    <a:lnTo>
                      <a:pt x="247" y="154"/>
                    </a:lnTo>
                    <a:close/>
                    <a:moveTo>
                      <a:pt x="273" y="154"/>
                    </a:moveTo>
                    <a:lnTo>
                      <a:pt x="273" y="102"/>
                    </a:lnTo>
                    <a:lnTo>
                      <a:pt x="276" y="102"/>
                    </a:lnTo>
                    <a:lnTo>
                      <a:pt x="276" y="154"/>
                    </a:lnTo>
                    <a:lnTo>
                      <a:pt x="273" y="154"/>
                    </a:lnTo>
                    <a:close/>
                    <a:moveTo>
                      <a:pt x="297" y="102"/>
                    </a:moveTo>
                    <a:lnTo>
                      <a:pt x="299" y="102"/>
                    </a:lnTo>
                    <a:lnTo>
                      <a:pt x="302" y="154"/>
                    </a:lnTo>
                    <a:lnTo>
                      <a:pt x="299" y="154"/>
                    </a:lnTo>
                    <a:lnTo>
                      <a:pt x="297" y="102"/>
                    </a:lnTo>
                    <a:close/>
                    <a:moveTo>
                      <a:pt x="321" y="102"/>
                    </a:moveTo>
                    <a:lnTo>
                      <a:pt x="323" y="102"/>
                    </a:lnTo>
                    <a:lnTo>
                      <a:pt x="328" y="152"/>
                    </a:lnTo>
                    <a:lnTo>
                      <a:pt x="325" y="152"/>
                    </a:lnTo>
                    <a:lnTo>
                      <a:pt x="321" y="102"/>
                    </a:lnTo>
                    <a:close/>
                    <a:moveTo>
                      <a:pt x="345" y="100"/>
                    </a:moveTo>
                    <a:lnTo>
                      <a:pt x="347" y="100"/>
                    </a:lnTo>
                    <a:lnTo>
                      <a:pt x="354" y="150"/>
                    </a:lnTo>
                    <a:lnTo>
                      <a:pt x="352" y="150"/>
                    </a:lnTo>
                    <a:lnTo>
                      <a:pt x="345" y="100"/>
                    </a:lnTo>
                    <a:close/>
                    <a:moveTo>
                      <a:pt x="368" y="95"/>
                    </a:moveTo>
                    <a:lnTo>
                      <a:pt x="371" y="95"/>
                    </a:lnTo>
                    <a:lnTo>
                      <a:pt x="380" y="147"/>
                    </a:lnTo>
                    <a:lnTo>
                      <a:pt x="378" y="147"/>
                    </a:lnTo>
                    <a:lnTo>
                      <a:pt x="368" y="95"/>
                    </a:lnTo>
                    <a:close/>
                    <a:moveTo>
                      <a:pt x="392" y="90"/>
                    </a:moveTo>
                    <a:lnTo>
                      <a:pt x="394" y="90"/>
                    </a:lnTo>
                    <a:lnTo>
                      <a:pt x="406" y="140"/>
                    </a:lnTo>
                    <a:lnTo>
                      <a:pt x="404" y="143"/>
                    </a:lnTo>
                    <a:lnTo>
                      <a:pt x="392" y="90"/>
                    </a:lnTo>
                    <a:close/>
                    <a:moveTo>
                      <a:pt x="416" y="86"/>
                    </a:moveTo>
                    <a:lnTo>
                      <a:pt x="418" y="86"/>
                    </a:lnTo>
                    <a:lnTo>
                      <a:pt x="430" y="135"/>
                    </a:lnTo>
                    <a:lnTo>
                      <a:pt x="430" y="135"/>
                    </a:lnTo>
                    <a:lnTo>
                      <a:pt x="416" y="86"/>
                    </a:lnTo>
                    <a:close/>
                    <a:moveTo>
                      <a:pt x="437" y="78"/>
                    </a:moveTo>
                    <a:lnTo>
                      <a:pt x="440" y="78"/>
                    </a:lnTo>
                    <a:lnTo>
                      <a:pt x="456" y="126"/>
                    </a:lnTo>
                    <a:lnTo>
                      <a:pt x="454" y="128"/>
                    </a:lnTo>
                    <a:lnTo>
                      <a:pt x="437" y="78"/>
                    </a:lnTo>
                    <a:close/>
                    <a:moveTo>
                      <a:pt x="461" y="71"/>
                    </a:moveTo>
                    <a:lnTo>
                      <a:pt x="463" y="69"/>
                    </a:lnTo>
                    <a:lnTo>
                      <a:pt x="480" y="119"/>
                    </a:lnTo>
                    <a:lnTo>
                      <a:pt x="480" y="119"/>
                    </a:lnTo>
                    <a:lnTo>
                      <a:pt x="461" y="71"/>
                    </a:lnTo>
                    <a:close/>
                    <a:moveTo>
                      <a:pt x="483" y="62"/>
                    </a:moveTo>
                    <a:lnTo>
                      <a:pt x="485" y="59"/>
                    </a:lnTo>
                    <a:lnTo>
                      <a:pt x="506" y="107"/>
                    </a:lnTo>
                    <a:lnTo>
                      <a:pt x="504" y="109"/>
                    </a:lnTo>
                    <a:lnTo>
                      <a:pt x="483" y="62"/>
                    </a:lnTo>
                    <a:close/>
                    <a:moveTo>
                      <a:pt x="504" y="50"/>
                    </a:moveTo>
                    <a:lnTo>
                      <a:pt x="506" y="50"/>
                    </a:lnTo>
                    <a:lnTo>
                      <a:pt x="530" y="97"/>
                    </a:lnTo>
                    <a:lnTo>
                      <a:pt x="528" y="97"/>
                    </a:lnTo>
                    <a:lnTo>
                      <a:pt x="504" y="50"/>
                    </a:lnTo>
                    <a:close/>
                    <a:moveTo>
                      <a:pt x="525" y="40"/>
                    </a:moveTo>
                    <a:lnTo>
                      <a:pt x="528" y="38"/>
                    </a:lnTo>
                    <a:lnTo>
                      <a:pt x="552" y="86"/>
                    </a:lnTo>
                    <a:lnTo>
                      <a:pt x="552" y="86"/>
                    </a:lnTo>
                    <a:lnTo>
                      <a:pt x="525" y="40"/>
                    </a:lnTo>
                    <a:close/>
                    <a:moveTo>
                      <a:pt x="544" y="28"/>
                    </a:moveTo>
                    <a:lnTo>
                      <a:pt x="547" y="26"/>
                    </a:lnTo>
                    <a:lnTo>
                      <a:pt x="575" y="71"/>
                    </a:lnTo>
                    <a:lnTo>
                      <a:pt x="573" y="71"/>
                    </a:lnTo>
                    <a:lnTo>
                      <a:pt x="544" y="28"/>
                    </a:lnTo>
                    <a:close/>
                    <a:moveTo>
                      <a:pt x="566" y="14"/>
                    </a:moveTo>
                    <a:lnTo>
                      <a:pt x="568" y="14"/>
                    </a:lnTo>
                    <a:lnTo>
                      <a:pt x="597" y="57"/>
                    </a:lnTo>
                    <a:lnTo>
                      <a:pt x="594" y="57"/>
                    </a:lnTo>
                    <a:lnTo>
                      <a:pt x="566" y="14"/>
                    </a:lnTo>
                    <a:close/>
                    <a:moveTo>
                      <a:pt x="585" y="0"/>
                    </a:moveTo>
                    <a:lnTo>
                      <a:pt x="587" y="0"/>
                    </a:lnTo>
                    <a:lnTo>
                      <a:pt x="618" y="40"/>
                    </a:lnTo>
                    <a:lnTo>
                      <a:pt x="616" y="43"/>
                    </a:lnTo>
                    <a:lnTo>
                      <a:pt x="5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41" name="Freeform 32"/>
              <p:cNvSpPr>
                <a:spLocks noEditPoints="1"/>
              </p:cNvSpPr>
              <p:nvPr/>
            </p:nvSpPr>
            <p:spPr bwMode="auto">
              <a:xfrm>
                <a:off x="3941763" y="519113"/>
                <a:ext cx="981075" cy="249238"/>
              </a:xfrm>
              <a:custGeom>
                <a:avLst/>
                <a:gdLst>
                  <a:gd name="T0" fmla="*/ 28 w 618"/>
                  <a:gd name="T1" fmla="*/ 124 h 157"/>
                  <a:gd name="T2" fmla="*/ 21 w 618"/>
                  <a:gd name="T3" fmla="*/ 67 h 157"/>
                  <a:gd name="T4" fmla="*/ 47 w 618"/>
                  <a:gd name="T5" fmla="*/ 112 h 157"/>
                  <a:gd name="T6" fmla="*/ 47 w 618"/>
                  <a:gd name="T7" fmla="*/ 52 h 157"/>
                  <a:gd name="T8" fmla="*/ 45 w 618"/>
                  <a:gd name="T9" fmla="*/ 55 h 157"/>
                  <a:gd name="T10" fmla="*/ 90 w 618"/>
                  <a:gd name="T11" fmla="*/ 90 h 157"/>
                  <a:gd name="T12" fmla="*/ 92 w 618"/>
                  <a:gd name="T13" fmla="*/ 33 h 157"/>
                  <a:gd name="T14" fmla="*/ 111 w 618"/>
                  <a:gd name="T15" fmla="*/ 83 h 157"/>
                  <a:gd name="T16" fmla="*/ 121 w 618"/>
                  <a:gd name="T17" fmla="*/ 26 h 157"/>
                  <a:gd name="T18" fmla="*/ 118 w 618"/>
                  <a:gd name="T19" fmla="*/ 26 h 157"/>
                  <a:gd name="T20" fmla="*/ 159 w 618"/>
                  <a:gd name="T21" fmla="*/ 69 h 157"/>
                  <a:gd name="T22" fmla="*/ 168 w 618"/>
                  <a:gd name="T23" fmla="*/ 12 h 157"/>
                  <a:gd name="T24" fmla="*/ 180 w 618"/>
                  <a:gd name="T25" fmla="*/ 64 h 157"/>
                  <a:gd name="T26" fmla="*/ 197 w 618"/>
                  <a:gd name="T27" fmla="*/ 7 h 157"/>
                  <a:gd name="T28" fmla="*/ 195 w 618"/>
                  <a:gd name="T29" fmla="*/ 7 h 157"/>
                  <a:gd name="T30" fmla="*/ 228 w 618"/>
                  <a:gd name="T31" fmla="*/ 57 h 157"/>
                  <a:gd name="T32" fmla="*/ 247 w 618"/>
                  <a:gd name="T33" fmla="*/ 2 h 157"/>
                  <a:gd name="T34" fmla="*/ 249 w 618"/>
                  <a:gd name="T35" fmla="*/ 55 h 157"/>
                  <a:gd name="T36" fmla="*/ 276 w 618"/>
                  <a:gd name="T37" fmla="*/ 0 h 157"/>
                  <a:gd name="T38" fmla="*/ 273 w 618"/>
                  <a:gd name="T39" fmla="*/ 0 h 157"/>
                  <a:gd name="T40" fmla="*/ 302 w 618"/>
                  <a:gd name="T41" fmla="*/ 2 h 157"/>
                  <a:gd name="T42" fmla="*/ 321 w 618"/>
                  <a:gd name="T43" fmla="*/ 55 h 157"/>
                  <a:gd name="T44" fmla="*/ 323 w 618"/>
                  <a:gd name="T45" fmla="*/ 55 h 157"/>
                  <a:gd name="T46" fmla="*/ 352 w 618"/>
                  <a:gd name="T47" fmla="*/ 5 h 157"/>
                  <a:gd name="T48" fmla="*/ 345 w 618"/>
                  <a:gd name="T49" fmla="*/ 57 h 157"/>
                  <a:gd name="T50" fmla="*/ 380 w 618"/>
                  <a:gd name="T51" fmla="*/ 9 h 157"/>
                  <a:gd name="T52" fmla="*/ 392 w 618"/>
                  <a:gd name="T53" fmla="*/ 64 h 157"/>
                  <a:gd name="T54" fmla="*/ 394 w 618"/>
                  <a:gd name="T55" fmla="*/ 67 h 157"/>
                  <a:gd name="T56" fmla="*/ 430 w 618"/>
                  <a:gd name="T57" fmla="*/ 21 h 157"/>
                  <a:gd name="T58" fmla="*/ 416 w 618"/>
                  <a:gd name="T59" fmla="*/ 71 h 157"/>
                  <a:gd name="T60" fmla="*/ 456 w 618"/>
                  <a:gd name="T61" fmla="*/ 28 h 157"/>
                  <a:gd name="T62" fmla="*/ 461 w 618"/>
                  <a:gd name="T63" fmla="*/ 86 h 157"/>
                  <a:gd name="T64" fmla="*/ 463 w 618"/>
                  <a:gd name="T65" fmla="*/ 86 h 157"/>
                  <a:gd name="T66" fmla="*/ 504 w 618"/>
                  <a:gd name="T67" fmla="*/ 47 h 157"/>
                  <a:gd name="T68" fmla="*/ 483 w 618"/>
                  <a:gd name="T69" fmla="*/ 95 h 157"/>
                  <a:gd name="T70" fmla="*/ 530 w 618"/>
                  <a:gd name="T71" fmla="*/ 59 h 157"/>
                  <a:gd name="T72" fmla="*/ 525 w 618"/>
                  <a:gd name="T73" fmla="*/ 116 h 157"/>
                  <a:gd name="T74" fmla="*/ 528 w 618"/>
                  <a:gd name="T75" fmla="*/ 116 h 157"/>
                  <a:gd name="T76" fmla="*/ 573 w 618"/>
                  <a:gd name="T77" fmla="*/ 83 h 157"/>
                  <a:gd name="T78" fmla="*/ 544 w 618"/>
                  <a:gd name="T79" fmla="*/ 128 h 157"/>
                  <a:gd name="T80" fmla="*/ 597 w 618"/>
                  <a:gd name="T81" fmla="*/ 100 h 157"/>
                  <a:gd name="T82" fmla="*/ 585 w 618"/>
                  <a:gd name="T83" fmla="*/ 155 h 157"/>
                  <a:gd name="T84" fmla="*/ 587 w 618"/>
                  <a:gd name="T8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8" h="157">
                    <a:moveTo>
                      <a:pt x="0" y="78"/>
                    </a:moveTo>
                    <a:lnTo>
                      <a:pt x="0" y="78"/>
                    </a:lnTo>
                    <a:lnTo>
                      <a:pt x="28" y="124"/>
                    </a:lnTo>
                    <a:lnTo>
                      <a:pt x="26" y="124"/>
                    </a:lnTo>
                    <a:lnTo>
                      <a:pt x="0" y="78"/>
                    </a:lnTo>
                    <a:close/>
                    <a:moveTo>
                      <a:pt x="21" y="67"/>
                    </a:moveTo>
                    <a:lnTo>
                      <a:pt x="23" y="64"/>
                    </a:lnTo>
                    <a:lnTo>
                      <a:pt x="47" y="112"/>
                    </a:lnTo>
                    <a:lnTo>
                      <a:pt x="47" y="112"/>
                    </a:lnTo>
                    <a:lnTo>
                      <a:pt x="21" y="67"/>
                    </a:lnTo>
                    <a:close/>
                    <a:moveTo>
                      <a:pt x="45" y="55"/>
                    </a:moveTo>
                    <a:lnTo>
                      <a:pt x="47" y="52"/>
                    </a:lnTo>
                    <a:lnTo>
                      <a:pt x="69" y="100"/>
                    </a:lnTo>
                    <a:lnTo>
                      <a:pt x="69" y="102"/>
                    </a:lnTo>
                    <a:lnTo>
                      <a:pt x="45" y="55"/>
                    </a:lnTo>
                    <a:close/>
                    <a:moveTo>
                      <a:pt x="69" y="43"/>
                    </a:moveTo>
                    <a:lnTo>
                      <a:pt x="71" y="43"/>
                    </a:lnTo>
                    <a:lnTo>
                      <a:pt x="90" y="90"/>
                    </a:lnTo>
                    <a:lnTo>
                      <a:pt x="90" y="93"/>
                    </a:lnTo>
                    <a:lnTo>
                      <a:pt x="69" y="43"/>
                    </a:lnTo>
                    <a:close/>
                    <a:moveTo>
                      <a:pt x="92" y="33"/>
                    </a:moveTo>
                    <a:lnTo>
                      <a:pt x="95" y="33"/>
                    </a:lnTo>
                    <a:lnTo>
                      <a:pt x="114" y="83"/>
                    </a:lnTo>
                    <a:lnTo>
                      <a:pt x="111" y="83"/>
                    </a:lnTo>
                    <a:lnTo>
                      <a:pt x="92" y="33"/>
                    </a:lnTo>
                    <a:close/>
                    <a:moveTo>
                      <a:pt x="118" y="26"/>
                    </a:moveTo>
                    <a:lnTo>
                      <a:pt x="121" y="26"/>
                    </a:lnTo>
                    <a:lnTo>
                      <a:pt x="135" y="76"/>
                    </a:lnTo>
                    <a:lnTo>
                      <a:pt x="133" y="76"/>
                    </a:lnTo>
                    <a:lnTo>
                      <a:pt x="118" y="26"/>
                    </a:lnTo>
                    <a:close/>
                    <a:moveTo>
                      <a:pt x="145" y="19"/>
                    </a:moveTo>
                    <a:lnTo>
                      <a:pt x="145" y="19"/>
                    </a:lnTo>
                    <a:lnTo>
                      <a:pt x="159" y="69"/>
                    </a:lnTo>
                    <a:lnTo>
                      <a:pt x="157" y="69"/>
                    </a:lnTo>
                    <a:lnTo>
                      <a:pt x="145" y="19"/>
                    </a:lnTo>
                    <a:close/>
                    <a:moveTo>
                      <a:pt x="168" y="12"/>
                    </a:moveTo>
                    <a:lnTo>
                      <a:pt x="171" y="12"/>
                    </a:lnTo>
                    <a:lnTo>
                      <a:pt x="183" y="64"/>
                    </a:lnTo>
                    <a:lnTo>
                      <a:pt x="180" y="64"/>
                    </a:lnTo>
                    <a:lnTo>
                      <a:pt x="168" y="12"/>
                    </a:lnTo>
                    <a:close/>
                    <a:moveTo>
                      <a:pt x="195" y="7"/>
                    </a:moveTo>
                    <a:lnTo>
                      <a:pt x="197" y="7"/>
                    </a:lnTo>
                    <a:lnTo>
                      <a:pt x="204" y="59"/>
                    </a:lnTo>
                    <a:lnTo>
                      <a:pt x="204" y="59"/>
                    </a:lnTo>
                    <a:lnTo>
                      <a:pt x="195" y="7"/>
                    </a:lnTo>
                    <a:close/>
                    <a:moveTo>
                      <a:pt x="221" y="5"/>
                    </a:moveTo>
                    <a:lnTo>
                      <a:pt x="223" y="5"/>
                    </a:lnTo>
                    <a:lnTo>
                      <a:pt x="228" y="57"/>
                    </a:lnTo>
                    <a:lnTo>
                      <a:pt x="228" y="57"/>
                    </a:lnTo>
                    <a:lnTo>
                      <a:pt x="221" y="5"/>
                    </a:lnTo>
                    <a:close/>
                    <a:moveTo>
                      <a:pt x="247" y="2"/>
                    </a:moveTo>
                    <a:lnTo>
                      <a:pt x="249" y="2"/>
                    </a:lnTo>
                    <a:lnTo>
                      <a:pt x="252" y="55"/>
                    </a:lnTo>
                    <a:lnTo>
                      <a:pt x="249" y="55"/>
                    </a:lnTo>
                    <a:lnTo>
                      <a:pt x="247" y="2"/>
                    </a:lnTo>
                    <a:close/>
                    <a:moveTo>
                      <a:pt x="273" y="0"/>
                    </a:moveTo>
                    <a:lnTo>
                      <a:pt x="276" y="0"/>
                    </a:lnTo>
                    <a:lnTo>
                      <a:pt x="276" y="52"/>
                    </a:lnTo>
                    <a:lnTo>
                      <a:pt x="273" y="52"/>
                    </a:lnTo>
                    <a:lnTo>
                      <a:pt x="273" y="0"/>
                    </a:lnTo>
                    <a:close/>
                    <a:moveTo>
                      <a:pt x="299" y="52"/>
                    </a:moveTo>
                    <a:lnTo>
                      <a:pt x="299" y="2"/>
                    </a:lnTo>
                    <a:lnTo>
                      <a:pt x="302" y="2"/>
                    </a:lnTo>
                    <a:lnTo>
                      <a:pt x="299" y="52"/>
                    </a:lnTo>
                    <a:lnTo>
                      <a:pt x="299" y="52"/>
                    </a:lnTo>
                    <a:close/>
                    <a:moveTo>
                      <a:pt x="321" y="55"/>
                    </a:moveTo>
                    <a:lnTo>
                      <a:pt x="325" y="2"/>
                    </a:lnTo>
                    <a:lnTo>
                      <a:pt x="328" y="2"/>
                    </a:lnTo>
                    <a:lnTo>
                      <a:pt x="323" y="55"/>
                    </a:lnTo>
                    <a:lnTo>
                      <a:pt x="321" y="55"/>
                    </a:lnTo>
                    <a:close/>
                    <a:moveTo>
                      <a:pt x="345" y="57"/>
                    </a:moveTo>
                    <a:lnTo>
                      <a:pt x="352" y="5"/>
                    </a:lnTo>
                    <a:lnTo>
                      <a:pt x="354" y="5"/>
                    </a:lnTo>
                    <a:lnTo>
                      <a:pt x="347" y="57"/>
                    </a:lnTo>
                    <a:lnTo>
                      <a:pt x="345" y="57"/>
                    </a:lnTo>
                    <a:close/>
                    <a:moveTo>
                      <a:pt x="368" y="62"/>
                    </a:moveTo>
                    <a:lnTo>
                      <a:pt x="378" y="9"/>
                    </a:lnTo>
                    <a:lnTo>
                      <a:pt x="380" y="9"/>
                    </a:lnTo>
                    <a:lnTo>
                      <a:pt x="371" y="62"/>
                    </a:lnTo>
                    <a:lnTo>
                      <a:pt x="368" y="62"/>
                    </a:lnTo>
                    <a:close/>
                    <a:moveTo>
                      <a:pt x="392" y="64"/>
                    </a:moveTo>
                    <a:lnTo>
                      <a:pt x="404" y="14"/>
                    </a:lnTo>
                    <a:lnTo>
                      <a:pt x="406" y="14"/>
                    </a:lnTo>
                    <a:lnTo>
                      <a:pt x="394" y="67"/>
                    </a:lnTo>
                    <a:lnTo>
                      <a:pt x="392" y="64"/>
                    </a:lnTo>
                    <a:close/>
                    <a:moveTo>
                      <a:pt x="416" y="71"/>
                    </a:moveTo>
                    <a:lnTo>
                      <a:pt x="430" y="21"/>
                    </a:lnTo>
                    <a:lnTo>
                      <a:pt x="430" y="21"/>
                    </a:lnTo>
                    <a:lnTo>
                      <a:pt x="418" y="71"/>
                    </a:lnTo>
                    <a:lnTo>
                      <a:pt x="416" y="71"/>
                    </a:lnTo>
                    <a:close/>
                    <a:moveTo>
                      <a:pt x="437" y="78"/>
                    </a:moveTo>
                    <a:lnTo>
                      <a:pt x="454" y="28"/>
                    </a:lnTo>
                    <a:lnTo>
                      <a:pt x="456" y="28"/>
                    </a:lnTo>
                    <a:lnTo>
                      <a:pt x="440" y="78"/>
                    </a:lnTo>
                    <a:lnTo>
                      <a:pt x="437" y="78"/>
                    </a:lnTo>
                    <a:close/>
                    <a:moveTo>
                      <a:pt x="461" y="86"/>
                    </a:moveTo>
                    <a:lnTo>
                      <a:pt x="480" y="38"/>
                    </a:lnTo>
                    <a:lnTo>
                      <a:pt x="480" y="38"/>
                    </a:lnTo>
                    <a:lnTo>
                      <a:pt x="463" y="86"/>
                    </a:lnTo>
                    <a:lnTo>
                      <a:pt x="461" y="86"/>
                    </a:lnTo>
                    <a:close/>
                    <a:moveTo>
                      <a:pt x="483" y="95"/>
                    </a:moveTo>
                    <a:lnTo>
                      <a:pt x="504" y="47"/>
                    </a:lnTo>
                    <a:lnTo>
                      <a:pt x="506" y="47"/>
                    </a:lnTo>
                    <a:lnTo>
                      <a:pt x="485" y="95"/>
                    </a:lnTo>
                    <a:lnTo>
                      <a:pt x="483" y="95"/>
                    </a:lnTo>
                    <a:close/>
                    <a:moveTo>
                      <a:pt x="504" y="105"/>
                    </a:moveTo>
                    <a:lnTo>
                      <a:pt x="528" y="59"/>
                    </a:lnTo>
                    <a:lnTo>
                      <a:pt x="530" y="59"/>
                    </a:lnTo>
                    <a:lnTo>
                      <a:pt x="506" y="107"/>
                    </a:lnTo>
                    <a:lnTo>
                      <a:pt x="504" y="105"/>
                    </a:lnTo>
                    <a:close/>
                    <a:moveTo>
                      <a:pt x="525" y="116"/>
                    </a:moveTo>
                    <a:lnTo>
                      <a:pt x="552" y="71"/>
                    </a:lnTo>
                    <a:lnTo>
                      <a:pt x="552" y="71"/>
                    </a:lnTo>
                    <a:lnTo>
                      <a:pt x="528" y="116"/>
                    </a:lnTo>
                    <a:lnTo>
                      <a:pt x="525" y="116"/>
                    </a:lnTo>
                    <a:close/>
                    <a:moveTo>
                      <a:pt x="544" y="128"/>
                    </a:moveTo>
                    <a:lnTo>
                      <a:pt x="573" y="83"/>
                    </a:lnTo>
                    <a:lnTo>
                      <a:pt x="575" y="86"/>
                    </a:lnTo>
                    <a:lnTo>
                      <a:pt x="547" y="128"/>
                    </a:lnTo>
                    <a:lnTo>
                      <a:pt x="544" y="128"/>
                    </a:lnTo>
                    <a:close/>
                    <a:moveTo>
                      <a:pt x="566" y="140"/>
                    </a:moveTo>
                    <a:lnTo>
                      <a:pt x="594" y="97"/>
                    </a:lnTo>
                    <a:lnTo>
                      <a:pt x="597" y="100"/>
                    </a:lnTo>
                    <a:lnTo>
                      <a:pt x="568" y="143"/>
                    </a:lnTo>
                    <a:lnTo>
                      <a:pt x="566" y="140"/>
                    </a:lnTo>
                    <a:close/>
                    <a:moveTo>
                      <a:pt x="585" y="155"/>
                    </a:moveTo>
                    <a:lnTo>
                      <a:pt x="616" y="114"/>
                    </a:lnTo>
                    <a:lnTo>
                      <a:pt x="618" y="114"/>
                    </a:lnTo>
                    <a:lnTo>
                      <a:pt x="587" y="157"/>
                    </a:lnTo>
                    <a:lnTo>
                      <a:pt x="585" y="1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grpSp>
        <p:sp>
          <p:nvSpPr>
            <p:cNvPr id="29" name="Freeform 33"/>
            <p:cNvSpPr>
              <a:spLocks noEditPoints="1"/>
            </p:cNvSpPr>
            <p:nvPr/>
          </p:nvSpPr>
          <p:spPr bwMode="auto">
            <a:xfrm>
              <a:off x="3889058" y="1037908"/>
              <a:ext cx="531812" cy="712788"/>
            </a:xfrm>
            <a:custGeom>
              <a:avLst/>
              <a:gdLst>
                <a:gd name="T0" fmla="*/ 71 w 141"/>
                <a:gd name="T1" fmla="*/ 27 h 189"/>
                <a:gd name="T2" fmla="*/ 141 w 141"/>
                <a:gd name="T3" fmla="*/ 13 h 189"/>
                <a:gd name="T4" fmla="*/ 71 w 141"/>
                <a:gd name="T5" fmla="*/ 0 h 189"/>
                <a:gd name="T6" fmla="*/ 0 w 141"/>
                <a:gd name="T7" fmla="*/ 13 h 189"/>
                <a:gd name="T8" fmla="*/ 71 w 141"/>
                <a:gd name="T9" fmla="*/ 27 h 189"/>
                <a:gd name="T10" fmla="*/ 71 w 141"/>
                <a:gd name="T11" fmla="*/ 38 h 189"/>
                <a:gd name="T12" fmla="*/ 0 w 141"/>
                <a:gd name="T13" fmla="*/ 24 h 189"/>
                <a:gd name="T14" fmla="*/ 0 w 141"/>
                <a:gd name="T15" fmla="*/ 68 h 189"/>
                <a:gd name="T16" fmla="*/ 71 w 141"/>
                <a:gd name="T17" fmla="*/ 82 h 189"/>
                <a:gd name="T18" fmla="*/ 141 w 141"/>
                <a:gd name="T19" fmla="*/ 68 h 189"/>
                <a:gd name="T20" fmla="*/ 141 w 141"/>
                <a:gd name="T21" fmla="*/ 24 h 189"/>
                <a:gd name="T22" fmla="*/ 71 w 141"/>
                <a:gd name="T23" fmla="*/ 38 h 189"/>
                <a:gd name="T24" fmla="*/ 15 w 141"/>
                <a:gd name="T25" fmla="*/ 53 h 189"/>
                <a:gd name="T26" fmla="*/ 9 w 141"/>
                <a:gd name="T27" fmla="*/ 48 h 189"/>
                <a:gd name="T28" fmla="*/ 15 w 141"/>
                <a:gd name="T29" fmla="*/ 42 h 189"/>
                <a:gd name="T30" fmla="*/ 20 w 141"/>
                <a:gd name="T31" fmla="*/ 48 h 189"/>
                <a:gd name="T32" fmla="*/ 15 w 141"/>
                <a:gd name="T33" fmla="*/ 53 h 189"/>
                <a:gd name="T34" fmla="*/ 71 w 141"/>
                <a:gd name="T35" fmla="*/ 144 h 189"/>
                <a:gd name="T36" fmla="*/ 0 w 141"/>
                <a:gd name="T37" fmla="*/ 131 h 189"/>
                <a:gd name="T38" fmla="*/ 0 w 141"/>
                <a:gd name="T39" fmla="*/ 175 h 189"/>
                <a:gd name="T40" fmla="*/ 71 w 141"/>
                <a:gd name="T41" fmla="*/ 189 h 189"/>
                <a:gd name="T42" fmla="*/ 141 w 141"/>
                <a:gd name="T43" fmla="*/ 175 h 189"/>
                <a:gd name="T44" fmla="*/ 141 w 141"/>
                <a:gd name="T45" fmla="*/ 131 h 189"/>
                <a:gd name="T46" fmla="*/ 71 w 141"/>
                <a:gd name="T47" fmla="*/ 144 h 189"/>
                <a:gd name="T48" fmla="*/ 15 w 141"/>
                <a:gd name="T49" fmla="*/ 159 h 189"/>
                <a:gd name="T50" fmla="*/ 9 w 141"/>
                <a:gd name="T51" fmla="*/ 153 h 189"/>
                <a:gd name="T52" fmla="*/ 15 w 141"/>
                <a:gd name="T53" fmla="*/ 148 h 189"/>
                <a:gd name="T54" fmla="*/ 20 w 141"/>
                <a:gd name="T55" fmla="*/ 153 h 189"/>
                <a:gd name="T56" fmla="*/ 15 w 141"/>
                <a:gd name="T57" fmla="*/ 159 h 189"/>
                <a:gd name="T58" fmla="*/ 71 w 141"/>
                <a:gd name="T59" fmla="*/ 91 h 189"/>
                <a:gd name="T60" fmla="*/ 0 w 141"/>
                <a:gd name="T61" fmla="*/ 78 h 189"/>
                <a:gd name="T62" fmla="*/ 0 w 141"/>
                <a:gd name="T63" fmla="*/ 122 h 189"/>
                <a:gd name="T64" fmla="*/ 71 w 141"/>
                <a:gd name="T65" fmla="*/ 135 h 189"/>
                <a:gd name="T66" fmla="*/ 141 w 141"/>
                <a:gd name="T67" fmla="*/ 122 h 189"/>
                <a:gd name="T68" fmla="*/ 141 w 141"/>
                <a:gd name="T69" fmla="*/ 78 h 189"/>
                <a:gd name="T70" fmla="*/ 71 w 141"/>
                <a:gd name="T71" fmla="*/ 91 h 189"/>
                <a:gd name="T72" fmla="*/ 15 w 141"/>
                <a:gd name="T73" fmla="*/ 106 h 189"/>
                <a:gd name="T74" fmla="*/ 9 w 141"/>
                <a:gd name="T75" fmla="*/ 100 h 189"/>
                <a:gd name="T76" fmla="*/ 15 w 141"/>
                <a:gd name="T77" fmla="*/ 95 h 189"/>
                <a:gd name="T78" fmla="*/ 20 w 141"/>
                <a:gd name="T79" fmla="*/ 100 h 189"/>
                <a:gd name="T80" fmla="*/ 15 w 141"/>
                <a:gd name="T81" fmla="*/ 106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1" h="189">
                  <a:moveTo>
                    <a:pt x="71" y="27"/>
                  </a:moveTo>
                  <a:cubicBezTo>
                    <a:pt x="110" y="27"/>
                    <a:pt x="141" y="21"/>
                    <a:pt x="141" y="13"/>
                  </a:cubicBezTo>
                  <a:cubicBezTo>
                    <a:pt x="141" y="6"/>
                    <a:pt x="110" y="0"/>
                    <a:pt x="71" y="0"/>
                  </a:cubicBezTo>
                  <a:cubicBezTo>
                    <a:pt x="32" y="0"/>
                    <a:pt x="0" y="6"/>
                    <a:pt x="0" y="13"/>
                  </a:cubicBezTo>
                  <a:cubicBezTo>
                    <a:pt x="0" y="21"/>
                    <a:pt x="32" y="27"/>
                    <a:pt x="71" y="27"/>
                  </a:cubicBezTo>
                  <a:close/>
                  <a:moveTo>
                    <a:pt x="71" y="38"/>
                  </a:moveTo>
                  <a:cubicBezTo>
                    <a:pt x="32" y="38"/>
                    <a:pt x="0" y="32"/>
                    <a:pt x="0" y="24"/>
                  </a:cubicBezTo>
                  <a:cubicBezTo>
                    <a:pt x="0" y="68"/>
                    <a:pt x="0" y="68"/>
                    <a:pt x="0" y="68"/>
                  </a:cubicBezTo>
                  <a:cubicBezTo>
                    <a:pt x="0" y="76"/>
                    <a:pt x="32" y="82"/>
                    <a:pt x="71" y="82"/>
                  </a:cubicBezTo>
                  <a:cubicBezTo>
                    <a:pt x="110" y="82"/>
                    <a:pt x="141" y="76"/>
                    <a:pt x="141" y="68"/>
                  </a:cubicBezTo>
                  <a:cubicBezTo>
                    <a:pt x="141" y="24"/>
                    <a:pt x="141" y="24"/>
                    <a:pt x="141" y="24"/>
                  </a:cubicBezTo>
                  <a:cubicBezTo>
                    <a:pt x="141" y="32"/>
                    <a:pt x="110" y="38"/>
                    <a:pt x="71" y="38"/>
                  </a:cubicBezTo>
                  <a:close/>
                  <a:moveTo>
                    <a:pt x="15" y="53"/>
                  </a:moveTo>
                  <a:cubicBezTo>
                    <a:pt x="12" y="53"/>
                    <a:pt x="9" y="51"/>
                    <a:pt x="9" y="48"/>
                  </a:cubicBezTo>
                  <a:cubicBezTo>
                    <a:pt x="9" y="45"/>
                    <a:pt x="12" y="42"/>
                    <a:pt x="15" y="42"/>
                  </a:cubicBezTo>
                  <a:cubicBezTo>
                    <a:pt x="18" y="42"/>
                    <a:pt x="20" y="45"/>
                    <a:pt x="20" y="48"/>
                  </a:cubicBezTo>
                  <a:cubicBezTo>
                    <a:pt x="20" y="51"/>
                    <a:pt x="18" y="53"/>
                    <a:pt x="15" y="53"/>
                  </a:cubicBezTo>
                  <a:close/>
                  <a:moveTo>
                    <a:pt x="71" y="144"/>
                  </a:moveTo>
                  <a:cubicBezTo>
                    <a:pt x="32" y="144"/>
                    <a:pt x="0" y="138"/>
                    <a:pt x="0" y="131"/>
                  </a:cubicBezTo>
                  <a:cubicBezTo>
                    <a:pt x="0" y="175"/>
                    <a:pt x="0" y="175"/>
                    <a:pt x="0" y="175"/>
                  </a:cubicBezTo>
                  <a:cubicBezTo>
                    <a:pt x="0" y="182"/>
                    <a:pt x="32" y="189"/>
                    <a:pt x="71" y="189"/>
                  </a:cubicBezTo>
                  <a:cubicBezTo>
                    <a:pt x="110" y="189"/>
                    <a:pt x="141" y="182"/>
                    <a:pt x="141" y="175"/>
                  </a:cubicBezTo>
                  <a:cubicBezTo>
                    <a:pt x="141" y="131"/>
                    <a:pt x="141" y="131"/>
                    <a:pt x="141" y="131"/>
                  </a:cubicBezTo>
                  <a:cubicBezTo>
                    <a:pt x="141" y="138"/>
                    <a:pt x="110" y="144"/>
                    <a:pt x="71" y="144"/>
                  </a:cubicBezTo>
                  <a:close/>
                  <a:moveTo>
                    <a:pt x="15" y="159"/>
                  </a:moveTo>
                  <a:cubicBezTo>
                    <a:pt x="12" y="159"/>
                    <a:pt x="9" y="156"/>
                    <a:pt x="9" y="153"/>
                  </a:cubicBezTo>
                  <a:cubicBezTo>
                    <a:pt x="9" y="150"/>
                    <a:pt x="12" y="148"/>
                    <a:pt x="15" y="148"/>
                  </a:cubicBezTo>
                  <a:cubicBezTo>
                    <a:pt x="18" y="148"/>
                    <a:pt x="20" y="150"/>
                    <a:pt x="20" y="153"/>
                  </a:cubicBezTo>
                  <a:cubicBezTo>
                    <a:pt x="20" y="156"/>
                    <a:pt x="18" y="159"/>
                    <a:pt x="15" y="159"/>
                  </a:cubicBezTo>
                  <a:close/>
                  <a:moveTo>
                    <a:pt x="71" y="91"/>
                  </a:moveTo>
                  <a:cubicBezTo>
                    <a:pt x="32" y="91"/>
                    <a:pt x="0" y="85"/>
                    <a:pt x="0" y="78"/>
                  </a:cubicBezTo>
                  <a:cubicBezTo>
                    <a:pt x="0" y="122"/>
                    <a:pt x="0" y="122"/>
                    <a:pt x="0" y="122"/>
                  </a:cubicBezTo>
                  <a:cubicBezTo>
                    <a:pt x="0" y="129"/>
                    <a:pt x="32" y="135"/>
                    <a:pt x="71" y="135"/>
                  </a:cubicBezTo>
                  <a:cubicBezTo>
                    <a:pt x="110" y="135"/>
                    <a:pt x="141" y="129"/>
                    <a:pt x="141" y="122"/>
                  </a:cubicBezTo>
                  <a:cubicBezTo>
                    <a:pt x="141" y="78"/>
                    <a:pt x="141" y="78"/>
                    <a:pt x="141" y="78"/>
                  </a:cubicBezTo>
                  <a:cubicBezTo>
                    <a:pt x="141" y="85"/>
                    <a:pt x="110" y="91"/>
                    <a:pt x="71" y="91"/>
                  </a:cubicBezTo>
                  <a:close/>
                  <a:moveTo>
                    <a:pt x="15" y="106"/>
                  </a:moveTo>
                  <a:cubicBezTo>
                    <a:pt x="12" y="106"/>
                    <a:pt x="9" y="103"/>
                    <a:pt x="9" y="100"/>
                  </a:cubicBezTo>
                  <a:cubicBezTo>
                    <a:pt x="9" y="97"/>
                    <a:pt x="12" y="95"/>
                    <a:pt x="15" y="95"/>
                  </a:cubicBezTo>
                  <a:cubicBezTo>
                    <a:pt x="18" y="95"/>
                    <a:pt x="20" y="97"/>
                    <a:pt x="20" y="100"/>
                  </a:cubicBezTo>
                  <a:cubicBezTo>
                    <a:pt x="20" y="103"/>
                    <a:pt x="18" y="106"/>
                    <a:pt x="15"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grpSp>
      <p:sp>
        <p:nvSpPr>
          <p:cNvPr id="42" name="文本框 41"/>
          <p:cNvSpPr txBox="1"/>
          <p:nvPr/>
        </p:nvSpPr>
        <p:spPr>
          <a:xfrm>
            <a:off x="1595100" y="5178540"/>
            <a:ext cx="506870" cy="276999"/>
          </a:xfrm>
          <a:prstGeom prst="rect">
            <a:avLst/>
          </a:prstGeom>
          <a:noFill/>
        </p:spPr>
        <p:txBody>
          <a:bodyPr wrap="none" rtlCol="0">
            <a:spAutoFit/>
          </a:bodyPr>
          <a:lstStyle/>
          <a:p>
            <a:pPr defTabSz="1219444" eaLnBrk="0" fontAlgn="base" hangingPunct="0"/>
            <a:r>
              <a:rPr lang="en-US" altLang="zh-CN" sz="1200" dirty="0">
                <a:latin typeface="+mn-ea"/>
                <a:ea typeface="+mn-ea"/>
              </a:rPr>
              <a:t>SAN</a:t>
            </a:r>
            <a:endParaRPr lang="zh-CN" altLang="en-US" sz="1200" dirty="0">
              <a:latin typeface="+mn-ea"/>
              <a:ea typeface="+mn-ea"/>
            </a:endParaRPr>
          </a:p>
        </p:txBody>
      </p:sp>
      <p:pic>
        <p:nvPicPr>
          <p:cNvPr id="43" name="图片 42"/>
          <p:cNvPicPr>
            <a:picLocks noChangeAspect="1"/>
          </p:cNvPicPr>
          <p:nvPr/>
        </p:nvPicPr>
        <p:blipFill>
          <a:blip r:embed="rId7" cstate="print"/>
          <a:stretch>
            <a:fillRect/>
          </a:stretch>
        </p:blipFill>
        <p:spPr>
          <a:xfrm>
            <a:off x="2007122" y="4222022"/>
            <a:ext cx="549524" cy="950330"/>
          </a:xfrm>
          <a:prstGeom prst="rect">
            <a:avLst/>
          </a:prstGeom>
        </p:spPr>
      </p:pic>
      <p:pic>
        <p:nvPicPr>
          <p:cNvPr id="44" name="图片 43"/>
          <p:cNvPicPr>
            <a:picLocks noChangeAspect="1"/>
          </p:cNvPicPr>
          <p:nvPr/>
        </p:nvPicPr>
        <p:blipFill>
          <a:blip r:embed="rId8" cstate="print"/>
          <a:stretch>
            <a:fillRect/>
          </a:stretch>
        </p:blipFill>
        <p:spPr>
          <a:xfrm>
            <a:off x="1377449" y="4222022"/>
            <a:ext cx="565165" cy="961183"/>
          </a:xfrm>
          <a:prstGeom prst="rect">
            <a:avLst/>
          </a:prstGeom>
        </p:spPr>
      </p:pic>
      <p:sp>
        <p:nvSpPr>
          <p:cNvPr id="45" name="矩形 44"/>
          <p:cNvSpPr/>
          <p:nvPr/>
        </p:nvSpPr>
        <p:spPr>
          <a:xfrm>
            <a:off x="2824592" y="1647237"/>
            <a:ext cx="1366465" cy="3858678"/>
          </a:xfrm>
          <a:prstGeom prst="rect">
            <a:avLst/>
          </a:prstGeom>
          <a:solidFill>
            <a:schemeClr val="bg1">
              <a:lumMod val="95000"/>
            </a:schemeClr>
          </a:solidFill>
          <a:ln w="25400" cap="flat" cmpd="sng" algn="ctr">
            <a:noFill/>
            <a:prstDash val="solid"/>
          </a:ln>
          <a:effectLst/>
        </p:spPr>
        <p:txBody>
          <a:bodyPr rtlCol="0" anchor="ctr"/>
          <a:lstStyle/>
          <a:p>
            <a:pPr algn="ctr" defTabSz="1219444" fontAlgn="auto">
              <a:spcBef>
                <a:spcPts val="0"/>
              </a:spcBef>
              <a:spcAft>
                <a:spcPts val="0"/>
              </a:spcAft>
              <a:defRPr/>
            </a:pPr>
            <a:endParaRPr lang="zh-CN" altLang="en-US" sz="2400" kern="0">
              <a:latin typeface="+mn-ea"/>
              <a:ea typeface="+mn-ea"/>
            </a:endParaRPr>
          </a:p>
        </p:txBody>
      </p:sp>
      <p:grpSp>
        <p:nvGrpSpPr>
          <p:cNvPr id="46" name="组合 45"/>
          <p:cNvGrpSpPr/>
          <p:nvPr/>
        </p:nvGrpSpPr>
        <p:grpSpPr>
          <a:xfrm>
            <a:off x="3031863" y="1881381"/>
            <a:ext cx="951925" cy="1016432"/>
            <a:chOff x="4953843" y="3171305"/>
            <a:chExt cx="724319" cy="773402"/>
          </a:xfrm>
          <a:solidFill>
            <a:srgbClr val="C7000A">
              <a:lumMod val="60000"/>
              <a:lumOff val="40000"/>
            </a:srgbClr>
          </a:solidFill>
        </p:grpSpPr>
        <p:sp>
          <p:nvSpPr>
            <p:cNvPr id="47" name="Freeform 18"/>
            <p:cNvSpPr>
              <a:spLocks noEditPoints="1"/>
            </p:cNvSpPr>
            <p:nvPr/>
          </p:nvSpPr>
          <p:spPr bwMode="auto">
            <a:xfrm>
              <a:off x="5155130" y="3413325"/>
              <a:ext cx="333375" cy="298847"/>
            </a:xfrm>
            <a:custGeom>
              <a:avLst/>
              <a:gdLst>
                <a:gd name="T0" fmla="*/ 1 w 140"/>
                <a:gd name="T1" fmla="*/ 0 h 125"/>
                <a:gd name="T2" fmla="*/ 0 w 140"/>
                <a:gd name="T3" fmla="*/ 124 h 125"/>
                <a:gd name="T4" fmla="*/ 138 w 140"/>
                <a:gd name="T5" fmla="*/ 125 h 125"/>
                <a:gd name="T6" fmla="*/ 140 w 140"/>
                <a:gd name="T7" fmla="*/ 1 h 125"/>
                <a:gd name="T8" fmla="*/ 73 w 140"/>
                <a:gd name="T9" fmla="*/ 8 h 125"/>
                <a:gd name="T10" fmla="*/ 83 w 140"/>
                <a:gd name="T11" fmla="*/ 26 h 125"/>
                <a:gd name="T12" fmla="*/ 73 w 140"/>
                <a:gd name="T13" fmla="*/ 8 h 125"/>
                <a:gd name="T14" fmla="*/ 67 w 140"/>
                <a:gd name="T15" fmla="*/ 8 h 125"/>
                <a:gd name="T16" fmla="*/ 56 w 140"/>
                <a:gd name="T17" fmla="*/ 26 h 125"/>
                <a:gd name="T18" fmla="*/ 16 w 140"/>
                <a:gd name="T19" fmla="*/ 121 h 125"/>
                <a:gd name="T20" fmla="*/ 5 w 140"/>
                <a:gd name="T21" fmla="*/ 103 h 125"/>
                <a:gd name="T22" fmla="*/ 16 w 140"/>
                <a:gd name="T23" fmla="*/ 121 h 125"/>
                <a:gd name="T24" fmla="*/ 5 w 140"/>
                <a:gd name="T25" fmla="*/ 26 h 125"/>
                <a:gd name="T26" fmla="*/ 16 w 140"/>
                <a:gd name="T27" fmla="*/ 8 h 125"/>
                <a:gd name="T28" fmla="*/ 33 w 140"/>
                <a:gd name="T29" fmla="*/ 121 h 125"/>
                <a:gd name="T30" fmla="*/ 22 w 140"/>
                <a:gd name="T31" fmla="*/ 103 h 125"/>
                <a:gd name="T32" fmla="*/ 33 w 140"/>
                <a:gd name="T33" fmla="*/ 121 h 125"/>
                <a:gd name="T34" fmla="*/ 22 w 140"/>
                <a:gd name="T35" fmla="*/ 26 h 125"/>
                <a:gd name="T36" fmla="*/ 33 w 140"/>
                <a:gd name="T37" fmla="*/ 8 h 125"/>
                <a:gd name="T38" fmla="*/ 50 w 140"/>
                <a:gd name="T39" fmla="*/ 121 h 125"/>
                <a:gd name="T40" fmla="*/ 39 w 140"/>
                <a:gd name="T41" fmla="*/ 103 h 125"/>
                <a:gd name="T42" fmla="*/ 50 w 140"/>
                <a:gd name="T43" fmla="*/ 121 h 125"/>
                <a:gd name="T44" fmla="*/ 39 w 140"/>
                <a:gd name="T45" fmla="*/ 26 h 125"/>
                <a:gd name="T46" fmla="*/ 50 w 140"/>
                <a:gd name="T47" fmla="*/ 8 h 125"/>
                <a:gd name="T48" fmla="*/ 53 w 140"/>
                <a:gd name="T49" fmla="*/ 90 h 125"/>
                <a:gd name="T50" fmla="*/ 57 w 140"/>
                <a:gd name="T51" fmla="*/ 35 h 125"/>
                <a:gd name="T52" fmla="*/ 92 w 140"/>
                <a:gd name="T53" fmla="*/ 64 h 125"/>
                <a:gd name="T54" fmla="*/ 53 w 140"/>
                <a:gd name="T55" fmla="*/ 90 h 125"/>
                <a:gd name="T56" fmla="*/ 56 w 140"/>
                <a:gd name="T57" fmla="*/ 121 h 125"/>
                <a:gd name="T58" fmla="*/ 67 w 140"/>
                <a:gd name="T59" fmla="*/ 103 h 125"/>
                <a:gd name="T60" fmla="*/ 83 w 140"/>
                <a:gd name="T61" fmla="*/ 121 h 125"/>
                <a:gd name="T62" fmla="*/ 73 w 140"/>
                <a:gd name="T63" fmla="*/ 103 h 125"/>
                <a:gd name="T64" fmla="*/ 83 w 140"/>
                <a:gd name="T65" fmla="*/ 121 h 125"/>
                <a:gd name="T66" fmla="*/ 90 w 140"/>
                <a:gd name="T67" fmla="*/ 121 h 125"/>
                <a:gd name="T68" fmla="*/ 100 w 140"/>
                <a:gd name="T69" fmla="*/ 103 h 125"/>
                <a:gd name="T70" fmla="*/ 100 w 140"/>
                <a:gd name="T71" fmla="*/ 26 h 125"/>
                <a:gd name="T72" fmla="*/ 90 w 140"/>
                <a:gd name="T73" fmla="*/ 8 h 125"/>
                <a:gd name="T74" fmla="*/ 100 w 140"/>
                <a:gd name="T75" fmla="*/ 26 h 125"/>
                <a:gd name="T76" fmla="*/ 107 w 140"/>
                <a:gd name="T77" fmla="*/ 121 h 125"/>
                <a:gd name="T78" fmla="*/ 117 w 140"/>
                <a:gd name="T79" fmla="*/ 103 h 125"/>
                <a:gd name="T80" fmla="*/ 117 w 140"/>
                <a:gd name="T81" fmla="*/ 26 h 125"/>
                <a:gd name="T82" fmla="*/ 107 w 140"/>
                <a:gd name="T83" fmla="*/ 8 h 125"/>
                <a:gd name="T84" fmla="*/ 117 w 140"/>
                <a:gd name="T85" fmla="*/ 26 h 125"/>
                <a:gd name="T86" fmla="*/ 123 w 140"/>
                <a:gd name="T87" fmla="*/ 121 h 125"/>
                <a:gd name="T88" fmla="*/ 134 w 140"/>
                <a:gd name="T89" fmla="*/ 103 h 125"/>
                <a:gd name="T90" fmla="*/ 134 w 140"/>
                <a:gd name="T91" fmla="*/ 26 h 125"/>
                <a:gd name="T92" fmla="*/ 123 w 140"/>
                <a:gd name="T93" fmla="*/ 8 h 125"/>
                <a:gd name="T94" fmla="*/ 134 w 140"/>
                <a:gd name="T95" fmla="*/ 26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0" h="125">
                  <a:moveTo>
                    <a:pt x="138" y="0"/>
                  </a:moveTo>
                  <a:cubicBezTo>
                    <a:pt x="1" y="0"/>
                    <a:pt x="1" y="0"/>
                    <a:pt x="1" y="0"/>
                  </a:cubicBezTo>
                  <a:cubicBezTo>
                    <a:pt x="0" y="0"/>
                    <a:pt x="0" y="0"/>
                    <a:pt x="0" y="1"/>
                  </a:cubicBezTo>
                  <a:cubicBezTo>
                    <a:pt x="0" y="124"/>
                    <a:pt x="0" y="124"/>
                    <a:pt x="0" y="124"/>
                  </a:cubicBezTo>
                  <a:cubicBezTo>
                    <a:pt x="0" y="124"/>
                    <a:pt x="0" y="125"/>
                    <a:pt x="1" y="125"/>
                  </a:cubicBezTo>
                  <a:cubicBezTo>
                    <a:pt x="138" y="125"/>
                    <a:pt x="138" y="125"/>
                    <a:pt x="138" y="125"/>
                  </a:cubicBezTo>
                  <a:cubicBezTo>
                    <a:pt x="139" y="125"/>
                    <a:pt x="140" y="124"/>
                    <a:pt x="140" y="124"/>
                  </a:cubicBezTo>
                  <a:cubicBezTo>
                    <a:pt x="140" y="1"/>
                    <a:pt x="140" y="1"/>
                    <a:pt x="140" y="1"/>
                  </a:cubicBezTo>
                  <a:cubicBezTo>
                    <a:pt x="140" y="0"/>
                    <a:pt x="139" y="0"/>
                    <a:pt x="138" y="0"/>
                  </a:cubicBezTo>
                  <a:close/>
                  <a:moveTo>
                    <a:pt x="73" y="8"/>
                  </a:moveTo>
                  <a:cubicBezTo>
                    <a:pt x="83" y="8"/>
                    <a:pt x="83" y="8"/>
                    <a:pt x="83" y="8"/>
                  </a:cubicBezTo>
                  <a:cubicBezTo>
                    <a:pt x="83" y="26"/>
                    <a:pt x="83" y="26"/>
                    <a:pt x="83" y="26"/>
                  </a:cubicBezTo>
                  <a:cubicBezTo>
                    <a:pt x="73" y="26"/>
                    <a:pt x="73" y="26"/>
                    <a:pt x="73" y="26"/>
                  </a:cubicBezTo>
                  <a:lnTo>
                    <a:pt x="73" y="8"/>
                  </a:lnTo>
                  <a:close/>
                  <a:moveTo>
                    <a:pt x="56" y="8"/>
                  </a:moveTo>
                  <a:cubicBezTo>
                    <a:pt x="67" y="8"/>
                    <a:pt x="67" y="8"/>
                    <a:pt x="67" y="8"/>
                  </a:cubicBezTo>
                  <a:cubicBezTo>
                    <a:pt x="67" y="26"/>
                    <a:pt x="67" y="26"/>
                    <a:pt x="67" y="26"/>
                  </a:cubicBezTo>
                  <a:cubicBezTo>
                    <a:pt x="56" y="26"/>
                    <a:pt x="56" y="26"/>
                    <a:pt x="56" y="26"/>
                  </a:cubicBezTo>
                  <a:lnTo>
                    <a:pt x="56" y="8"/>
                  </a:lnTo>
                  <a:close/>
                  <a:moveTo>
                    <a:pt x="16" y="121"/>
                  </a:moveTo>
                  <a:cubicBezTo>
                    <a:pt x="5" y="121"/>
                    <a:pt x="5" y="121"/>
                    <a:pt x="5" y="121"/>
                  </a:cubicBezTo>
                  <a:cubicBezTo>
                    <a:pt x="5" y="103"/>
                    <a:pt x="5" y="103"/>
                    <a:pt x="5" y="103"/>
                  </a:cubicBezTo>
                  <a:cubicBezTo>
                    <a:pt x="16" y="103"/>
                    <a:pt x="16" y="103"/>
                    <a:pt x="16" y="103"/>
                  </a:cubicBezTo>
                  <a:lnTo>
                    <a:pt x="16" y="121"/>
                  </a:lnTo>
                  <a:close/>
                  <a:moveTo>
                    <a:pt x="16" y="26"/>
                  </a:moveTo>
                  <a:cubicBezTo>
                    <a:pt x="5" y="26"/>
                    <a:pt x="5" y="26"/>
                    <a:pt x="5" y="26"/>
                  </a:cubicBezTo>
                  <a:cubicBezTo>
                    <a:pt x="5" y="8"/>
                    <a:pt x="5" y="8"/>
                    <a:pt x="5" y="8"/>
                  </a:cubicBezTo>
                  <a:cubicBezTo>
                    <a:pt x="16" y="8"/>
                    <a:pt x="16" y="8"/>
                    <a:pt x="16" y="8"/>
                  </a:cubicBezTo>
                  <a:lnTo>
                    <a:pt x="16" y="26"/>
                  </a:lnTo>
                  <a:close/>
                  <a:moveTo>
                    <a:pt x="33" y="121"/>
                  </a:moveTo>
                  <a:cubicBezTo>
                    <a:pt x="22" y="121"/>
                    <a:pt x="22" y="121"/>
                    <a:pt x="22" y="121"/>
                  </a:cubicBezTo>
                  <a:cubicBezTo>
                    <a:pt x="22" y="103"/>
                    <a:pt x="22" y="103"/>
                    <a:pt x="22" y="103"/>
                  </a:cubicBezTo>
                  <a:cubicBezTo>
                    <a:pt x="33" y="103"/>
                    <a:pt x="33" y="103"/>
                    <a:pt x="33" y="103"/>
                  </a:cubicBezTo>
                  <a:lnTo>
                    <a:pt x="33" y="121"/>
                  </a:lnTo>
                  <a:close/>
                  <a:moveTo>
                    <a:pt x="33" y="26"/>
                  </a:moveTo>
                  <a:cubicBezTo>
                    <a:pt x="22" y="26"/>
                    <a:pt x="22" y="26"/>
                    <a:pt x="22" y="26"/>
                  </a:cubicBezTo>
                  <a:cubicBezTo>
                    <a:pt x="22" y="8"/>
                    <a:pt x="22" y="8"/>
                    <a:pt x="22" y="8"/>
                  </a:cubicBezTo>
                  <a:cubicBezTo>
                    <a:pt x="33" y="8"/>
                    <a:pt x="33" y="8"/>
                    <a:pt x="33" y="8"/>
                  </a:cubicBezTo>
                  <a:lnTo>
                    <a:pt x="33" y="26"/>
                  </a:lnTo>
                  <a:close/>
                  <a:moveTo>
                    <a:pt x="50" y="121"/>
                  </a:moveTo>
                  <a:cubicBezTo>
                    <a:pt x="39" y="121"/>
                    <a:pt x="39" y="121"/>
                    <a:pt x="39" y="121"/>
                  </a:cubicBezTo>
                  <a:cubicBezTo>
                    <a:pt x="39" y="103"/>
                    <a:pt x="39" y="103"/>
                    <a:pt x="39" y="103"/>
                  </a:cubicBezTo>
                  <a:cubicBezTo>
                    <a:pt x="50" y="103"/>
                    <a:pt x="50" y="103"/>
                    <a:pt x="50" y="103"/>
                  </a:cubicBezTo>
                  <a:lnTo>
                    <a:pt x="50" y="121"/>
                  </a:lnTo>
                  <a:close/>
                  <a:moveTo>
                    <a:pt x="50" y="26"/>
                  </a:moveTo>
                  <a:cubicBezTo>
                    <a:pt x="39" y="26"/>
                    <a:pt x="39" y="26"/>
                    <a:pt x="39" y="26"/>
                  </a:cubicBezTo>
                  <a:cubicBezTo>
                    <a:pt x="39" y="8"/>
                    <a:pt x="39" y="8"/>
                    <a:pt x="39" y="8"/>
                  </a:cubicBezTo>
                  <a:cubicBezTo>
                    <a:pt x="50" y="8"/>
                    <a:pt x="50" y="8"/>
                    <a:pt x="50" y="8"/>
                  </a:cubicBezTo>
                  <a:lnTo>
                    <a:pt x="50" y="26"/>
                  </a:lnTo>
                  <a:close/>
                  <a:moveTo>
                    <a:pt x="53" y="90"/>
                  </a:moveTo>
                  <a:cubicBezTo>
                    <a:pt x="53" y="35"/>
                    <a:pt x="53" y="35"/>
                    <a:pt x="53" y="35"/>
                  </a:cubicBezTo>
                  <a:cubicBezTo>
                    <a:pt x="55" y="34"/>
                    <a:pt x="56" y="34"/>
                    <a:pt x="57" y="35"/>
                  </a:cubicBezTo>
                  <a:cubicBezTo>
                    <a:pt x="92" y="60"/>
                    <a:pt x="92" y="60"/>
                    <a:pt x="92" y="60"/>
                  </a:cubicBezTo>
                  <a:cubicBezTo>
                    <a:pt x="93" y="62"/>
                    <a:pt x="93" y="63"/>
                    <a:pt x="92" y="64"/>
                  </a:cubicBezTo>
                  <a:cubicBezTo>
                    <a:pt x="57" y="90"/>
                    <a:pt x="57" y="90"/>
                    <a:pt x="57" y="90"/>
                  </a:cubicBezTo>
                  <a:cubicBezTo>
                    <a:pt x="56" y="91"/>
                    <a:pt x="55" y="91"/>
                    <a:pt x="53" y="90"/>
                  </a:cubicBezTo>
                  <a:close/>
                  <a:moveTo>
                    <a:pt x="67" y="121"/>
                  </a:moveTo>
                  <a:cubicBezTo>
                    <a:pt x="56" y="121"/>
                    <a:pt x="56" y="121"/>
                    <a:pt x="56" y="121"/>
                  </a:cubicBezTo>
                  <a:cubicBezTo>
                    <a:pt x="56" y="103"/>
                    <a:pt x="56" y="103"/>
                    <a:pt x="56" y="103"/>
                  </a:cubicBezTo>
                  <a:cubicBezTo>
                    <a:pt x="67" y="103"/>
                    <a:pt x="67" y="103"/>
                    <a:pt x="67" y="103"/>
                  </a:cubicBezTo>
                  <a:lnTo>
                    <a:pt x="67" y="121"/>
                  </a:lnTo>
                  <a:close/>
                  <a:moveTo>
                    <a:pt x="83" y="121"/>
                  </a:moveTo>
                  <a:cubicBezTo>
                    <a:pt x="73" y="121"/>
                    <a:pt x="73" y="121"/>
                    <a:pt x="73" y="121"/>
                  </a:cubicBezTo>
                  <a:cubicBezTo>
                    <a:pt x="73" y="103"/>
                    <a:pt x="73" y="103"/>
                    <a:pt x="73" y="103"/>
                  </a:cubicBezTo>
                  <a:cubicBezTo>
                    <a:pt x="83" y="103"/>
                    <a:pt x="83" y="103"/>
                    <a:pt x="83" y="103"/>
                  </a:cubicBezTo>
                  <a:lnTo>
                    <a:pt x="83" y="121"/>
                  </a:lnTo>
                  <a:close/>
                  <a:moveTo>
                    <a:pt x="100" y="121"/>
                  </a:moveTo>
                  <a:cubicBezTo>
                    <a:pt x="90" y="121"/>
                    <a:pt x="90" y="121"/>
                    <a:pt x="90" y="121"/>
                  </a:cubicBezTo>
                  <a:cubicBezTo>
                    <a:pt x="90" y="103"/>
                    <a:pt x="90" y="103"/>
                    <a:pt x="90" y="103"/>
                  </a:cubicBezTo>
                  <a:cubicBezTo>
                    <a:pt x="100" y="103"/>
                    <a:pt x="100" y="103"/>
                    <a:pt x="100" y="103"/>
                  </a:cubicBezTo>
                  <a:lnTo>
                    <a:pt x="100" y="121"/>
                  </a:lnTo>
                  <a:close/>
                  <a:moveTo>
                    <a:pt x="100" y="26"/>
                  </a:moveTo>
                  <a:cubicBezTo>
                    <a:pt x="90" y="26"/>
                    <a:pt x="90" y="26"/>
                    <a:pt x="90" y="26"/>
                  </a:cubicBezTo>
                  <a:cubicBezTo>
                    <a:pt x="90" y="8"/>
                    <a:pt x="90" y="8"/>
                    <a:pt x="90" y="8"/>
                  </a:cubicBezTo>
                  <a:cubicBezTo>
                    <a:pt x="100" y="8"/>
                    <a:pt x="100" y="8"/>
                    <a:pt x="100" y="8"/>
                  </a:cubicBezTo>
                  <a:lnTo>
                    <a:pt x="100" y="26"/>
                  </a:lnTo>
                  <a:close/>
                  <a:moveTo>
                    <a:pt x="117" y="121"/>
                  </a:moveTo>
                  <a:cubicBezTo>
                    <a:pt x="107" y="121"/>
                    <a:pt x="107" y="121"/>
                    <a:pt x="107" y="121"/>
                  </a:cubicBezTo>
                  <a:cubicBezTo>
                    <a:pt x="107" y="103"/>
                    <a:pt x="107" y="103"/>
                    <a:pt x="107" y="103"/>
                  </a:cubicBezTo>
                  <a:cubicBezTo>
                    <a:pt x="117" y="103"/>
                    <a:pt x="117" y="103"/>
                    <a:pt x="117" y="103"/>
                  </a:cubicBezTo>
                  <a:lnTo>
                    <a:pt x="117" y="121"/>
                  </a:lnTo>
                  <a:close/>
                  <a:moveTo>
                    <a:pt x="117" y="26"/>
                  </a:moveTo>
                  <a:cubicBezTo>
                    <a:pt x="107" y="26"/>
                    <a:pt x="107" y="26"/>
                    <a:pt x="107" y="26"/>
                  </a:cubicBezTo>
                  <a:cubicBezTo>
                    <a:pt x="107" y="8"/>
                    <a:pt x="107" y="8"/>
                    <a:pt x="107" y="8"/>
                  </a:cubicBezTo>
                  <a:cubicBezTo>
                    <a:pt x="117" y="8"/>
                    <a:pt x="117" y="8"/>
                    <a:pt x="117" y="8"/>
                  </a:cubicBezTo>
                  <a:lnTo>
                    <a:pt x="117" y="26"/>
                  </a:lnTo>
                  <a:close/>
                  <a:moveTo>
                    <a:pt x="134" y="121"/>
                  </a:moveTo>
                  <a:cubicBezTo>
                    <a:pt x="123" y="121"/>
                    <a:pt x="123" y="121"/>
                    <a:pt x="123" y="121"/>
                  </a:cubicBezTo>
                  <a:cubicBezTo>
                    <a:pt x="123" y="103"/>
                    <a:pt x="123" y="103"/>
                    <a:pt x="123" y="103"/>
                  </a:cubicBezTo>
                  <a:cubicBezTo>
                    <a:pt x="134" y="103"/>
                    <a:pt x="134" y="103"/>
                    <a:pt x="134" y="103"/>
                  </a:cubicBezTo>
                  <a:lnTo>
                    <a:pt x="134" y="121"/>
                  </a:lnTo>
                  <a:close/>
                  <a:moveTo>
                    <a:pt x="134" y="26"/>
                  </a:moveTo>
                  <a:cubicBezTo>
                    <a:pt x="123" y="26"/>
                    <a:pt x="123" y="26"/>
                    <a:pt x="123" y="26"/>
                  </a:cubicBezTo>
                  <a:cubicBezTo>
                    <a:pt x="123" y="8"/>
                    <a:pt x="123" y="8"/>
                    <a:pt x="123" y="8"/>
                  </a:cubicBezTo>
                  <a:cubicBezTo>
                    <a:pt x="134" y="8"/>
                    <a:pt x="134" y="8"/>
                    <a:pt x="134" y="8"/>
                  </a:cubicBezTo>
                  <a:lnTo>
                    <a:pt x="134" y="26"/>
                  </a:lnTo>
                  <a:close/>
                </a:path>
              </a:pathLst>
            </a:custGeom>
            <a:grpFill/>
            <a:ln>
              <a:noFill/>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zh-CN" altLang="en-US" sz="1013" b="0" i="0" u="none" strike="noStrike" kern="0" cap="none" spc="0" normalizeH="0" baseline="0" noProof="0">
                <a:ln>
                  <a:noFill/>
                </a:ln>
                <a:effectLst/>
                <a:uLnTx/>
                <a:uFillTx/>
                <a:latin typeface="+mn-ea"/>
                <a:ea typeface="+mn-ea"/>
              </a:endParaRPr>
            </a:p>
          </p:txBody>
        </p:sp>
        <p:grpSp>
          <p:nvGrpSpPr>
            <p:cNvPr id="48" name="组合 47"/>
            <p:cNvGrpSpPr/>
            <p:nvPr/>
          </p:nvGrpSpPr>
          <p:grpSpPr>
            <a:xfrm>
              <a:off x="4953843" y="3171305"/>
              <a:ext cx="724319" cy="773402"/>
              <a:chOff x="3570288" y="519113"/>
              <a:chExt cx="1639887" cy="1751013"/>
            </a:xfrm>
            <a:grpFill/>
          </p:grpSpPr>
          <p:sp>
            <p:nvSpPr>
              <p:cNvPr id="49" name="Freeform 21"/>
              <p:cNvSpPr>
                <a:spLocks/>
              </p:cNvSpPr>
              <p:nvPr/>
            </p:nvSpPr>
            <p:spPr bwMode="auto">
              <a:xfrm>
                <a:off x="5084763" y="987426"/>
                <a:ext cx="125412" cy="819150"/>
              </a:xfrm>
              <a:custGeom>
                <a:avLst/>
                <a:gdLst>
                  <a:gd name="T0" fmla="*/ 0 w 33"/>
                  <a:gd name="T1" fmla="*/ 215 h 217"/>
                  <a:gd name="T2" fmla="*/ 28 w 33"/>
                  <a:gd name="T3" fmla="*/ 108 h 217"/>
                  <a:gd name="T4" fmla="*/ 0 w 33"/>
                  <a:gd name="T5" fmla="*/ 2 h 217"/>
                  <a:gd name="T6" fmla="*/ 4 w 33"/>
                  <a:gd name="T7" fmla="*/ 0 h 217"/>
                  <a:gd name="T8" fmla="*/ 33 w 33"/>
                  <a:gd name="T9" fmla="*/ 108 h 217"/>
                  <a:gd name="T10" fmla="*/ 4 w 33"/>
                  <a:gd name="T11" fmla="*/ 217 h 217"/>
                  <a:gd name="T12" fmla="*/ 0 w 33"/>
                  <a:gd name="T13" fmla="*/ 215 h 217"/>
                </a:gdLst>
                <a:ahLst/>
                <a:cxnLst>
                  <a:cxn ang="0">
                    <a:pos x="T0" y="T1"/>
                  </a:cxn>
                  <a:cxn ang="0">
                    <a:pos x="T2" y="T3"/>
                  </a:cxn>
                  <a:cxn ang="0">
                    <a:pos x="T4" y="T5"/>
                  </a:cxn>
                  <a:cxn ang="0">
                    <a:pos x="T6" y="T7"/>
                  </a:cxn>
                  <a:cxn ang="0">
                    <a:pos x="T8" y="T9"/>
                  </a:cxn>
                  <a:cxn ang="0">
                    <a:pos x="T10" y="T11"/>
                  </a:cxn>
                  <a:cxn ang="0">
                    <a:pos x="T12" y="T13"/>
                  </a:cxn>
                </a:cxnLst>
                <a:rect l="0" t="0" r="r" b="b"/>
                <a:pathLst>
                  <a:path w="33" h="217">
                    <a:moveTo>
                      <a:pt x="0" y="215"/>
                    </a:moveTo>
                    <a:cubicBezTo>
                      <a:pt x="19" y="182"/>
                      <a:pt x="28" y="146"/>
                      <a:pt x="28" y="108"/>
                    </a:cubicBezTo>
                    <a:cubicBezTo>
                      <a:pt x="28" y="71"/>
                      <a:pt x="19" y="34"/>
                      <a:pt x="0" y="2"/>
                    </a:cubicBezTo>
                    <a:cubicBezTo>
                      <a:pt x="4" y="0"/>
                      <a:pt x="4" y="0"/>
                      <a:pt x="4" y="0"/>
                    </a:cubicBezTo>
                    <a:cubicBezTo>
                      <a:pt x="23" y="33"/>
                      <a:pt x="33" y="70"/>
                      <a:pt x="33" y="108"/>
                    </a:cubicBezTo>
                    <a:cubicBezTo>
                      <a:pt x="33" y="146"/>
                      <a:pt x="23" y="184"/>
                      <a:pt x="4" y="217"/>
                    </a:cubicBezTo>
                    <a:lnTo>
                      <a:pt x="0"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0" name="Freeform 22"/>
              <p:cNvSpPr>
                <a:spLocks/>
              </p:cNvSpPr>
              <p:nvPr/>
            </p:nvSpPr>
            <p:spPr bwMode="auto">
              <a:xfrm>
                <a:off x="3570288" y="987426"/>
                <a:ext cx="125412" cy="819150"/>
              </a:xfrm>
              <a:custGeom>
                <a:avLst/>
                <a:gdLst>
                  <a:gd name="T0" fmla="*/ 0 w 33"/>
                  <a:gd name="T1" fmla="*/ 108 h 217"/>
                  <a:gd name="T2" fmla="*/ 29 w 33"/>
                  <a:gd name="T3" fmla="*/ 0 h 217"/>
                  <a:gd name="T4" fmla="*/ 33 w 33"/>
                  <a:gd name="T5" fmla="*/ 2 h 217"/>
                  <a:gd name="T6" fmla="*/ 4 w 33"/>
                  <a:gd name="T7" fmla="*/ 108 h 217"/>
                  <a:gd name="T8" fmla="*/ 33 w 33"/>
                  <a:gd name="T9" fmla="*/ 215 h 217"/>
                  <a:gd name="T10" fmla="*/ 29 w 33"/>
                  <a:gd name="T11" fmla="*/ 217 h 217"/>
                  <a:gd name="T12" fmla="*/ 0 w 33"/>
                  <a:gd name="T13" fmla="*/ 108 h 217"/>
                </a:gdLst>
                <a:ahLst/>
                <a:cxnLst>
                  <a:cxn ang="0">
                    <a:pos x="T0" y="T1"/>
                  </a:cxn>
                  <a:cxn ang="0">
                    <a:pos x="T2" y="T3"/>
                  </a:cxn>
                  <a:cxn ang="0">
                    <a:pos x="T4" y="T5"/>
                  </a:cxn>
                  <a:cxn ang="0">
                    <a:pos x="T6" y="T7"/>
                  </a:cxn>
                  <a:cxn ang="0">
                    <a:pos x="T8" y="T9"/>
                  </a:cxn>
                  <a:cxn ang="0">
                    <a:pos x="T10" y="T11"/>
                  </a:cxn>
                  <a:cxn ang="0">
                    <a:pos x="T12" y="T13"/>
                  </a:cxn>
                </a:cxnLst>
                <a:rect l="0" t="0" r="r" b="b"/>
                <a:pathLst>
                  <a:path w="33" h="217">
                    <a:moveTo>
                      <a:pt x="0" y="108"/>
                    </a:moveTo>
                    <a:cubicBezTo>
                      <a:pt x="0" y="70"/>
                      <a:pt x="10" y="33"/>
                      <a:pt x="29" y="0"/>
                    </a:cubicBezTo>
                    <a:cubicBezTo>
                      <a:pt x="33" y="2"/>
                      <a:pt x="33" y="2"/>
                      <a:pt x="33" y="2"/>
                    </a:cubicBezTo>
                    <a:cubicBezTo>
                      <a:pt x="14" y="34"/>
                      <a:pt x="4" y="71"/>
                      <a:pt x="4" y="108"/>
                    </a:cubicBezTo>
                    <a:cubicBezTo>
                      <a:pt x="4" y="146"/>
                      <a:pt x="14" y="182"/>
                      <a:pt x="33" y="215"/>
                    </a:cubicBezTo>
                    <a:cubicBezTo>
                      <a:pt x="29" y="217"/>
                      <a:pt x="29" y="217"/>
                      <a:pt x="29" y="217"/>
                    </a:cubicBezTo>
                    <a:cubicBezTo>
                      <a:pt x="10" y="184"/>
                      <a:pt x="0" y="146"/>
                      <a:pt x="0"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1" name="Freeform 23"/>
              <p:cNvSpPr>
                <a:spLocks/>
              </p:cNvSpPr>
              <p:nvPr/>
            </p:nvSpPr>
            <p:spPr bwMode="auto">
              <a:xfrm>
                <a:off x="3925888" y="715963"/>
                <a:ext cx="928687" cy="188913"/>
              </a:xfrm>
              <a:custGeom>
                <a:avLst/>
                <a:gdLst>
                  <a:gd name="T0" fmla="*/ 0 w 246"/>
                  <a:gd name="T1" fmla="*/ 49 h 50"/>
                  <a:gd name="T2" fmla="*/ 2 w 246"/>
                  <a:gd name="T3" fmla="*/ 50 h 50"/>
                  <a:gd name="T4" fmla="*/ 123 w 246"/>
                  <a:gd name="T5" fmla="*/ 3 h 50"/>
                  <a:gd name="T6" fmla="*/ 244 w 246"/>
                  <a:gd name="T7" fmla="*/ 50 h 50"/>
                  <a:gd name="T8" fmla="*/ 246 w 246"/>
                  <a:gd name="T9" fmla="*/ 49 h 50"/>
                  <a:gd name="T10" fmla="*/ 123 w 246"/>
                  <a:gd name="T11" fmla="*/ 0 h 50"/>
                  <a:gd name="T12" fmla="*/ 0 w 246"/>
                  <a:gd name="T13" fmla="*/ 49 h 50"/>
                </a:gdLst>
                <a:ahLst/>
                <a:cxnLst>
                  <a:cxn ang="0">
                    <a:pos x="T0" y="T1"/>
                  </a:cxn>
                  <a:cxn ang="0">
                    <a:pos x="T2" y="T3"/>
                  </a:cxn>
                  <a:cxn ang="0">
                    <a:pos x="T4" y="T5"/>
                  </a:cxn>
                  <a:cxn ang="0">
                    <a:pos x="T6" y="T7"/>
                  </a:cxn>
                  <a:cxn ang="0">
                    <a:pos x="T8" y="T9"/>
                  </a:cxn>
                  <a:cxn ang="0">
                    <a:pos x="T10" y="T11"/>
                  </a:cxn>
                  <a:cxn ang="0">
                    <a:pos x="T12" y="T13"/>
                  </a:cxn>
                </a:cxnLst>
                <a:rect l="0" t="0" r="r" b="b"/>
                <a:pathLst>
                  <a:path w="246" h="50">
                    <a:moveTo>
                      <a:pt x="0" y="49"/>
                    </a:moveTo>
                    <a:cubicBezTo>
                      <a:pt x="2" y="50"/>
                      <a:pt x="2" y="50"/>
                      <a:pt x="2" y="50"/>
                    </a:cubicBezTo>
                    <a:cubicBezTo>
                      <a:pt x="34" y="21"/>
                      <a:pt x="76" y="3"/>
                      <a:pt x="123" y="3"/>
                    </a:cubicBezTo>
                    <a:cubicBezTo>
                      <a:pt x="169" y="3"/>
                      <a:pt x="212" y="21"/>
                      <a:pt x="244" y="50"/>
                    </a:cubicBezTo>
                    <a:cubicBezTo>
                      <a:pt x="246" y="49"/>
                      <a:pt x="246" y="49"/>
                      <a:pt x="246" y="49"/>
                    </a:cubicBezTo>
                    <a:cubicBezTo>
                      <a:pt x="214" y="19"/>
                      <a:pt x="170" y="0"/>
                      <a:pt x="123" y="0"/>
                    </a:cubicBezTo>
                    <a:cubicBezTo>
                      <a:pt x="75" y="0"/>
                      <a:pt x="32" y="19"/>
                      <a:pt x="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2" name="Freeform 24"/>
              <p:cNvSpPr>
                <a:spLocks/>
              </p:cNvSpPr>
              <p:nvPr/>
            </p:nvSpPr>
            <p:spPr bwMode="auto">
              <a:xfrm>
                <a:off x="4881563" y="930276"/>
                <a:ext cx="188912" cy="933450"/>
              </a:xfrm>
              <a:custGeom>
                <a:avLst/>
                <a:gdLst>
                  <a:gd name="T0" fmla="*/ 1 w 50"/>
                  <a:gd name="T1" fmla="*/ 0 h 247"/>
                  <a:gd name="T2" fmla="*/ 0 w 50"/>
                  <a:gd name="T3" fmla="*/ 3 h 247"/>
                  <a:gd name="T4" fmla="*/ 47 w 50"/>
                  <a:gd name="T5" fmla="*/ 123 h 247"/>
                  <a:gd name="T6" fmla="*/ 0 w 50"/>
                  <a:gd name="T7" fmla="*/ 244 h 247"/>
                  <a:gd name="T8" fmla="*/ 1 w 50"/>
                  <a:gd name="T9" fmla="*/ 247 h 247"/>
                  <a:gd name="T10" fmla="*/ 50 w 50"/>
                  <a:gd name="T11" fmla="*/ 123 h 247"/>
                  <a:gd name="T12" fmla="*/ 1 w 50"/>
                  <a:gd name="T13" fmla="*/ 0 h 247"/>
                </a:gdLst>
                <a:ahLst/>
                <a:cxnLst>
                  <a:cxn ang="0">
                    <a:pos x="T0" y="T1"/>
                  </a:cxn>
                  <a:cxn ang="0">
                    <a:pos x="T2" y="T3"/>
                  </a:cxn>
                  <a:cxn ang="0">
                    <a:pos x="T4" y="T5"/>
                  </a:cxn>
                  <a:cxn ang="0">
                    <a:pos x="T6" y="T7"/>
                  </a:cxn>
                  <a:cxn ang="0">
                    <a:pos x="T8" y="T9"/>
                  </a:cxn>
                  <a:cxn ang="0">
                    <a:pos x="T10" y="T11"/>
                  </a:cxn>
                  <a:cxn ang="0">
                    <a:pos x="T12" y="T13"/>
                  </a:cxn>
                </a:cxnLst>
                <a:rect l="0" t="0" r="r" b="b"/>
                <a:pathLst>
                  <a:path w="50" h="247">
                    <a:moveTo>
                      <a:pt x="1" y="0"/>
                    </a:moveTo>
                    <a:cubicBezTo>
                      <a:pt x="0" y="3"/>
                      <a:pt x="0" y="3"/>
                      <a:pt x="0" y="3"/>
                    </a:cubicBezTo>
                    <a:cubicBezTo>
                      <a:pt x="29" y="34"/>
                      <a:pt x="47" y="77"/>
                      <a:pt x="47" y="123"/>
                    </a:cubicBezTo>
                    <a:cubicBezTo>
                      <a:pt x="47" y="170"/>
                      <a:pt x="29" y="212"/>
                      <a:pt x="0" y="244"/>
                    </a:cubicBezTo>
                    <a:cubicBezTo>
                      <a:pt x="1" y="247"/>
                      <a:pt x="1" y="247"/>
                      <a:pt x="1" y="247"/>
                    </a:cubicBezTo>
                    <a:cubicBezTo>
                      <a:pt x="31" y="214"/>
                      <a:pt x="50" y="171"/>
                      <a:pt x="50" y="123"/>
                    </a:cubicBezTo>
                    <a:cubicBezTo>
                      <a:pt x="50" y="76"/>
                      <a:pt x="32" y="3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3" name="Freeform 25"/>
              <p:cNvSpPr>
                <a:spLocks/>
              </p:cNvSpPr>
              <p:nvPr/>
            </p:nvSpPr>
            <p:spPr bwMode="auto">
              <a:xfrm>
                <a:off x="3925888" y="1885951"/>
                <a:ext cx="928687" cy="192088"/>
              </a:xfrm>
              <a:custGeom>
                <a:avLst/>
                <a:gdLst>
                  <a:gd name="T0" fmla="*/ 246 w 246"/>
                  <a:gd name="T1" fmla="*/ 2 h 51"/>
                  <a:gd name="T2" fmla="*/ 243 w 246"/>
                  <a:gd name="T3" fmla="*/ 0 h 51"/>
                  <a:gd name="T4" fmla="*/ 123 w 246"/>
                  <a:gd name="T5" fmla="*/ 48 h 51"/>
                  <a:gd name="T6" fmla="*/ 2 w 246"/>
                  <a:gd name="T7" fmla="*/ 0 h 51"/>
                  <a:gd name="T8" fmla="*/ 0 w 246"/>
                  <a:gd name="T9" fmla="*/ 2 h 51"/>
                  <a:gd name="T10" fmla="*/ 123 w 246"/>
                  <a:gd name="T11" fmla="*/ 51 h 51"/>
                  <a:gd name="T12" fmla="*/ 246 w 246"/>
                  <a:gd name="T13" fmla="*/ 2 h 51"/>
                </a:gdLst>
                <a:ahLst/>
                <a:cxnLst>
                  <a:cxn ang="0">
                    <a:pos x="T0" y="T1"/>
                  </a:cxn>
                  <a:cxn ang="0">
                    <a:pos x="T2" y="T3"/>
                  </a:cxn>
                  <a:cxn ang="0">
                    <a:pos x="T4" y="T5"/>
                  </a:cxn>
                  <a:cxn ang="0">
                    <a:pos x="T6" y="T7"/>
                  </a:cxn>
                  <a:cxn ang="0">
                    <a:pos x="T8" y="T9"/>
                  </a:cxn>
                  <a:cxn ang="0">
                    <a:pos x="T10" y="T11"/>
                  </a:cxn>
                  <a:cxn ang="0">
                    <a:pos x="T12" y="T13"/>
                  </a:cxn>
                </a:cxnLst>
                <a:rect l="0" t="0" r="r" b="b"/>
                <a:pathLst>
                  <a:path w="246" h="51">
                    <a:moveTo>
                      <a:pt x="246" y="2"/>
                    </a:moveTo>
                    <a:cubicBezTo>
                      <a:pt x="243" y="0"/>
                      <a:pt x="243" y="0"/>
                      <a:pt x="243" y="0"/>
                    </a:cubicBezTo>
                    <a:cubicBezTo>
                      <a:pt x="212" y="30"/>
                      <a:pt x="169" y="48"/>
                      <a:pt x="123" y="48"/>
                    </a:cubicBezTo>
                    <a:cubicBezTo>
                      <a:pt x="76" y="48"/>
                      <a:pt x="34" y="30"/>
                      <a:pt x="2" y="0"/>
                    </a:cubicBezTo>
                    <a:cubicBezTo>
                      <a:pt x="0" y="2"/>
                      <a:pt x="0" y="2"/>
                      <a:pt x="0" y="2"/>
                    </a:cubicBezTo>
                    <a:cubicBezTo>
                      <a:pt x="32" y="32"/>
                      <a:pt x="75" y="51"/>
                      <a:pt x="123" y="51"/>
                    </a:cubicBezTo>
                    <a:cubicBezTo>
                      <a:pt x="170" y="51"/>
                      <a:pt x="214" y="32"/>
                      <a:pt x="24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4" name="Freeform 26"/>
              <p:cNvSpPr>
                <a:spLocks/>
              </p:cNvSpPr>
              <p:nvPr/>
            </p:nvSpPr>
            <p:spPr bwMode="auto">
              <a:xfrm>
                <a:off x="3709988" y="930276"/>
                <a:ext cx="188912" cy="928688"/>
              </a:xfrm>
              <a:custGeom>
                <a:avLst/>
                <a:gdLst>
                  <a:gd name="T0" fmla="*/ 48 w 50"/>
                  <a:gd name="T1" fmla="*/ 246 h 246"/>
                  <a:gd name="T2" fmla="*/ 50 w 50"/>
                  <a:gd name="T3" fmla="*/ 244 h 246"/>
                  <a:gd name="T4" fmla="*/ 2 w 50"/>
                  <a:gd name="T5" fmla="*/ 123 h 246"/>
                  <a:gd name="T6" fmla="*/ 50 w 50"/>
                  <a:gd name="T7" fmla="*/ 2 h 246"/>
                  <a:gd name="T8" fmla="*/ 48 w 50"/>
                  <a:gd name="T9" fmla="*/ 0 h 246"/>
                  <a:gd name="T10" fmla="*/ 0 w 50"/>
                  <a:gd name="T11" fmla="*/ 123 h 246"/>
                  <a:gd name="T12" fmla="*/ 48 w 50"/>
                  <a:gd name="T13" fmla="*/ 246 h 246"/>
                </a:gdLst>
                <a:ahLst/>
                <a:cxnLst>
                  <a:cxn ang="0">
                    <a:pos x="T0" y="T1"/>
                  </a:cxn>
                  <a:cxn ang="0">
                    <a:pos x="T2" y="T3"/>
                  </a:cxn>
                  <a:cxn ang="0">
                    <a:pos x="T4" y="T5"/>
                  </a:cxn>
                  <a:cxn ang="0">
                    <a:pos x="T6" y="T7"/>
                  </a:cxn>
                  <a:cxn ang="0">
                    <a:pos x="T8" y="T9"/>
                  </a:cxn>
                  <a:cxn ang="0">
                    <a:pos x="T10" y="T11"/>
                  </a:cxn>
                  <a:cxn ang="0">
                    <a:pos x="T12" y="T13"/>
                  </a:cxn>
                </a:cxnLst>
                <a:rect l="0" t="0" r="r" b="b"/>
                <a:pathLst>
                  <a:path w="50" h="246">
                    <a:moveTo>
                      <a:pt x="48" y="246"/>
                    </a:moveTo>
                    <a:cubicBezTo>
                      <a:pt x="50" y="244"/>
                      <a:pt x="50" y="244"/>
                      <a:pt x="50" y="244"/>
                    </a:cubicBezTo>
                    <a:cubicBezTo>
                      <a:pt x="20" y="212"/>
                      <a:pt x="2" y="170"/>
                      <a:pt x="2" y="123"/>
                    </a:cubicBezTo>
                    <a:cubicBezTo>
                      <a:pt x="2" y="77"/>
                      <a:pt x="20" y="34"/>
                      <a:pt x="50" y="2"/>
                    </a:cubicBezTo>
                    <a:cubicBezTo>
                      <a:pt x="48" y="0"/>
                      <a:pt x="48" y="0"/>
                      <a:pt x="48" y="0"/>
                    </a:cubicBezTo>
                    <a:cubicBezTo>
                      <a:pt x="18" y="32"/>
                      <a:pt x="0" y="76"/>
                      <a:pt x="0" y="123"/>
                    </a:cubicBezTo>
                    <a:cubicBezTo>
                      <a:pt x="0" y="171"/>
                      <a:pt x="18" y="214"/>
                      <a:pt x="48" y="2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5" name="Freeform 27"/>
              <p:cNvSpPr>
                <a:spLocks/>
              </p:cNvSpPr>
              <p:nvPr/>
            </p:nvSpPr>
            <p:spPr bwMode="auto">
              <a:xfrm>
                <a:off x="3895725" y="1905001"/>
                <a:ext cx="985837" cy="230188"/>
              </a:xfrm>
              <a:custGeom>
                <a:avLst/>
                <a:gdLst>
                  <a:gd name="T0" fmla="*/ 261 w 261"/>
                  <a:gd name="T1" fmla="*/ 11 h 61"/>
                  <a:gd name="T2" fmla="*/ 258 w 261"/>
                  <a:gd name="T3" fmla="*/ 0 h 61"/>
                  <a:gd name="T4" fmla="*/ 131 w 261"/>
                  <a:gd name="T5" fmla="*/ 50 h 61"/>
                  <a:gd name="T6" fmla="*/ 4 w 261"/>
                  <a:gd name="T7" fmla="*/ 0 h 61"/>
                  <a:gd name="T8" fmla="*/ 0 w 261"/>
                  <a:gd name="T9" fmla="*/ 11 h 61"/>
                  <a:gd name="T10" fmla="*/ 131 w 261"/>
                  <a:gd name="T11" fmla="*/ 61 h 61"/>
                  <a:gd name="T12" fmla="*/ 261 w 261"/>
                  <a:gd name="T13" fmla="*/ 11 h 61"/>
                </a:gdLst>
                <a:ahLst/>
                <a:cxnLst>
                  <a:cxn ang="0">
                    <a:pos x="T0" y="T1"/>
                  </a:cxn>
                  <a:cxn ang="0">
                    <a:pos x="T2" y="T3"/>
                  </a:cxn>
                  <a:cxn ang="0">
                    <a:pos x="T4" y="T5"/>
                  </a:cxn>
                  <a:cxn ang="0">
                    <a:pos x="T6" y="T7"/>
                  </a:cxn>
                  <a:cxn ang="0">
                    <a:pos x="T8" y="T9"/>
                  </a:cxn>
                  <a:cxn ang="0">
                    <a:pos x="T10" y="T11"/>
                  </a:cxn>
                  <a:cxn ang="0">
                    <a:pos x="T12" y="T13"/>
                  </a:cxn>
                </a:cxnLst>
                <a:rect l="0" t="0" r="r" b="b"/>
                <a:pathLst>
                  <a:path w="261" h="61">
                    <a:moveTo>
                      <a:pt x="261" y="11"/>
                    </a:moveTo>
                    <a:cubicBezTo>
                      <a:pt x="258" y="0"/>
                      <a:pt x="258" y="0"/>
                      <a:pt x="258" y="0"/>
                    </a:cubicBezTo>
                    <a:cubicBezTo>
                      <a:pt x="224" y="31"/>
                      <a:pt x="180" y="50"/>
                      <a:pt x="131" y="50"/>
                    </a:cubicBezTo>
                    <a:cubicBezTo>
                      <a:pt x="82" y="50"/>
                      <a:pt x="37" y="31"/>
                      <a:pt x="4" y="0"/>
                    </a:cubicBezTo>
                    <a:cubicBezTo>
                      <a:pt x="0" y="11"/>
                      <a:pt x="0" y="11"/>
                      <a:pt x="0" y="11"/>
                    </a:cubicBezTo>
                    <a:cubicBezTo>
                      <a:pt x="36" y="43"/>
                      <a:pt x="82" y="61"/>
                      <a:pt x="131" y="61"/>
                    </a:cubicBezTo>
                    <a:cubicBezTo>
                      <a:pt x="180" y="61"/>
                      <a:pt x="226" y="43"/>
                      <a:pt x="26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6" name="Freeform 28"/>
              <p:cNvSpPr>
                <a:spLocks/>
              </p:cNvSpPr>
              <p:nvPr/>
            </p:nvSpPr>
            <p:spPr bwMode="auto">
              <a:xfrm>
                <a:off x="4897438" y="904876"/>
                <a:ext cx="230187" cy="984250"/>
              </a:xfrm>
              <a:custGeom>
                <a:avLst/>
                <a:gdLst>
                  <a:gd name="T0" fmla="*/ 0 w 61"/>
                  <a:gd name="T1" fmla="*/ 3 h 261"/>
                  <a:gd name="T2" fmla="*/ 51 w 61"/>
                  <a:gd name="T3" fmla="*/ 130 h 261"/>
                  <a:gd name="T4" fmla="*/ 0 w 61"/>
                  <a:gd name="T5" fmla="*/ 258 h 261"/>
                  <a:gd name="T6" fmla="*/ 11 w 61"/>
                  <a:gd name="T7" fmla="*/ 261 h 261"/>
                  <a:gd name="T8" fmla="*/ 61 w 61"/>
                  <a:gd name="T9" fmla="*/ 130 h 261"/>
                  <a:gd name="T10" fmla="*/ 11 w 61"/>
                  <a:gd name="T11" fmla="*/ 0 h 261"/>
                  <a:gd name="T12" fmla="*/ 0 w 61"/>
                  <a:gd name="T13" fmla="*/ 3 h 261"/>
                </a:gdLst>
                <a:ahLst/>
                <a:cxnLst>
                  <a:cxn ang="0">
                    <a:pos x="T0" y="T1"/>
                  </a:cxn>
                  <a:cxn ang="0">
                    <a:pos x="T2" y="T3"/>
                  </a:cxn>
                  <a:cxn ang="0">
                    <a:pos x="T4" y="T5"/>
                  </a:cxn>
                  <a:cxn ang="0">
                    <a:pos x="T6" y="T7"/>
                  </a:cxn>
                  <a:cxn ang="0">
                    <a:pos x="T8" y="T9"/>
                  </a:cxn>
                  <a:cxn ang="0">
                    <a:pos x="T10" y="T11"/>
                  </a:cxn>
                  <a:cxn ang="0">
                    <a:pos x="T12" y="T13"/>
                  </a:cxn>
                </a:cxnLst>
                <a:rect l="0" t="0" r="r" b="b"/>
                <a:pathLst>
                  <a:path w="61" h="261">
                    <a:moveTo>
                      <a:pt x="0" y="3"/>
                    </a:moveTo>
                    <a:cubicBezTo>
                      <a:pt x="32" y="37"/>
                      <a:pt x="51" y="81"/>
                      <a:pt x="51" y="130"/>
                    </a:cubicBezTo>
                    <a:cubicBezTo>
                      <a:pt x="51" y="180"/>
                      <a:pt x="32" y="224"/>
                      <a:pt x="0" y="258"/>
                    </a:cubicBezTo>
                    <a:cubicBezTo>
                      <a:pt x="11" y="261"/>
                      <a:pt x="11" y="261"/>
                      <a:pt x="11" y="261"/>
                    </a:cubicBezTo>
                    <a:cubicBezTo>
                      <a:pt x="44" y="225"/>
                      <a:pt x="61" y="179"/>
                      <a:pt x="61" y="130"/>
                    </a:cubicBezTo>
                    <a:cubicBezTo>
                      <a:pt x="61" y="82"/>
                      <a:pt x="44" y="36"/>
                      <a:pt x="11" y="0"/>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7" name="Freeform 29"/>
              <p:cNvSpPr>
                <a:spLocks/>
              </p:cNvSpPr>
              <p:nvPr/>
            </p:nvSpPr>
            <p:spPr bwMode="auto">
              <a:xfrm>
                <a:off x="3649663" y="900113"/>
                <a:ext cx="234950" cy="989013"/>
              </a:xfrm>
              <a:custGeom>
                <a:avLst/>
                <a:gdLst>
                  <a:gd name="T0" fmla="*/ 61 w 62"/>
                  <a:gd name="T1" fmla="*/ 258 h 262"/>
                  <a:gd name="T2" fmla="*/ 11 w 62"/>
                  <a:gd name="T3" fmla="*/ 131 h 262"/>
                  <a:gd name="T4" fmla="*/ 62 w 62"/>
                  <a:gd name="T5" fmla="*/ 4 h 262"/>
                  <a:gd name="T6" fmla="*/ 50 w 62"/>
                  <a:gd name="T7" fmla="*/ 0 h 262"/>
                  <a:gd name="T8" fmla="*/ 0 w 62"/>
                  <a:gd name="T9" fmla="*/ 131 h 262"/>
                  <a:gd name="T10" fmla="*/ 50 w 62"/>
                  <a:gd name="T11" fmla="*/ 262 h 262"/>
                  <a:gd name="T12" fmla="*/ 61 w 62"/>
                  <a:gd name="T13" fmla="*/ 258 h 262"/>
                </a:gdLst>
                <a:ahLst/>
                <a:cxnLst>
                  <a:cxn ang="0">
                    <a:pos x="T0" y="T1"/>
                  </a:cxn>
                  <a:cxn ang="0">
                    <a:pos x="T2" y="T3"/>
                  </a:cxn>
                  <a:cxn ang="0">
                    <a:pos x="T4" y="T5"/>
                  </a:cxn>
                  <a:cxn ang="0">
                    <a:pos x="T6" y="T7"/>
                  </a:cxn>
                  <a:cxn ang="0">
                    <a:pos x="T8" y="T9"/>
                  </a:cxn>
                  <a:cxn ang="0">
                    <a:pos x="T10" y="T11"/>
                  </a:cxn>
                  <a:cxn ang="0">
                    <a:pos x="T12" y="T13"/>
                  </a:cxn>
                </a:cxnLst>
                <a:rect l="0" t="0" r="r" b="b"/>
                <a:pathLst>
                  <a:path w="62" h="262">
                    <a:moveTo>
                      <a:pt x="61" y="258"/>
                    </a:moveTo>
                    <a:cubicBezTo>
                      <a:pt x="30" y="225"/>
                      <a:pt x="11" y="180"/>
                      <a:pt x="11" y="131"/>
                    </a:cubicBezTo>
                    <a:cubicBezTo>
                      <a:pt x="11" y="82"/>
                      <a:pt x="30" y="37"/>
                      <a:pt x="62" y="4"/>
                    </a:cubicBezTo>
                    <a:cubicBezTo>
                      <a:pt x="50" y="0"/>
                      <a:pt x="50" y="0"/>
                      <a:pt x="50" y="0"/>
                    </a:cubicBezTo>
                    <a:cubicBezTo>
                      <a:pt x="18" y="36"/>
                      <a:pt x="0" y="83"/>
                      <a:pt x="0" y="131"/>
                    </a:cubicBezTo>
                    <a:cubicBezTo>
                      <a:pt x="0" y="180"/>
                      <a:pt x="18" y="226"/>
                      <a:pt x="50" y="262"/>
                    </a:cubicBezTo>
                    <a:lnTo>
                      <a:pt x="61" y="2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8" name="Freeform 30"/>
              <p:cNvSpPr>
                <a:spLocks/>
              </p:cNvSpPr>
              <p:nvPr/>
            </p:nvSpPr>
            <p:spPr bwMode="auto">
              <a:xfrm>
                <a:off x="3895725" y="658813"/>
                <a:ext cx="989012" cy="230188"/>
              </a:xfrm>
              <a:custGeom>
                <a:avLst/>
                <a:gdLst>
                  <a:gd name="T0" fmla="*/ 4 w 262"/>
                  <a:gd name="T1" fmla="*/ 61 h 61"/>
                  <a:gd name="T2" fmla="*/ 131 w 262"/>
                  <a:gd name="T3" fmla="*/ 10 h 61"/>
                  <a:gd name="T4" fmla="*/ 258 w 262"/>
                  <a:gd name="T5" fmla="*/ 61 h 61"/>
                  <a:gd name="T6" fmla="*/ 262 w 262"/>
                  <a:gd name="T7" fmla="*/ 50 h 61"/>
                  <a:gd name="T8" fmla="*/ 131 w 262"/>
                  <a:gd name="T9" fmla="*/ 0 h 61"/>
                  <a:gd name="T10" fmla="*/ 0 w 262"/>
                  <a:gd name="T11" fmla="*/ 50 h 61"/>
                  <a:gd name="T12" fmla="*/ 4 w 262"/>
                  <a:gd name="T13" fmla="*/ 61 h 61"/>
                </a:gdLst>
                <a:ahLst/>
                <a:cxnLst>
                  <a:cxn ang="0">
                    <a:pos x="T0" y="T1"/>
                  </a:cxn>
                  <a:cxn ang="0">
                    <a:pos x="T2" y="T3"/>
                  </a:cxn>
                  <a:cxn ang="0">
                    <a:pos x="T4" y="T5"/>
                  </a:cxn>
                  <a:cxn ang="0">
                    <a:pos x="T6" y="T7"/>
                  </a:cxn>
                  <a:cxn ang="0">
                    <a:pos x="T8" y="T9"/>
                  </a:cxn>
                  <a:cxn ang="0">
                    <a:pos x="T10" y="T11"/>
                  </a:cxn>
                  <a:cxn ang="0">
                    <a:pos x="T12" y="T13"/>
                  </a:cxn>
                </a:cxnLst>
                <a:rect l="0" t="0" r="r" b="b"/>
                <a:pathLst>
                  <a:path w="262" h="61">
                    <a:moveTo>
                      <a:pt x="4" y="61"/>
                    </a:moveTo>
                    <a:cubicBezTo>
                      <a:pt x="37" y="29"/>
                      <a:pt x="82" y="10"/>
                      <a:pt x="131" y="10"/>
                    </a:cubicBezTo>
                    <a:cubicBezTo>
                      <a:pt x="180" y="10"/>
                      <a:pt x="225" y="30"/>
                      <a:pt x="258" y="61"/>
                    </a:cubicBezTo>
                    <a:cubicBezTo>
                      <a:pt x="262" y="50"/>
                      <a:pt x="262" y="50"/>
                      <a:pt x="262" y="50"/>
                    </a:cubicBezTo>
                    <a:cubicBezTo>
                      <a:pt x="226" y="17"/>
                      <a:pt x="180" y="0"/>
                      <a:pt x="131" y="0"/>
                    </a:cubicBezTo>
                    <a:cubicBezTo>
                      <a:pt x="82" y="0"/>
                      <a:pt x="36" y="17"/>
                      <a:pt x="0" y="50"/>
                    </a:cubicBezTo>
                    <a:lnTo>
                      <a:pt x="4"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59" name="Freeform 31"/>
              <p:cNvSpPr>
                <a:spLocks noEditPoints="1"/>
              </p:cNvSpPr>
              <p:nvPr/>
            </p:nvSpPr>
            <p:spPr bwMode="auto">
              <a:xfrm>
                <a:off x="3941763" y="2025651"/>
                <a:ext cx="981075" cy="244475"/>
              </a:xfrm>
              <a:custGeom>
                <a:avLst/>
                <a:gdLst>
                  <a:gd name="T0" fmla="*/ 28 w 618"/>
                  <a:gd name="T1" fmla="*/ 33 h 154"/>
                  <a:gd name="T2" fmla="*/ 21 w 618"/>
                  <a:gd name="T3" fmla="*/ 90 h 154"/>
                  <a:gd name="T4" fmla="*/ 23 w 618"/>
                  <a:gd name="T5" fmla="*/ 90 h 154"/>
                  <a:gd name="T6" fmla="*/ 69 w 618"/>
                  <a:gd name="T7" fmla="*/ 55 h 154"/>
                  <a:gd name="T8" fmla="*/ 45 w 618"/>
                  <a:gd name="T9" fmla="*/ 102 h 154"/>
                  <a:gd name="T10" fmla="*/ 90 w 618"/>
                  <a:gd name="T11" fmla="*/ 64 h 154"/>
                  <a:gd name="T12" fmla="*/ 92 w 618"/>
                  <a:gd name="T13" fmla="*/ 121 h 154"/>
                  <a:gd name="T14" fmla="*/ 95 w 618"/>
                  <a:gd name="T15" fmla="*/ 124 h 154"/>
                  <a:gd name="T16" fmla="*/ 133 w 618"/>
                  <a:gd name="T17" fmla="*/ 81 h 154"/>
                  <a:gd name="T18" fmla="*/ 118 w 618"/>
                  <a:gd name="T19" fmla="*/ 131 h 154"/>
                  <a:gd name="T20" fmla="*/ 159 w 618"/>
                  <a:gd name="T21" fmla="*/ 88 h 154"/>
                  <a:gd name="T22" fmla="*/ 168 w 618"/>
                  <a:gd name="T23" fmla="*/ 143 h 154"/>
                  <a:gd name="T24" fmla="*/ 171 w 618"/>
                  <a:gd name="T25" fmla="*/ 145 h 154"/>
                  <a:gd name="T26" fmla="*/ 204 w 618"/>
                  <a:gd name="T27" fmla="*/ 97 h 154"/>
                  <a:gd name="T28" fmla="*/ 195 w 618"/>
                  <a:gd name="T29" fmla="*/ 147 h 154"/>
                  <a:gd name="T30" fmla="*/ 228 w 618"/>
                  <a:gd name="T31" fmla="*/ 100 h 154"/>
                  <a:gd name="T32" fmla="*/ 247 w 618"/>
                  <a:gd name="T33" fmla="*/ 154 h 154"/>
                  <a:gd name="T34" fmla="*/ 249 w 618"/>
                  <a:gd name="T35" fmla="*/ 154 h 154"/>
                  <a:gd name="T36" fmla="*/ 273 w 618"/>
                  <a:gd name="T37" fmla="*/ 102 h 154"/>
                  <a:gd name="T38" fmla="*/ 273 w 618"/>
                  <a:gd name="T39" fmla="*/ 154 h 154"/>
                  <a:gd name="T40" fmla="*/ 302 w 618"/>
                  <a:gd name="T41" fmla="*/ 154 h 154"/>
                  <a:gd name="T42" fmla="*/ 321 w 618"/>
                  <a:gd name="T43" fmla="*/ 102 h 154"/>
                  <a:gd name="T44" fmla="*/ 325 w 618"/>
                  <a:gd name="T45" fmla="*/ 152 h 154"/>
                  <a:gd name="T46" fmla="*/ 347 w 618"/>
                  <a:gd name="T47" fmla="*/ 100 h 154"/>
                  <a:gd name="T48" fmla="*/ 345 w 618"/>
                  <a:gd name="T49" fmla="*/ 100 h 154"/>
                  <a:gd name="T50" fmla="*/ 380 w 618"/>
                  <a:gd name="T51" fmla="*/ 147 h 154"/>
                  <a:gd name="T52" fmla="*/ 392 w 618"/>
                  <a:gd name="T53" fmla="*/ 90 h 154"/>
                  <a:gd name="T54" fmla="*/ 404 w 618"/>
                  <a:gd name="T55" fmla="*/ 143 h 154"/>
                  <a:gd name="T56" fmla="*/ 418 w 618"/>
                  <a:gd name="T57" fmla="*/ 86 h 154"/>
                  <a:gd name="T58" fmla="*/ 416 w 618"/>
                  <a:gd name="T59" fmla="*/ 86 h 154"/>
                  <a:gd name="T60" fmla="*/ 456 w 618"/>
                  <a:gd name="T61" fmla="*/ 126 h 154"/>
                  <a:gd name="T62" fmla="*/ 461 w 618"/>
                  <a:gd name="T63" fmla="*/ 71 h 154"/>
                  <a:gd name="T64" fmla="*/ 480 w 618"/>
                  <a:gd name="T65" fmla="*/ 119 h 154"/>
                  <a:gd name="T66" fmla="*/ 485 w 618"/>
                  <a:gd name="T67" fmla="*/ 59 h 154"/>
                  <a:gd name="T68" fmla="*/ 483 w 618"/>
                  <a:gd name="T69" fmla="*/ 62 h 154"/>
                  <a:gd name="T70" fmla="*/ 530 w 618"/>
                  <a:gd name="T71" fmla="*/ 97 h 154"/>
                  <a:gd name="T72" fmla="*/ 525 w 618"/>
                  <a:gd name="T73" fmla="*/ 40 h 154"/>
                  <a:gd name="T74" fmla="*/ 552 w 618"/>
                  <a:gd name="T75" fmla="*/ 86 h 154"/>
                  <a:gd name="T76" fmla="*/ 547 w 618"/>
                  <a:gd name="T77" fmla="*/ 26 h 154"/>
                  <a:gd name="T78" fmla="*/ 544 w 618"/>
                  <a:gd name="T79" fmla="*/ 28 h 154"/>
                  <a:gd name="T80" fmla="*/ 597 w 618"/>
                  <a:gd name="T81" fmla="*/ 57 h 154"/>
                  <a:gd name="T82" fmla="*/ 585 w 618"/>
                  <a:gd name="T83" fmla="*/ 0 h 154"/>
                  <a:gd name="T84" fmla="*/ 616 w 618"/>
                  <a:gd name="T85" fmla="*/ 4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8" h="154">
                    <a:moveTo>
                      <a:pt x="0" y="76"/>
                    </a:moveTo>
                    <a:lnTo>
                      <a:pt x="26" y="33"/>
                    </a:lnTo>
                    <a:lnTo>
                      <a:pt x="28" y="33"/>
                    </a:lnTo>
                    <a:lnTo>
                      <a:pt x="0" y="78"/>
                    </a:lnTo>
                    <a:lnTo>
                      <a:pt x="0" y="76"/>
                    </a:lnTo>
                    <a:close/>
                    <a:moveTo>
                      <a:pt x="21" y="90"/>
                    </a:moveTo>
                    <a:lnTo>
                      <a:pt x="47" y="43"/>
                    </a:lnTo>
                    <a:lnTo>
                      <a:pt x="47" y="45"/>
                    </a:lnTo>
                    <a:lnTo>
                      <a:pt x="23" y="90"/>
                    </a:lnTo>
                    <a:lnTo>
                      <a:pt x="21" y="90"/>
                    </a:lnTo>
                    <a:close/>
                    <a:moveTo>
                      <a:pt x="45" y="102"/>
                    </a:moveTo>
                    <a:lnTo>
                      <a:pt x="69" y="55"/>
                    </a:lnTo>
                    <a:lnTo>
                      <a:pt x="69" y="55"/>
                    </a:lnTo>
                    <a:lnTo>
                      <a:pt x="47" y="102"/>
                    </a:lnTo>
                    <a:lnTo>
                      <a:pt x="45" y="102"/>
                    </a:lnTo>
                    <a:close/>
                    <a:moveTo>
                      <a:pt x="69" y="112"/>
                    </a:moveTo>
                    <a:lnTo>
                      <a:pt x="90" y="64"/>
                    </a:lnTo>
                    <a:lnTo>
                      <a:pt x="90" y="64"/>
                    </a:lnTo>
                    <a:lnTo>
                      <a:pt x="71" y="114"/>
                    </a:lnTo>
                    <a:lnTo>
                      <a:pt x="69" y="112"/>
                    </a:lnTo>
                    <a:close/>
                    <a:moveTo>
                      <a:pt x="92" y="121"/>
                    </a:moveTo>
                    <a:lnTo>
                      <a:pt x="111" y="74"/>
                    </a:lnTo>
                    <a:lnTo>
                      <a:pt x="114" y="74"/>
                    </a:lnTo>
                    <a:lnTo>
                      <a:pt x="95" y="124"/>
                    </a:lnTo>
                    <a:lnTo>
                      <a:pt x="92" y="121"/>
                    </a:lnTo>
                    <a:close/>
                    <a:moveTo>
                      <a:pt x="118" y="131"/>
                    </a:moveTo>
                    <a:lnTo>
                      <a:pt x="133" y="81"/>
                    </a:lnTo>
                    <a:lnTo>
                      <a:pt x="135" y="81"/>
                    </a:lnTo>
                    <a:lnTo>
                      <a:pt x="121" y="131"/>
                    </a:lnTo>
                    <a:lnTo>
                      <a:pt x="118" y="131"/>
                    </a:lnTo>
                    <a:close/>
                    <a:moveTo>
                      <a:pt x="145" y="138"/>
                    </a:moveTo>
                    <a:lnTo>
                      <a:pt x="157" y="88"/>
                    </a:lnTo>
                    <a:lnTo>
                      <a:pt x="159" y="88"/>
                    </a:lnTo>
                    <a:lnTo>
                      <a:pt x="145" y="138"/>
                    </a:lnTo>
                    <a:lnTo>
                      <a:pt x="145" y="138"/>
                    </a:lnTo>
                    <a:close/>
                    <a:moveTo>
                      <a:pt x="168" y="143"/>
                    </a:moveTo>
                    <a:lnTo>
                      <a:pt x="180" y="93"/>
                    </a:lnTo>
                    <a:lnTo>
                      <a:pt x="183" y="93"/>
                    </a:lnTo>
                    <a:lnTo>
                      <a:pt x="171" y="145"/>
                    </a:lnTo>
                    <a:lnTo>
                      <a:pt x="168" y="143"/>
                    </a:lnTo>
                    <a:close/>
                    <a:moveTo>
                      <a:pt x="195" y="147"/>
                    </a:moveTo>
                    <a:lnTo>
                      <a:pt x="204" y="97"/>
                    </a:lnTo>
                    <a:lnTo>
                      <a:pt x="204" y="97"/>
                    </a:lnTo>
                    <a:lnTo>
                      <a:pt x="197" y="147"/>
                    </a:lnTo>
                    <a:lnTo>
                      <a:pt x="195" y="147"/>
                    </a:lnTo>
                    <a:close/>
                    <a:moveTo>
                      <a:pt x="221" y="152"/>
                    </a:moveTo>
                    <a:lnTo>
                      <a:pt x="228" y="100"/>
                    </a:lnTo>
                    <a:lnTo>
                      <a:pt x="228" y="100"/>
                    </a:lnTo>
                    <a:lnTo>
                      <a:pt x="223" y="152"/>
                    </a:lnTo>
                    <a:lnTo>
                      <a:pt x="221" y="152"/>
                    </a:lnTo>
                    <a:close/>
                    <a:moveTo>
                      <a:pt x="247" y="154"/>
                    </a:moveTo>
                    <a:lnTo>
                      <a:pt x="249" y="102"/>
                    </a:lnTo>
                    <a:lnTo>
                      <a:pt x="252" y="102"/>
                    </a:lnTo>
                    <a:lnTo>
                      <a:pt x="249" y="154"/>
                    </a:lnTo>
                    <a:lnTo>
                      <a:pt x="247" y="154"/>
                    </a:lnTo>
                    <a:close/>
                    <a:moveTo>
                      <a:pt x="273" y="154"/>
                    </a:moveTo>
                    <a:lnTo>
                      <a:pt x="273" y="102"/>
                    </a:lnTo>
                    <a:lnTo>
                      <a:pt x="276" y="102"/>
                    </a:lnTo>
                    <a:lnTo>
                      <a:pt x="276" y="154"/>
                    </a:lnTo>
                    <a:lnTo>
                      <a:pt x="273" y="154"/>
                    </a:lnTo>
                    <a:close/>
                    <a:moveTo>
                      <a:pt x="297" y="102"/>
                    </a:moveTo>
                    <a:lnTo>
                      <a:pt x="299" y="102"/>
                    </a:lnTo>
                    <a:lnTo>
                      <a:pt x="302" y="154"/>
                    </a:lnTo>
                    <a:lnTo>
                      <a:pt x="299" y="154"/>
                    </a:lnTo>
                    <a:lnTo>
                      <a:pt x="297" y="102"/>
                    </a:lnTo>
                    <a:close/>
                    <a:moveTo>
                      <a:pt x="321" y="102"/>
                    </a:moveTo>
                    <a:lnTo>
                      <a:pt x="323" y="102"/>
                    </a:lnTo>
                    <a:lnTo>
                      <a:pt x="328" y="152"/>
                    </a:lnTo>
                    <a:lnTo>
                      <a:pt x="325" y="152"/>
                    </a:lnTo>
                    <a:lnTo>
                      <a:pt x="321" y="102"/>
                    </a:lnTo>
                    <a:close/>
                    <a:moveTo>
                      <a:pt x="345" y="100"/>
                    </a:moveTo>
                    <a:lnTo>
                      <a:pt x="347" y="100"/>
                    </a:lnTo>
                    <a:lnTo>
                      <a:pt x="354" y="150"/>
                    </a:lnTo>
                    <a:lnTo>
                      <a:pt x="352" y="150"/>
                    </a:lnTo>
                    <a:lnTo>
                      <a:pt x="345" y="100"/>
                    </a:lnTo>
                    <a:close/>
                    <a:moveTo>
                      <a:pt x="368" y="95"/>
                    </a:moveTo>
                    <a:lnTo>
                      <a:pt x="371" y="95"/>
                    </a:lnTo>
                    <a:lnTo>
                      <a:pt x="380" y="147"/>
                    </a:lnTo>
                    <a:lnTo>
                      <a:pt x="378" y="147"/>
                    </a:lnTo>
                    <a:lnTo>
                      <a:pt x="368" y="95"/>
                    </a:lnTo>
                    <a:close/>
                    <a:moveTo>
                      <a:pt x="392" y="90"/>
                    </a:moveTo>
                    <a:lnTo>
                      <a:pt x="394" y="90"/>
                    </a:lnTo>
                    <a:lnTo>
                      <a:pt x="406" y="140"/>
                    </a:lnTo>
                    <a:lnTo>
                      <a:pt x="404" y="143"/>
                    </a:lnTo>
                    <a:lnTo>
                      <a:pt x="392" y="90"/>
                    </a:lnTo>
                    <a:close/>
                    <a:moveTo>
                      <a:pt x="416" y="86"/>
                    </a:moveTo>
                    <a:lnTo>
                      <a:pt x="418" y="86"/>
                    </a:lnTo>
                    <a:lnTo>
                      <a:pt x="430" y="135"/>
                    </a:lnTo>
                    <a:lnTo>
                      <a:pt x="430" y="135"/>
                    </a:lnTo>
                    <a:lnTo>
                      <a:pt x="416" y="86"/>
                    </a:lnTo>
                    <a:close/>
                    <a:moveTo>
                      <a:pt x="437" y="78"/>
                    </a:moveTo>
                    <a:lnTo>
                      <a:pt x="440" y="78"/>
                    </a:lnTo>
                    <a:lnTo>
                      <a:pt x="456" y="126"/>
                    </a:lnTo>
                    <a:lnTo>
                      <a:pt x="454" y="128"/>
                    </a:lnTo>
                    <a:lnTo>
                      <a:pt x="437" y="78"/>
                    </a:lnTo>
                    <a:close/>
                    <a:moveTo>
                      <a:pt x="461" y="71"/>
                    </a:moveTo>
                    <a:lnTo>
                      <a:pt x="463" y="69"/>
                    </a:lnTo>
                    <a:lnTo>
                      <a:pt x="480" y="119"/>
                    </a:lnTo>
                    <a:lnTo>
                      <a:pt x="480" y="119"/>
                    </a:lnTo>
                    <a:lnTo>
                      <a:pt x="461" y="71"/>
                    </a:lnTo>
                    <a:close/>
                    <a:moveTo>
                      <a:pt x="483" y="62"/>
                    </a:moveTo>
                    <a:lnTo>
                      <a:pt x="485" y="59"/>
                    </a:lnTo>
                    <a:lnTo>
                      <a:pt x="506" y="107"/>
                    </a:lnTo>
                    <a:lnTo>
                      <a:pt x="504" y="109"/>
                    </a:lnTo>
                    <a:lnTo>
                      <a:pt x="483" y="62"/>
                    </a:lnTo>
                    <a:close/>
                    <a:moveTo>
                      <a:pt x="504" y="50"/>
                    </a:moveTo>
                    <a:lnTo>
                      <a:pt x="506" y="50"/>
                    </a:lnTo>
                    <a:lnTo>
                      <a:pt x="530" y="97"/>
                    </a:lnTo>
                    <a:lnTo>
                      <a:pt x="528" y="97"/>
                    </a:lnTo>
                    <a:lnTo>
                      <a:pt x="504" y="50"/>
                    </a:lnTo>
                    <a:close/>
                    <a:moveTo>
                      <a:pt x="525" y="40"/>
                    </a:moveTo>
                    <a:lnTo>
                      <a:pt x="528" y="38"/>
                    </a:lnTo>
                    <a:lnTo>
                      <a:pt x="552" y="86"/>
                    </a:lnTo>
                    <a:lnTo>
                      <a:pt x="552" y="86"/>
                    </a:lnTo>
                    <a:lnTo>
                      <a:pt x="525" y="40"/>
                    </a:lnTo>
                    <a:close/>
                    <a:moveTo>
                      <a:pt x="544" y="28"/>
                    </a:moveTo>
                    <a:lnTo>
                      <a:pt x="547" y="26"/>
                    </a:lnTo>
                    <a:lnTo>
                      <a:pt x="575" y="71"/>
                    </a:lnTo>
                    <a:lnTo>
                      <a:pt x="573" y="71"/>
                    </a:lnTo>
                    <a:lnTo>
                      <a:pt x="544" y="28"/>
                    </a:lnTo>
                    <a:close/>
                    <a:moveTo>
                      <a:pt x="566" y="14"/>
                    </a:moveTo>
                    <a:lnTo>
                      <a:pt x="568" y="14"/>
                    </a:lnTo>
                    <a:lnTo>
                      <a:pt x="597" y="57"/>
                    </a:lnTo>
                    <a:lnTo>
                      <a:pt x="594" y="57"/>
                    </a:lnTo>
                    <a:lnTo>
                      <a:pt x="566" y="14"/>
                    </a:lnTo>
                    <a:close/>
                    <a:moveTo>
                      <a:pt x="585" y="0"/>
                    </a:moveTo>
                    <a:lnTo>
                      <a:pt x="587" y="0"/>
                    </a:lnTo>
                    <a:lnTo>
                      <a:pt x="618" y="40"/>
                    </a:lnTo>
                    <a:lnTo>
                      <a:pt x="616" y="43"/>
                    </a:lnTo>
                    <a:lnTo>
                      <a:pt x="5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60" name="Freeform 32"/>
              <p:cNvSpPr>
                <a:spLocks noEditPoints="1"/>
              </p:cNvSpPr>
              <p:nvPr/>
            </p:nvSpPr>
            <p:spPr bwMode="auto">
              <a:xfrm>
                <a:off x="3941763" y="519113"/>
                <a:ext cx="981075" cy="249238"/>
              </a:xfrm>
              <a:custGeom>
                <a:avLst/>
                <a:gdLst>
                  <a:gd name="T0" fmla="*/ 28 w 618"/>
                  <a:gd name="T1" fmla="*/ 124 h 157"/>
                  <a:gd name="T2" fmla="*/ 21 w 618"/>
                  <a:gd name="T3" fmla="*/ 67 h 157"/>
                  <a:gd name="T4" fmla="*/ 47 w 618"/>
                  <a:gd name="T5" fmla="*/ 112 h 157"/>
                  <a:gd name="T6" fmla="*/ 47 w 618"/>
                  <a:gd name="T7" fmla="*/ 52 h 157"/>
                  <a:gd name="T8" fmla="*/ 45 w 618"/>
                  <a:gd name="T9" fmla="*/ 55 h 157"/>
                  <a:gd name="T10" fmla="*/ 90 w 618"/>
                  <a:gd name="T11" fmla="*/ 90 h 157"/>
                  <a:gd name="T12" fmla="*/ 92 w 618"/>
                  <a:gd name="T13" fmla="*/ 33 h 157"/>
                  <a:gd name="T14" fmla="*/ 111 w 618"/>
                  <a:gd name="T15" fmla="*/ 83 h 157"/>
                  <a:gd name="T16" fmla="*/ 121 w 618"/>
                  <a:gd name="T17" fmla="*/ 26 h 157"/>
                  <a:gd name="T18" fmla="*/ 118 w 618"/>
                  <a:gd name="T19" fmla="*/ 26 h 157"/>
                  <a:gd name="T20" fmla="*/ 159 w 618"/>
                  <a:gd name="T21" fmla="*/ 69 h 157"/>
                  <a:gd name="T22" fmla="*/ 168 w 618"/>
                  <a:gd name="T23" fmla="*/ 12 h 157"/>
                  <a:gd name="T24" fmla="*/ 180 w 618"/>
                  <a:gd name="T25" fmla="*/ 64 h 157"/>
                  <a:gd name="T26" fmla="*/ 197 w 618"/>
                  <a:gd name="T27" fmla="*/ 7 h 157"/>
                  <a:gd name="T28" fmla="*/ 195 w 618"/>
                  <a:gd name="T29" fmla="*/ 7 h 157"/>
                  <a:gd name="T30" fmla="*/ 228 w 618"/>
                  <a:gd name="T31" fmla="*/ 57 h 157"/>
                  <a:gd name="T32" fmla="*/ 247 w 618"/>
                  <a:gd name="T33" fmla="*/ 2 h 157"/>
                  <a:gd name="T34" fmla="*/ 249 w 618"/>
                  <a:gd name="T35" fmla="*/ 55 h 157"/>
                  <a:gd name="T36" fmla="*/ 276 w 618"/>
                  <a:gd name="T37" fmla="*/ 0 h 157"/>
                  <a:gd name="T38" fmla="*/ 273 w 618"/>
                  <a:gd name="T39" fmla="*/ 0 h 157"/>
                  <a:gd name="T40" fmla="*/ 302 w 618"/>
                  <a:gd name="T41" fmla="*/ 2 h 157"/>
                  <a:gd name="T42" fmla="*/ 321 w 618"/>
                  <a:gd name="T43" fmla="*/ 55 h 157"/>
                  <a:gd name="T44" fmla="*/ 323 w 618"/>
                  <a:gd name="T45" fmla="*/ 55 h 157"/>
                  <a:gd name="T46" fmla="*/ 352 w 618"/>
                  <a:gd name="T47" fmla="*/ 5 h 157"/>
                  <a:gd name="T48" fmla="*/ 345 w 618"/>
                  <a:gd name="T49" fmla="*/ 57 h 157"/>
                  <a:gd name="T50" fmla="*/ 380 w 618"/>
                  <a:gd name="T51" fmla="*/ 9 h 157"/>
                  <a:gd name="T52" fmla="*/ 392 w 618"/>
                  <a:gd name="T53" fmla="*/ 64 h 157"/>
                  <a:gd name="T54" fmla="*/ 394 w 618"/>
                  <a:gd name="T55" fmla="*/ 67 h 157"/>
                  <a:gd name="T56" fmla="*/ 430 w 618"/>
                  <a:gd name="T57" fmla="*/ 21 h 157"/>
                  <a:gd name="T58" fmla="*/ 416 w 618"/>
                  <a:gd name="T59" fmla="*/ 71 h 157"/>
                  <a:gd name="T60" fmla="*/ 456 w 618"/>
                  <a:gd name="T61" fmla="*/ 28 h 157"/>
                  <a:gd name="T62" fmla="*/ 461 w 618"/>
                  <a:gd name="T63" fmla="*/ 86 h 157"/>
                  <a:gd name="T64" fmla="*/ 463 w 618"/>
                  <a:gd name="T65" fmla="*/ 86 h 157"/>
                  <a:gd name="T66" fmla="*/ 504 w 618"/>
                  <a:gd name="T67" fmla="*/ 47 h 157"/>
                  <a:gd name="T68" fmla="*/ 483 w 618"/>
                  <a:gd name="T69" fmla="*/ 95 h 157"/>
                  <a:gd name="T70" fmla="*/ 530 w 618"/>
                  <a:gd name="T71" fmla="*/ 59 h 157"/>
                  <a:gd name="T72" fmla="*/ 525 w 618"/>
                  <a:gd name="T73" fmla="*/ 116 h 157"/>
                  <a:gd name="T74" fmla="*/ 528 w 618"/>
                  <a:gd name="T75" fmla="*/ 116 h 157"/>
                  <a:gd name="T76" fmla="*/ 573 w 618"/>
                  <a:gd name="T77" fmla="*/ 83 h 157"/>
                  <a:gd name="T78" fmla="*/ 544 w 618"/>
                  <a:gd name="T79" fmla="*/ 128 h 157"/>
                  <a:gd name="T80" fmla="*/ 597 w 618"/>
                  <a:gd name="T81" fmla="*/ 100 h 157"/>
                  <a:gd name="T82" fmla="*/ 585 w 618"/>
                  <a:gd name="T83" fmla="*/ 155 h 157"/>
                  <a:gd name="T84" fmla="*/ 587 w 618"/>
                  <a:gd name="T8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8" h="157">
                    <a:moveTo>
                      <a:pt x="0" y="78"/>
                    </a:moveTo>
                    <a:lnTo>
                      <a:pt x="0" y="78"/>
                    </a:lnTo>
                    <a:lnTo>
                      <a:pt x="28" y="124"/>
                    </a:lnTo>
                    <a:lnTo>
                      <a:pt x="26" y="124"/>
                    </a:lnTo>
                    <a:lnTo>
                      <a:pt x="0" y="78"/>
                    </a:lnTo>
                    <a:close/>
                    <a:moveTo>
                      <a:pt x="21" y="67"/>
                    </a:moveTo>
                    <a:lnTo>
                      <a:pt x="23" y="64"/>
                    </a:lnTo>
                    <a:lnTo>
                      <a:pt x="47" y="112"/>
                    </a:lnTo>
                    <a:lnTo>
                      <a:pt x="47" y="112"/>
                    </a:lnTo>
                    <a:lnTo>
                      <a:pt x="21" y="67"/>
                    </a:lnTo>
                    <a:close/>
                    <a:moveTo>
                      <a:pt x="45" y="55"/>
                    </a:moveTo>
                    <a:lnTo>
                      <a:pt x="47" y="52"/>
                    </a:lnTo>
                    <a:lnTo>
                      <a:pt x="69" y="100"/>
                    </a:lnTo>
                    <a:lnTo>
                      <a:pt x="69" y="102"/>
                    </a:lnTo>
                    <a:lnTo>
                      <a:pt x="45" y="55"/>
                    </a:lnTo>
                    <a:close/>
                    <a:moveTo>
                      <a:pt x="69" y="43"/>
                    </a:moveTo>
                    <a:lnTo>
                      <a:pt x="71" y="43"/>
                    </a:lnTo>
                    <a:lnTo>
                      <a:pt x="90" y="90"/>
                    </a:lnTo>
                    <a:lnTo>
                      <a:pt x="90" y="93"/>
                    </a:lnTo>
                    <a:lnTo>
                      <a:pt x="69" y="43"/>
                    </a:lnTo>
                    <a:close/>
                    <a:moveTo>
                      <a:pt x="92" y="33"/>
                    </a:moveTo>
                    <a:lnTo>
                      <a:pt x="95" y="33"/>
                    </a:lnTo>
                    <a:lnTo>
                      <a:pt x="114" y="83"/>
                    </a:lnTo>
                    <a:lnTo>
                      <a:pt x="111" y="83"/>
                    </a:lnTo>
                    <a:lnTo>
                      <a:pt x="92" y="33"/>
                    </a:lnTo>
                    <a:close/>
                    <a:moveTo>
                      <a:pt x="118" y="26"/>
                    </a:moveTo>
                    <a:lnTo>
                      <a:pt x="121" y="26"/>
                    </a:lnTo>
                    <a:lnTo>
                      <a:pt x="135" y="76"/>
                    </a:lnTo>
                    <a:lnTo>
                      <a:pt x="133" y="76"/>
                    </a:lnTo>
                    <a:lnTo>
                      <a:pt x="118" y="26"/>
                    </a:lnTo>
                    <a:close/>
                    <a:moveTo>
                      <a:pt x="145" y="19"/>
                    </a:moveTo>
                    <a:lnTo>
                      <a:pt x="145" y="19"/>
                    </a:lnTo>
                    <a:lnTo>
                      <a:pt x="159" y="69"/>
                    </a:lnTo>
                    <a:lnTo>
                      <a:pt x="157" y="69"/>
                    </a:lnTo>
                    <a:lnTo>
                      <a:pt x="145" y="19"/>
                    </a:lnTo>
                    <a:close/>
                    <a:moveTo>
                      <a:pt x="168" y="12"/>
                    </a:moveTo>
                    <a:lnTo>
                      <a:pt x="171" y="12"/>
                    </a:lnTo>
                    <a:lnTo>
                      <a:pt x="183" y="64"/>
                    </a:lnTo>
                    <a:lnTo>
                      <a:pt x="180" y="64"/>
                    </a:lnTo>
                    <a:lnTo>
                      <a:pt x="168" y="12"/>
                    </a:lnTo>
                    <a:close/>
                    <a:moveTo>
                      <a:pt x="195" y="7"/>
                    </a:moveTo>
                    <a:lnTo>
                      <a:pt x="197" y="7"/>
                    </a:lnTo>
                    <a:lnTo>
                      <a:pt x="204" y="59"/>
                    </a:lnTo>
                    <a:lnTo>
                      <a:pt x="204" y="59"/>
                    </a:lnTo>
                    <a:lnTo>
                      <a:pt x="195" y="7"/>
                    </a:lnTo>
                    <a:close/>
                    <a:moveTo>
                      <a:pt x="221" y="5"/>
                    </a:moveTo>
                    <a:lnTo>
                      <a:pt x="223" y="5"/>
                    </a:lnTo>
                    <a:lnTo>
                      <a:pt x="228" y="57"/>
                    </a:lnTo>
                    <a:lnTo>
                      <a:pt x="228" y="57"/>
                    </a:lnTo>
                    <a:lnTo>
                      <a:pt x="221" y="5"/>
                    </a:lnTo>
                    <a:close/>
                    <a:moveTo>
                      <a:pt x="247" y="2"/>
                    </a:moveTo>
                    <a:lnTo>
                      <a:pt x="249" y="2"/>
                    </a:lnTo>
                    <a:lnTo>
                      <a:pt x="252" y="55"/>
                    </a:lnTo>
                    <a:lnTo>
                      <a:pt x="249" y="55"/>
                    </a:lnTo>
                    <a:lnTo>
                      <a:pt x="247" y="2"/>
                    </a:lnTo>
                    <a:close/>
                    <a:moveTo>
                      <a:pt x="273" y="0"/>
                    </a:moveTo>
                    <a:lnTo>
                      <a:pt x="276" y="0"/>
                    </a:lnTo>
                    <a:lnTo>
                      <a:pt x="276" y="52"/>
                    </a:lnTo>
                    <a:lnTo>
                      <a:pt x="273" y="52"/>
                    </a:lnTo>
                    <a:lnTo>
                      <a:pt x="273" y="0"/>
                    </a:lnTo>
                    <a:close/>
                    <a:moveTo>
                      <a:pt x="299" y="52"/>
                    </a:moveTo>
                    <a:lnTo>
                      <a:pt x="299" y="2"/>
                    </a:lnTo>
                    <a:lnTo>
                      <a:pt x="302" y="2"/>
                    </a:lnTo>
                    <a:lnTo>
                      <a:pt x="299" y="52"/>
                    </a:lnTo>
                    <a:lnTo>
                      <a:pt x="299" y="52"/>
                    </a:lnTo>
                    <a:close/>
                    <a:moveTo>
                      <a:pt x="321" y="55"/>
                    </a:moveTo>
                    <a:lnTo>
                      <a:pt x="325" y="2"/>
                    </a:lnTo>
                    <a:lnTo>
                      <a:pt x="328" y="2"/>
                    </a:lnTo>
                    <a:lnTo>
                      <a:pt x="323" y="55"/>
                    </a:lnTo>
                    <a:lnTo>
                      <a:pt x="321" y="55"/>
                    </a:lnTo>
                    <a:close/>
                    <a:moveTo>
                      <a:pt x="345" y="57"/>
                    </a:moveTo>
                    <a:lnTo>
                      <a:pt x="352" y="5"/>
                    </a:lnTo>
                    <a:lnTo>
                      <a:pt x="354" y="5"/>
                    </a:lnTo>
                    <a:lnTo>
                      <a:pt x="347" y="57"/>
                    </a:lnTo>
                    <a:lnTo>
                      <a:pt x="345" y="57"/>
                    </a:lnTo>
                    <a:close/>
                    <a:moveTo>
                      <a:pt x="368" y="62"/>
                    </a:moveTo>
                    <a:lnTo>
                      <a:pt x="378" y="9"/>
                    </a:lnTo>
                    <a:lnTo>
                      <a:pt x="380" y="9"/>
                    </a:lnTo>
                    <a:lnTo>
                      <a:pt x="371" y="62"/>
                    </a:lnTo>
                    <a:lnTo>
                      <a:pt x="368" y="62"/>
                    </a:lnTo>
                    <a:close/>
                    <a:moveTo>
                      <a:pt x="392" y="64"/>
                    </a:moveTo>
                    <a:lnTo>
                      <a:pt x="404" y="14"/>
                    </a:lnTo>
                    <a:lnTo>
                      <a:pt x="406" y="14"/>
                    </a:lnTo>
                    <a:lnTo>
                      <a:pt x="394" y="67"/>
                    </a:lnTo>
                    <a:lnTo>
                      <a:pt x="392" y="64"/>
                    </a:lnTo>
                    <a:close/>
                    <a:moveTo>
                      <a:pt x="416" y="71"/>
                    </a:moveTo>
                    <a:lnTo>
                      <a:pt x="430" y="21"/>
                    </a:lnTo>
                    <a:lnTo>
                      <a:pt x="430" y="21"/>
                    </a:lnTo>
                    <a:lnTo>
                      <a:pt x="418" y="71"/>
                    </a:lnTo>
                    <a:lnTo>
                      <a:pt x="416" y="71"/>
                    </a:lnTo>
                    <a:close/>
                    <a:moveTo>
                      <a:pt x="437" y="78"/>
                    </a:moveTo>
                    <a:lnTo>
                      <a:pt x="454" y="28"/>
                    </a:lnTo>
                    <a:lnTo>
                      <a:pt x="456" y="28"/>
                    </a:lnTo>
                    <a:lnTo>
                      <a:pt x="440" y="78"/>
                    </a:lnTo>
                    <a:lnTo>
                      <a:pt x="437" y="78"/>
                    </a:lnTo>
                    <a:close/>
                    <a:moveTo>
                      <a:pt x="461" y="86"/>
                    </a:moveTo>
                    <a:lnTo>
                      <a:pt x="480" y="38"/>
                    </a:lnTo>
                    <a:lnTo>
                      <a:pt x="480" y="38"/>
                    </a:lnTo>
                    <a:lnTo>
                      <a:pt x="463" y="86"/>
                    </a:lnTo>
                    <a:lnTo>
                      <a:pt x="461" y="86"/>
                    </a:lnTo>
                    <a:close/>
                    <a:moveTo>
                      <a:pt x="483" y="95"/>
                    </a:moveTo>
                    <a:lnTo>
                      <a:pt x="504" y="47"/>
                    </a:lnTo>
                    <a:lnTo>
                      <a:pt x="506" y="47"/>
                    </a:lnTo>
                    <a:lnTo>
                      <a:pt x="485" y="95"/>
                    </a:lnTo>
                    <a:lnTo>
                      <a:pt x="483" y="95"/>
                    </a:lnTo>
                    <a:close/>
                    <a:moveTo>
                      <a:pt x="504" y="105"/>
                    </a:moveTo>
                    <a:lnTo>
                      <a:pt x="528" y="59"/>
                    </a:lnTo>
                    <a:lnTo>
                      <a:pt x="530" y="59"/>
                    </a:lnTo>
                    <a:lnTo>
                      <a:pt x="506" y="107"/>
                    </a:lnTo>
                    <a:lnTo>
                      <a:pt x="504" y="105"/>
                    </a:lnTo>
                    <a:close/>
                    <a:moveTo>
                      <a:pt x="525" y="116"/>
                    </a:moveTo>
                    <a:lnTo>
                      <a:pt x="552" y="71"/>
                    </a:lnTo>
                    <a:lnTo>
                      <a:pt x="552" y="71"/>
                    </a:lnTo>
                    <a:lnTo>
                      <a:pt x="528" y="116"/>
                    </a:lnTo>
                    <a:lnTo>
                      <a:pt x="525" y="116"/>
                    </a:lnTo>
                    <a:close/>
                    <a:moveTo>
                      <a:pt x="544" y="128"/>
                    </a:moveTo>
                    <a:lnTo>
                      <a:pt x="573" y="83"/>
                    </a:lnTo>
                    <a:lnTo>
                      <a:pt x="575" y="86"/>
                    </a:lnTo>
                    <a:lnTo>
                      <a:pt x="547" y="128"/>
                    </a:lnTo>
                    <a:lnTo>
                      <a:pt x="544" y="128"/>
                    </a:lnTo>
                    <a:close/>
                    <a:moveTo>
                      <a:pt x="566" y="140"/>
                    </a:moveTo>
                    <a:lnTo>
                      <a:pt x="594" y="97"/>
                    </a:lnTo>
                    <a:lnTo>
                      <a:pt x="597" y="100"/>
                    </a:lnTo>
                    <a:lnTo>
                      <a:pt x="568" y="143"/>
                    </a:lnTo>
                    <a:lnTo>
                      <a:pt x="566" y="140"/>
                    </a:lnTo>
                    <a:close/>
                    <a:moveTo>
                      <a:pt x="585" y="155"/>
                    </a:moveTo>
                    <a:lnTo>
                      <a:pt x="616" y="114"/>
                    </a:lnTo>
                    <a:lnTo>
                      <a:pt x="618" y="114"/>
                    </a:lnTo>
                    <a:lnTo>
                      <a:pt x="587" y="157"/>
                    </a:lnTo>
                    <a:lnTo>
                      <a:pt x="585" y="1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grpSp>
      </p:grpSp>
      <p:sp>
        <p:nvSpPr>
          <p:cNvPr id="61" name="文本框 60"/>
          <p:cNvSpPr txBox="1"/>
          <p:nvPr/>
        </p:nvSpPr>
        <p:spPr>
          <a:xfrm>
            <a:off x="3276071" y="5178540"/>
            <a:ext cx="506870" cy="276999"/>
          </a:xfrm>
          <a:prstGeom prst="rect">
            <a:avLst/>
          </a:prstGeom>
          <a:noFill/>
        </p:spPr>
        <p:txBody>
          <a:bodyPr wrap="none" rtlCol="0">
            <a:spAutoFit/>
          </a:bodyPr>
          <a:lstStyle/>
          <a:p>
            <a:pPr defTabSz="1219444" eaLnBrk="0" fontAlgn="base" hangingPunct="0"/>
            <a:r>
              <a:rPr lang="en-US" altLang="zh-CN" sz="1200" dirty="0">
                <a:latin typeface="+mn-ea"/>
                <a:ea typeface="+mn-ea"/>
              </a:rPr>
              <a:t>NAS</a:t>
            </a:r>
            <a:endParaRPr lang="zh-CN" altLang="en-US" sz="1200" dirty="0">
              <a:latin typeface="+mn-ea"/>
              <a:ea typeface="+mn-ea"/>
            </a:endParaRPr>
          </a:p>
        </p:txBody>
      </p:sp>
      <p:pic>
        <p:nvPicPr>
          <p:cNvPr id="62" name="图片 61"/>
          <p:cNvPicPr>
            <a:picLocks noChangeAspect="1"/>
          </p:cNvPicPr>
          <p:nvPr/>
        </p:nvPicPr>
        <p:blipFill>
          <a:blip r:embed="rId9" cstate="print"/>
          <a:stretch>
            <a:fillRect/>
          </a:stretch>
        </p:blipFill>
        <p:spPr>
          <a:xfrm>
            <a:off x="3265075" y="4294030"/>
            <a:ext cx="500784" cy="838999"/>
          </a:xfrm>
          <a:prstGeom prst="rect">
            <a:avLst/>
          </a:prstGeom>
        </p:spPr>
      </p:pic>
      <p:sp>
        <p:nvSpPr>
          <p:cNvPr id="63" name="矩形 62"/>
          <p:cNvSpPr/>
          <p:nvPr/>
        </p:nvSpPr>
        <p:spPr>
          <a:xfrm>
            <a:off x="4264750" y="1647237"/>
            <a:ext cx="1366465" cy="3858680"/>
          </a:xfrm>
          <a:prstGeom prst="rect">
            <a:avLst/>
          </a:prstGeom>
          <a:solidFill>
            <a:schemeClr val="bg1">
              <a:lumMod val="95000"/>
            </a:schemeClr>
          </a:solidFill>
          <a:ln w="25400" cap="flat" cmpd="sng" algn="ctr">
            <a:noFill/>
            <a:prstDash val="solid"/>
          </a:ln>
          <a:effectLst/>
        </p:spPr>
        <p:txBody>
          <a:bodyPr rtlCol="0" anchor="ctr"/>
          <a:lstStyle/>
          <a:p>
            <a:pPr algn="ctr" defTabSz="1219444" fontAlgn="auto">
              <a:spcBef>
                <a:spcPts val="0"/>
              </a:spcBef>
              <a:spcAft>
                <a:spcPts val="0"/>
              </a:spcAft>
              <a:defRPr/>
            </a:pPr>
            <a:endParaRPr lang="zh-CN" altLang="en-US" sz="2400" kern="0">
              <a:latin typeface="+mn-ea"/>
              <a:ea typeface="+mn-ea"/>
            </a:endParaRPr>
          </a:p>
        </p:txBody>
      </p:sp>
      <p:grpSp>
        <p:nvGrpSpPr>
          <p:cNvPr id="64" name="组合 63"/>
          <p:cNvGrpSpPr/>
          <p:nvPr/>
        </p:nvGrpSpPr>
        <p:grpSpPr>
          <a:xfrm>
            <a:off x="4472021" y="1881381"/>
            <a:ext cx="951925" cy="1016432"/>
            <a:chOff x="6601643" y="3228156"/>
            <a:chExt cx="724319" cy="773402"/>
          </a:xfrm>
          <a:solidFill>
            <a:srgbClr val="C7000A">
              <a:lumMod val="60000"/>
              <a:lumOff val="40000"/>
            </a:srgbClr>
          </a:solidFill>
        </p:grpSpPr>
        <p:grpSp>
          <p:nvGrpSpPr>
            <p:cNvPr id="65" name="组合 64"/>
            <p:cNvGrpSpPr/>
            <p:nvPr/>
          </p:nvGrpSpPr>
          <p:grpSpPr>
            <a:xfrm>
              <a:off x="6601643" y="3228156"/>
              <a:ext cx="724319" cy="773402"/>
              <a:chOff x="3570288" y="519113"/>
              <a:chExt cx="1639887" cy="1751013"/>
            </a:xfrm>
            <a:grpFill/>
          </p:grpSpPr>
          <p:sp>
            <p:nvSpPr>
              <p:cNvPr id="70" name="Freeform 21"/>
              <p:cNvSpPr>
                <a:spLocks/>
              </p:cNvSpPr>
              <p:nvPr/>
            </p:nvSpPr>
            <p:spPr bwMode="auto">
              <a:xfrm>
                <a:off x="5084763" y="987426"/>
                <a:ext cx="125412" cy="819150"/>
              </a:xfrm>
              <a:custGeom>
                <a:avLst/>
                <a:gdLst>
                  <a:gd name="T0" fmla="*/ 0 w 33"/>
                  <a:gd name="T1" fmla="*/ 215 h 217"/>
                  <a:gd name="T2" fmla="*/ 28 w 33"/>
                  <a:gd name="T3" fmla="*/ 108 h 217"/>
                  <a:gd name="T4" fmla="*/ 0 w 33"/>
                  <a:gd name="T5" fmla="*/ 2 h 217"/>
                  <a:gd name="T6" fmla="*/ 4 w 33"/>
                  <a:gd name="T7" fmla="*/ 0 h 217"/>
                  <a:gd name="T8" fmla="*/ 33 w 33"/>
                  <a:gd name="T9" fmla="*/ 108 h 217"/>
                  <a:gd name="T10" fmla="*/ 4 w 33"/>
                  <a:gd name="T11" fmla="*/ 217 h 217"/>
                  <a:gd name="T12" fmla="*/ 0 w 33"/>
                  <a:gd name="T13" fmla="*/ 215 h 217"/>
                </a:gdLst>
                <a:ahLst/>
                <a:cxnLst>
                  <a:cxn ang="0">
                    <a:pos x="T0" y="T1"/>
                  </a:cxn>
                  <a:cxn ang="0">
                    <a:pos x="T2" y="T3"/>
                  </a:cxn>
                  <a:cxn ang="0">
                    <a:pos x="T4" y="T5"/>
                  </a:cxn>
                  <a:cxn ang="0">
                    <a:pos x="T6" y="T7"/>
                  </a:cxn>
                  <a:cxn ang="0">
                    <a:pos x="T8" y="T9"/>
                  </a:cxn>
                  <a:cxn ang="0">
                    <a:pos x="T10" y="T11"/>
                  </a:cxn>
                  <a:cxn ang="0">
                    <a:pos x="T12" y="T13"/>
                  </a:cxn>
                </a:cxnLst>
                <a:rect l="0" t="0" r="r" b="b"/>
                <a:pathLst>
                  <a:path w="33" h="217">
                    <a:moveTo>
                      <a:pt x="0" y="215"/>
                    </a:moveTo>
                    <a:cubicBezTo>
                      <a:pt x="19" y="182"/>
                      <a:pt x="28" y="146"/>
                      <a:pt x="28" y="108"/>
                    </a:cubicBezTo>
                    <a:cubicBezTo>
                      <a:pt x="28" y="71"/>
                      <a:pt x="19" y="34"/>
                      <a:pt x="0" y="2"/>
                    </a:cubicBezTo>
                    <a:cubicBezTo>
                      <a:pt x="4" y="0"/>
                      <a:pt x="4" y="0"/>
                      <a:pt x="4" y="0"/>
                    </a:cubicBezTo>
                    <a:cubicBezTo>
                      <a:pt x="23" y="33"/>
                      <a:pt x="33" y="70"/>
                      <a:pt x="33" y="108"/>
                    </a:cubicBezTo>
                    <a:cubicBezTo>
                      <a:pt x="33" y="146"/>
                      <a:pt x="23" y="184"/>
                      <a:pt x="4" y="217"/>
                    </a:cubicBezTo>
                    <a:lnTo>
                      <a:pt x="0"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1" name="Freeform 22"/>
              <p:cNvSpPr>
                <a:spLocks/>
              </p:cNvSpPr>
              <p:nvPr/>
            </p:nvSpPr>
            <p:spPr bwMode="auto">
              <a:xfrm>
                <a:off x="3570288" y="987426"/>
                <a:ext cx="125412" cy="819150"/>
              </a:xfrm>
              <a:custGeom>
                <a:avLst/>
                <a:gdLst>
                  <a:gd name="T0" fmla="*/ 0 w 33"/>
                  <a:gd name="T1" fmla="*/ 108 h 217"/>
                  <a:gd name="T2" fmla="*/ 29 w 33"/>
                  <a:gd name="T3" fmla="*/ 0 h 217"/>
                  <a:gd name="T4" fmla="*/ 33 w 33"/>
                  <a:gd name="T5" fmla="*/ 2 h 217"/>
                  <a:gd name="T6" fmla="*/ 4 w 33"/>
                  <a:gd name="T7" fmla="*/ 108 h 217"/>
                  <a:gd name="T8" fmla="*/ 33 w 33"/>
                  <a:gd name="T9" fmla="*/ 215 h 217"/>
                  <a:gd name="T10" fmla="*/ 29 w 33"/>
                  <a:gd name="T11" fmla="*/ 217 h 217"/>
                  <a:gd name="T12" fmla="*/ 0 w 33"/>
                  <a:gd name="T13" fmla="*/ 108 h 217"/>
                </a:gdLst>
                <a:ahLst/>
                <a:cxnLst>
                  <a:cxn ang="0">
                    <a:pos x="T0" y="T1"/>
                  </a:cxn>
                  <a:cxn ang="0">
                    <a:pos x="T2" y="T3"/>
                  </a:cxn>
                  <a:cxn ang="0">
                    <a:pos x="T4" y="T5"/>
                  </a:cxn>
                  <a:cxn ang="0">
                    <a:pos x="T6" y="T7"/>
                  </a:cxn>
                  <a:cxn ang="0">
                    <a:pos x="T8" y="T9"/>
                  </a:cxn>
                  <a:cxn ang="0">
                    <a:pos x="T10" y="T11"/>
                  </a:cxn>
                  <a:cxn ang="0">
                    <a:pos x="T12" y="T13"/>
                  </a:cxn>
                </a:cxnLst>
                <a:rect l="0" t="0" r="r" b="b"/>
                <a:pathLst>
                  <a:path w="33" h="217">
                    <a:moveTo>
                      <a:pt x="0" y="108"/>
                    </a:moveTo>
                    <a:cubicBezTo>
                      <a:pt x="0" y="70"/>
                      <a:pt x="10" y="33"/>
                      <a:pt x="29" y="0"/>
                    </a:cubicBezTo>
                    <a:cubicBezTo>
                      <a:pt x="33" y="2"/>
                      <a:pt x="33" y="2"/>
                      <a:pt x="33" y="2"/>
                    </a:cubicBezTo>
                    <a:cubicBezTo>
                      <a:pt x="14" y="34"/>
                      <a:pt x="4" y="71"/>
                      <a:pt x="4" y="108"/>
                    </a:cubicBezTo>
                    <a:cubicBezTo>
                      <a:pt x="4" y="146"/>
                      <a:pt x="14" y="182"/>
                      <a:pt x="33" y="215"/>
                    </a:cubicBezTo>
                    <a:cubicBezTo>
                      <a:pt x="29" y="217"/>
                      <a:pt x="29" y="217"/>
                      <a:pt x="29" y="217"/>
                    </a:cubicBezTo>
                    <a:cubicBezTo>
                      <a:pt x="10" y="184"/>
                      <a:pt x="0" y="146"/>
                      <a:pt x="0"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2" name="Freeform 23"/>
              <p:cNvSpPr>
                <a:spLocks/>
              </p:cNvSpPr>
              <p:nvPr/>
            </p:nvSpPr>
            <p:spPr bwMode="auto">
              <a:xfrm>
                <a:off x="3925888" y="715963"/>
                <a:ext cx="928687" cy="188913"/>
              </a:xfrm>
              <a:custGeom>
                <a:avLst/>
                <a:gdLst>
                  <a:gd name="T0" fmla="*/ 0 w 246"/>
                  <a:gd name="T1" fmla="*/ 49 h 50"/>
                  <a:gd name="T2" fmla="*/ 2 w 246"/>
                  <a:gd name="T3" fmla="*/ 50 h 50"/>
                  <a:gd name="T4" fmla="*/ 123 w 246"/>
                  <a:gd name="T5" fmla="*/ 3 h 50"/>
                  <a:gd name="T6" fmla="*/ 244 w 246"/>
                  <a:gd name="T7" fmla="*/ 50 h 50"/>
                  <a:gd name="T8" fmla="*/ 246 w 246"/>
                  <a:gd name="T9" fmla="*/ 49 h 50"/>
                  <a:gd name="T10" fmla="*/ 123 w 246"/>
                  <a:gd name="T11" fmla="*/ 0 h 50"/>
                  <a:gd name="T12" fmla="*/ 0 w 246"/>
                  <a:gd name="T13" fmla="*/ 49 h 50"/>
                </a:gdLst>
                <a:ahLst/>
                <a:cxnLst>
                  <a:cxn ang="0">
                    <a:pos x="T0" y="T1"/>
                  </a:cxn>
                  <a:cxn ang="0">
                    <a:pos x="T2" y="T3"/>
                  </a:cxn>
                  <a:cxn ang="0">
                    <a:pos x="T4" y="T5"/>
                  </a:cxn>
                  <a:cxn ang="0">
                    <a:pos x="T6" y="T7"/>
                  </a:cxn>
                  <a:cxn ang="0">
                    <a:pos x="T8" y="T9"/>
                  </a:cxn>
                  <a:cxn ang="0">
                    <a:pos x="T10" y="T11"/>
                  </a:cxn>
                  <a:cxn ang="0">
                    <a:pos x="T12" y="T13"/>
                  </a:cxn>
                </a:cxnLst>
                <a:rect l="0" t="0" r="r" b="b"/>
                <a:pathLst>
                  <a:path w="246" h="50">
                    <a:moveTo>
                      <a:pt x="0" y="49"/>
                    </a:moveTo>
                    <a:cubicBezTo>
                      <a:pt x="2" y="50"/>
                      <a:pt x="2" y="50"/>
                      <a:pt x="2" y="50"/>
                    </a:cubicBezTo>
                    <a:cubicBezTo>
                      <a:pt x="34" y="21"/>
                      <a:pt x="76" y="3"/>
                      <a:pt x="123" y="3"/>
                    </a:cubicBezTo>
                    <a:cubicBezTo>
                      <a:pt x="169" y="3"/>
                      <a:pt x="212" y="21"/>
                      <a:pt x="244" y="50"/>
                    </a:cubicBezTo>
                    <a:cubicBezTo>
                      <a:pt x="246" y="49"/>
                      <a:pt x="246" y="49"/>
                      <a:pt x="246" y="49"/>
                    </a:cubicBezTo>
                    <a:cubicBezTo>
                      <a:pt x="214" y="19"/>
                      <a:pt x="170" y="0"/>
                      <a:pt x="123" y="0"/>
                    </a:cubicBezTo>
                    <a:cubicBezTo>
                      <a:pt x="75" y="0"/>
                      <a:pt x="32" y="19"/>
                      <a:pt x="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3" name="Freeform 24"/>
              <p:cNvSpPr>
                <a:spLocks/>
              </p:cNvSpPr>
              <p:nvPr/>
            </p:nvSpPr>
            <p:spPr bwMode="auto">
              <a:xfrm>
                <a:off x="4881563" y="930276"/>
                <a:ext cx="188912" cy="933450"/>
              </a:xfrm>
              <a:custGeom>
                <a:avLst/>
                <a:gdLst>
                  <a:gd name="T0" fmla="*/ 1 w 50"/>
                  <a:gd name="T1" fmla="*/ 0 h 247"/>
                  <a:gd name="T2" fmla="*/ 0 w 50"/>
                  <a:gd name="T3" fmla="*/ 3 h 247"/>
                  <a:gd name="T4" fmla="*/ 47 w 50"/>
                  <a:gd name="T5" fmla="*/ 123 h 247"/>
                  <a:gd name="T6" fmla="*/ 0 w 50"/>
                  <a:gd name="T7" fmla="*/ 244 h 247"/>
                  <a:gd name="T8" fmla="*/ 1 w 50"/>
                  <a:gd name="T9" fmla="*/ 247 h 247"/>
                  <a:gd name="T10" fmla="*/ 50 w 50"/>
                  <a:gd name="T11" fmla="*/ 123 h 247"/>
                  <a:gd name="T12" fmla="*/ 1 w 50"/>
                  <a:gd name="T13" fmla="*/ 0 h 247"/>
                </a:gdLst>
                <a:ahLst/>
                <a:cxnLst>
                  <a:cxn ang="0">
                    <a:pos x="T0" y="T1"/>
                  </a:cxn>
                  <a:cxn ang="0">
                    <a:pos x="T2" y="T3"/>
                  </a:cxn>
                  <a:cxn ang="0">
                    <a:pos x="T4" y="T5"/>
                  </a:cxn>
                  <a:cxn ang="0">
                    <a:pos x="T6" y="T7"/>
                  </a:cxn>
                  <a:cxn ang="0">
                    <a:pos x="T8" y="T9"/>
                  </a:cxn>
                  <a:cxn ang="0">
                    <a:pos x="T10" y="T11"/>
                  </a:cxn>
                  <a:cxn ang="0">
                    <a:pos x="T12" y="T13"/>
                  </a:cxn>
                </a:cxnLst>
                <a:rect l="0" t="0" r="r" b="b"/>
                <a:pathLst>
                  <a:path w="50" h="247">
                    <a:moveTo>
                      <a:pt x="1" y="0"/>
                    </a:moveTo>
                    <a:cubicBezTo>
                      <a:pt x="0" y="3"/>
                      <a:pt x="0" y="3"/>
                      <a:pt x="0" y="3"/>
                    </a:cubicBezTo>
                    <a:cubicBezTo>
                      <a:pt x="29" y="34"/>
                      <a:pt x="47" y="77"/>
                      <a:pt x="47" y="123"/>
                    </a:cubicBezTo>
                    <a:cubicBezTo>
                      <a:pt x="47" y="170"/>
                      <a:pt x="29" y="212"/>
                      <a:pt x="0" y="244"/>
                    </a:cubicBezTo>
                    <a:cubicBezTo>
                      <a:pt x="1" y="247"/>
                      <a:pt x="1" y="247"/>
                      <a:pt x="1" y="247"/>
                    </a:cubicBezTo>
                    <a:cubicBezTo>
                      <a:pt x="31" y="214"/>
                      <a:pt x="50" y="171"/>
                      <a:pt x="50" y="123"/>
                    </a:cubicBezTo>
                    <a:cubicBezTo>
                      <a:pt x="50" y="76"/>
                      <a:pt x="32" y="3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4" name="Freeform 25"/>
              <p:cNvSpPr>
                <a:spLocks/>
              </p:cNvSpPr>
              <p:nvPr/>
            </p:nvSpPr>
            <p:spPr bwMode="auto">
              <a:xfrm>
                <a:off x="3925888" y="1885951"/>
                <a:ext cx="928687" cy="192088"/>
              </a:xfrm>
              <a:custGeom>
                <a:avLst/>
                <a:gdLst>
                  <a:gd name="T0" fmla="*/ 246 w 246"/>
                  <a:gd name="T1" fmla="*/ 2 h 51"/>
                  <a:gd name="T2" fmla="*/ 243 w 246"/>
                  <a:gd name="T3" fmla="*/ 0 h 51"/>
                  <a:gd name="T4" fmla="*/ 123 w 246"/>
                  <a:gd name="T5" fmla="*/ 48 h 51"/>
                  <a:gd name="T6" fmla="*/ 2 w 246"/>
                  <a:gd name="T7" fmla="*/ 0 h 51"/>
                  <a:gd name="T8" fmla="*/ 0 w 246"/>
                  <a:gd name="T9" fmla="*/ 2 h 51"/>
                  <a:gd name="T10" fmla="*/ 123 w 246"/>
                  <a:gd name="T11" fmla="*/ 51 h 51"/>
                  <a:gd name="T12" fmla="*/ 246 w 246"/>
                  <a:gd name="T13" fmla="*/ 2 h 51"/>
                </a:gdLst>
                <a:ahLst/>
                <a:cxnLst>
                  <a:cxn ang="0">
                    <a:pos x="T0" y="T1"/>
                  </a:cxn>
                  <a:cxn ang="0">
                    <a:pos x="T2" y="T3"/>
                  </a:cxn>
                  <a:cxn ang="0">
                    <a:pos x="T4" y="T5"/>
                  </a:cxn>
                  <a:cxn ang="0">
                    <a:pos x="T6" y="T7"/>
                  </a:cxn>
                  <a:cxn ang="0">
                    <a:pos x="T8" y="T9"/>
                  </a:cxn>
                  <a:cxn ang="0">
                    <a:pos x="T10" y="T11"/>
                  </a:cxn>
                  <a:cxn ang="0">
                    <a:pos x="T12" y="T13"/>
                  </a:cxn>
                </a:cxnLst>
                <a:rect l="0" t="0" r="r" b="b"/>
                <a:pathLst>
                  <a:path w="246" h="51">
                    <a:moveTo>
                      <a:pt x="246" y="2"/>
                    </a:moveTo>
                    <a:cubicBezTo>
                      <a:pt x="243" y="0"/>
                      <a:pt x="243" y="0"/>
                      <a:pt x="243" y="0"/>
                    </a:cubicBezTo>
                    <a:cubicBezTo>
                      <a:pt x="212" y="30"/>
                      <a:pt x="169" y="48"/>
                      <a:pt x="123" y="48"/>
                    </a:cubicBezTo>
                    <a:cubicBezTo>
                      <a:pt x="76" y="48"/>
                      <a:pt x="34" y="30"/>
                      <a:pt x="2" y="0"/>
                    </a:cubicBezTo>
                    <a:cubicBezTo>
                      <a:pt x="0" y="2"/>
                      <a:pt x="0" y="2"/>
                      <a:pt x="0" y="2"/>
                    </a:cubicBezTo>
                    <a:cubicBezTo>
                      <a:pt x="32" y="32"/>
                      <a:pt x="75" y="51"/>
                      <a:pt x="123" y="51"/>
                    </a:cubicBezTo>
                    <a:cubicBezTo>
                      <a:pt x="170" y="51"/>
                      <a:pt x="214" y="32"/>
                      <a:pt x="24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5" name="Freeform 26"/>
              <p:cNvSpPr>
                <a:spLocks/>
              </p:cNvSpPr>
              <p:nvPr/>
            </p:nvSpPr>
            <p:spPr bwMode="auto">
              <a:xfrm>
                <a:off x="3709988" y="930276"/>
                <a:ext cx="188912" cy="928688"/>
              </a:xfrm>
              <a:custGeom>
                <a:avLst/>
                <a:gdLst>
                  <a:gd name="T0" fmla="*/ 48 w 50"/>
                  <a:gd name="T1" fmla="*/ 246 h 246"/>
                  <a:gd name="T2" fmla="*/ 50 w 50"/>
                  <a:gd name="T3" fmla="*/ 244 h 246"/>
                  <a:gd name="T4" fmla="*/ 2 w 50"/>
                  <a:gd name="T5" fmla="*/ 123 h 246"/>
                  <a:gd name="T6" fmla="*/ 50 w 50"/>
                  <a:gd name="T7" fmla="*/ 2 h 246"/>
                  <a:gd name="T8" fmla="*/ 48 w 50"/>
                  <a:gd name="T9" fmla="*/ 0 h 246"/>
                  <a:gd name="T10" fmla="*/ 0 w 50"/>
                  <a:gd name="T11" fmla="*/ 123 h 246"/>
                  <a:gd name="T12" fmla="*/ 48 w 50"/>
                  <a:gd name="T13" fmla="*/ 246 h 246"/>
                </a:gdLst>
                <a:ahLst/>
                <a:cxnLst>
                  <a:cxn ang="0">
                    <a:pos x="T0" y="T1"/>
                  </a:cxn>
                  <a:cxn ang="0">
                    <a:pos x="T2" y="T3"/>
                  </a:cxn>
                  <a:cxn ang="0">
                    <a:pos x="T4" y="T5"/>
                  </a:cxn>
                  <a:cxn ang="0">
                    <a:pos x="T6" y="T7"/>
                  </a:cxn>
                  <a:cxn ang="0">
                    <a:pos x="T8" y="T9"/>
                  </a:cxn>
                  <a:cxn ang="0">
                    <a:pos x="T10" y="T11"/>
                  </a:cxn>
                  <a:cxn ang="0">
                    <a:pos x="T12" y="T13"/>
                  </a:cxn>
                </a:cxnLst>
                <a:rect l="0" t="0" r="r" b="b"/>
                <a:pathLst>
                  <a:path w="50" h="246">
                    <a:moveTo>
                      <a:pt x="48" y="246"/>
                    </a:moveTo>
                    <a:cubicBezTo>
                      <a:pt x="50" y="244"/>
                      <a:pt x="50" y="244"/>
                      <a:pt x="50" y="244"/>
                    </a:cubicBezTo>
                    <a:cubicBezTo>
                      <a:pt x="20" y="212"/>
                      <a:pt x="2" y="170"/>
                      <a:pt x="2" y="123"/>
                    </a:cubicBezTo>
                    <a:cubicBezTo>
                      <a:pt x="2" y="77"/>
                      <a:pt x="20" y="34"/>
                      <a:pt x="50" y="2"/>
                    </a:cubicBezTo>
                    <a:cubicBezTo>
                      <a:pt x="48" y="0"/>
                      <a:pt x="48" y="0"/>
                      <a:pt x="48" y="0"/>
                    </a:cubicBezTo>
                    <a:cubicBezTo>
                      <a:pt x="18" y="32"/>
                      <a:pt x="0" y="76"/>
                      <a:pt x="0" y="123"/>
                    </a:cubicBezTo>
                    <a:cubicBezTo>
                      <a:pt x="0" y="171"/>
                      <a:pt x="18" y="214"/>
                      <a:pt x="48" y="2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6" name="Freeform 27"/>
              <p:cNvSpPr>
                <a:spLocks/>
              </p:cNvSpPr>
              <p:nvPr/>
            </p:nvSpPr>
            <p:spPr bwMode="auto">
              <a:xfrm>
                <a:off x="3895725" y="1905001"/>
                <a:ext cx="985837" cy="230188"/>
              </a:xfrm>
              <a:custGeom>
                <a:avLst/>
                <a:gdLst>
                  <a:gd name="T0" fmla="*/ 261 w 261"/>
                  <a:gd name="T1" fmla="*/ 11 h 61"/>
                  <a:gd name="T2" fmla="*/ 258 w 261"/>
                  <a:gd name="T3" fmla="*/ 0 h 61"/>
                  <a:gd name="T4" fmla="*/ 131 w 261"/>
                  <a:gd name="T5" fmla="*/ 50 h 61"/>
                  <a:gd name="T6" fmla="*/ 4 w 261"/>
                  <a:gd name="T7" fmla="*/ 0 h 61"/>
                  <a:gd name="T8" fmla="*/ 0 w 261"/>
                  <a:gd name="T9" fmla="*/ 11 h 61"/>
                  <a:gd name="T10" fmla="*/ 131 w 261"/>
                  <a:gd name="T11" fmla="*/ 61 h 61"/>
                  <a:gd name="T12" fmla="*/ 261 w 261"/>
                  <a:gd name="T13" fmla="*/ 11 h 61"/>
                </a:gdLst>
                <a:ahLst/>
                <a:cxnLst>
                  <a:cxn ang="0">
                    <a:pos x="T0" y="T1"/>
                  </a:cxn>
                  <a:cxn ang="0">
                    <a:pos x="T2" y="T3"/>
                  </a:cxn>
                  <a:cxn ang="0">
                    <a:pos x="T4" y="T5"/>
                  </a:cxn>
                  <a:cxn ang="0">
                    <a:pos x="T6" y="T7"/>
                  </a:cxn>
                  <a:cxn ang="0">
                    <a:pos x="T8" y="T9"/>
                  </a:cxn>
                  <a:cxn ang="0">
                    <a:pos x="T10" y="T11"/>
                  </a:cxn>
                  <a:cxn ang="0">
                    <a:pos x="T12" y="T13"/>
                  </a:cxn>
                </a:cxnLst>
                <a:rect l="0" t="0" r="r" b="b"/>
                <a:pathLst>
                  <a:path w="261" h="61">
                    <a:moveTo>
                      <a:pt x="261" y="11"/>
                    </a:moveTo>
                    <a:cubicBezTo>
                      <a:pt x="258" y="0"/>
                      <a:pt x="258" y="0"/>
                      <a:pt x="258" y="0"/>
                    </a:cubicBezTo>
                    <a:cubicBezTo>
                      <a:pt x="224" y="31"/>
                      <a:pt x="180" y="50"/>
                      <a:pt x="131" y="50"/>
                    </a:cubicBezTo>
                    <a:cubicBezTo>
                      <a:pt x="82" y="50"/>
                      <a:pt x="37" y="31"/>
                      <a:pt x="4" y="0"/>
                    </a:cubicBezTo>
                    <a:cubicBezTo>
                      <a:pt x="0" y="11"/>
                      <a:pt x="0" y="11"/>
                      <a:pt x="0" y="11"/>
                    </a:cubicBezTo>
                    <a:cubicBezTo>
                      <a:pt x="36" y="43"/>
                      <a:pt x="82" y="61"/>
                      <a:pt x="131" y="61"/>
                    </a:cubicBezTo>
                    <a:cubicBezTo>
                      <a:pt x="180" y="61"/>
                      <a:pt x="226" y="43"/>
                      <a:pt x="26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7" name="Freeform 28"/>
              <p:cNvSpPr>
                <a:spLocks/>
              </p:cNvSpPr>
              <p:nvPr/>
            </p:nvSpPr>
            <p:spPr bwMode="auto">
              <a:xfrm>
                <a:off x="4897438" y="904876"/>
                <a:ext cx="230187" cy="984250"/>
              </a:xfrm>
              <a:custGeom>
                <a:avLst/>
                <a:gdLst>
                  <a:gd name="T0" fmla="*/ 0 w 61"/>
                  <a:gd name="T1" fmla="*/ 3 h 261"/>
                  <a:gd name="T2" fmla="*/ 51 w 61"/>
                  <a:gd name="T3" fmla="*/ 130 h 261"/>
                  <a:gd name="T4" fmla="*/ 0 w 61"/>
                  <a:gd name="T5" fmla="*/ 258 h 261"/>
                  <a:gd name="T6" fmla="*/ 11 w 61"/>
                  <a:gd name="T7" fmla="*/ 261 h 261"/>
                  <a:gd name="T8" fmla="*/ 61 w 61"/>
                  <a:gd name="T9" fmla="*/ 130 h 261"/>
                  <a:gd name="T10" fmla="*/ 11 w 61"/>
                  <a:gd name="T11" fmla="*/ 0 h 261"/>
                  <a:gd name="T12" fmla="*/ 0 w 61"/>
                  <a:gd name="T13" fmla="*/ 3 h 261"/>
                </a:gdLst>
                <a:ahLst/>
                <a:cxnLst>
                  <a:cxn ang="0">
                    <a:pos x="T0" y="T1"/>
                  </a:cxn>
                  <a:cxn ang="0">
                    <a:pos x="T2" y="T3"/>
                  </a:cxn>
                  <a:cxn ang="0">
                    <a:pos x="T4" y="T5"/>
                  </a:cxn>
                  <a:cxn ang="0">
                    <a:pos x="T6" y="T7"/>
                  </a:cxn>
                  <a:cxn ang="0">
                    <a:pos x="T8" y="T9"/>
                  </a:cxn>
                  <a:cxn ang="0">
                    <a:pos x="T10" y="T11"/>
                  </a:cxn>
                  <a:cxn ang="0">
                    <a:pos x="T12" y="T13"/>
                  </a:cxn>
                </a:cxnLst>
                <a:rect l="0" t="0" r="r" b="b"/>
                <a:pathLst>
                  <a:path w="61" h="261">
                    <a:moveTo>
                      <a:pt x="0" y="3"/>
                    </a:moveTo>
                    <a:cubicBezTo>
                      <a:pt x="32" y="37"/>
                      <a:pt x="51" y="81"/>
                      <a:pt x="51" y="130"/>
                    </a:cubicBezTo>
                    <a:cubicBezTo>
                      <a:pt x="51" y="180"/>
                      <a:pt x="32" y="224"/>
                      <a:pt x="0" y="258"/>
                    </a:cubicBezTo>
                    <a:cubicBezTo>
                      <a:pt x="11" y="261"/>
                      <a:pt x="11" y="261"/>
                      <a:pt x="11" y="261"/>
                    </a:cubicBezTo>
                    <a:cubicBezTo>
                      <a:pt x="44" y="225"/>
                      <a:pt x="61" y="179"/>
                      <a:pt x="61" y="130"/>
                    </a:cubicBezTo>
                    <a:cubicBezTo>
                      <a:pt x="61" y="82"/>
                      <a:pt x="44" y="36"/>
                      <a:pt x="11" y="0"/>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8" name="Freeform 29"/>
              <p:cNvSpPr>
                <a:spLocks/>
              </p:cNvSpPr>
              <p:nvPr/>
            </p:nvSpPr>
            <p:spPr bwMode="auto">
              <a:xfrm>
                <a:off x="3649663" y="900113"/>
                <a:ext cx="234950" cy="989013"/>
              </a:xfrm>
              <a:custGeom>
                <a:avLst/>
                <a:gdLst>
                  <a:gd name="T0" fmla="*/ 61 w 62"/>
                  <a:gd name="T1" fmla="*/ 258 h 262"/>
                  <a:gd name="T2" fmla="*/ 11 w 62"/>
                  <a:gd name="T3" fmla="*/ 131 h 262"/>
                  <a:gd name="T4" fmla="*/ 62 w 62"/>
                  <a:gd name="T5" fmla="*/ 4 h 262"/>
                  <a:gd name="T6" fmla="*/ 50 w 62"/>
                  <a:gd name="T7" fmla="*/ 0 h 262"/>
                  <a:gd name="T8" fmla="*/ 0 w 62"/>
                  <a:gd name="T9" fmla="*/ 131 h 262"/>
                  <a:gd name="T10" fmla="*/ 50 w 62"/>
                  <a:gd name="T11" fmla="*/ 262 h 262"/>
                  <a:gd name="T12" fmla="*/ 61 w 62"/>
                  <a:gd name="T13" fmla="*/ 258 h 262"/>
                </a:gdLst>
                <a:ahLst/>
                <a:cxnLst>
                  <a:cxn ang="0">
                    <a:pos x="T0" y="T1"/>
                  </a:cxn>
                  <a:cxn ang="0">
                    <a:pos x="T2" y="T3"/>
                  </a:cxn>
                  <a:cxn ang="0">
                    <a:pos x="T4" y="T5"/>
                  </a:cxn>
                  <a:cxn ang="0">
                    <a:pos x="T6" y="T7"/>
                  </a:cxn>
                  <a:cxn ang="0">
                    <a:pos x="T8" y="T9"/>
                  </a:cxn>
                  <a:cxn ang="0">
                    <a:pos x="T10" y="T11"/>
                  </a:cxn>
                  <a:cxn ang="0">
                    <a:pos x="T12" y="T13"/>
                  </a:cxn>
                </a:cxnLst>
                <a:rect l="0" t="0" r="r" b="b"/>
                <a:pathLst>
                  <a:path w="62" h="262">
                    <a:moveTo>
                      <a:pt x="61" y="258"/>
                    </a:moveTo>
                    <a:cubicBezTo>
                      <a:pt x="30" y="225"/>
                      <a:pt x="11" y="180"/>
                      <a:pt x="11" y="131"/>
                    </a:cubicBezTo>
                    <a:cubicBezTo>
                      <a:pt x="11" y="82"/>
                      <a:pt x="30" y="37"/>
                      <a:pt x="62" y="4"/>
                    </a:cubicBezTo>
                    <a:cubicBezTo>
                      <a:pt x="50" y="0"/>
                      <a:pt x="50" y="0"/>
                      <a:pt x="50" y="0"/>
                    </a:cubicBezTo>
                    <a:cubicBezTo>
                      <a:pt x="18" y="36"/>
                      <a:pt x="0" y="83"/>
                      <a:pt x="0" y="131"/>
                    </a:cubicBezTo>
                    <a:cubicBezTo>
                      <a:pt x="0" y="180"/>
                      <a:pt x="18" y="226"/>
                      <a:pt x="50" y="262"/>
                    </a:cubicBezTo>
                    <a:lnTo>
                      <a:pt x="61" y="2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79" name="Freeform 30"/>
              <p:cNvSpPr>
                <a:spLocks/>
              </p:cNvSpPr>
              <p:nvPr/>
            </p:nvSpPr>
            <p:spPr bwMode="auto">
              <a:xfrm>
                <a:off x="3895725" y="658813"/>
                <a:ext cx="989012" cy="230188"/>
              </a:xfrm>
              <a:custGeom>
                <a:avLst/>
                <a:gdLst>
                  <a:gd name="T0" fmla="*/ 4 w 262"/>
                  <a:gd name="T1" fmla="*/ 61 h 61"/>
                  <a:gd name="T2" fmla="*/ 131 w 262"/>
                  <a:gd name="T3" fmla="*/ 10 h 61"/>
                  <a:gd name="T4" fmla="*/ 258 w 262"/>
                  <a:gd name="T5" fmla="*/ 61 h 61"/>
                  <a:gd name="T6" fmla="*/ 262 w 262"/>
                  <a:gd name="T7" fmla="*/ 50 h 61"/>
                  <a:gd name="T8" fmla="*/ 131 w 262"/>
                  <a:gd name="T9" fmla="*/ 0 h 61"/>
                  <a:gd name="T10" fmla="*/ 0 w 262"/>
                  <a:gd name="T11" fmla="*/ 50 h 61"/>
                  <a:gd name="T12" fmla="*/ 4 w 262"/>
                  <a:gd name="T13" fmla="*/ 61 h 61"/>
                </a:gdLst>
                <a:ahLst/>
                <a:cxnLst>
                  <a:cxn ang="0">
                    <a:pos x="T0" y="T1"/>
                  </a:cxn>
                  <a:cxn ang="0">
                    <a:pos x="T2" y="T3"/>
                  </a:cxn>
                  <a:cxn ang="0">
                    <a:pos x="T4" y="T5"/>
                  </a:cxn>
                  <a:cxn ang="0">
                    <a:pos x="T6" y="T7"/>
                  </a:cxn>
                  <a:cxn ang="0">
                    <a:pos x="T8" y="T9"/>
                  </a:cxn>
                  <a:cxn ang="0">
                    <a:pos x="T10" y="T11"/>
                  </a:cxn>
                  <a:cxn ang="0">
                    <a:pos x="T12" y="T13"/>
                  </a:cxn>
                </a:cxnLst>
                <a:rect l="0" t="0" r="r" b="b"/>
                <a:pathLst>
                  <a:path w="262" h="61">
                    <a:moveTo>
                      <a:pt x="4" y="61"/>
                    </a:moveTo>
                    <a:cubicBezTo>
                      <a:pt x="37" y="29"/>
                      <a:pt x="82" y="10"/>
                      <a:pt x="131" y="10"/>
                    </a:cubicBezTo>
                    <a:cubicBezTo>
                      <a:pt x="180" y="10"/>
                      <a:pt x="225" y="30"/>
                      <a:pt x="258" y="61"/>
                    </a:cubicBezTo>
                    <a:cubicBezTo>
                      <a:pt x="262" y="50"/>
                      <a:pt x="262" y="50"/>
                      <a:pt x="262" y="50"/>
                    </a:cubicBezTo>
                    <a:cubicBezTo>
                      <a:pt x="226" y="17"/>
                      <a:pt x="180" y="0"/>
                      <a:pt x="131" y="0"/>
                    </a:cubicBezTo>
                    <a:cubicBezTo>
                      <a:pt x="82" y="0"/>
                      <a:pt x="36" y="17"/>
                      <a:pt x="0" y="50"/>
                    </a:cubicBezTo>
                    <a:lnTo>
                      <a:pt x="4"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80" name="Freeform 31"/>
              <p:cNvSpPr>
                <a:spLocks noEditPoints="1"/>
              </p:cNvSpPr>
              <p:nvPr/>
            </p:nvSpPr>
            <p:spPr bwMode="auto">
              <a:xfrm>
                <a:off x="3941763" y="2025651"/>
                <a:ext cx="981075" cy="244475"/>
              </a:xfrm>
              <a:custGeom>
                <a:avLst/>
                <a:gdLst>
                  <a:gd name="T0" fmla="*/ 28 w 618"/>
                  <a:gd name="T1" fmla="*/ 33 h 154"/>
                  <a:gd name="T2" fmla="*/ 21 w 618"/>
                  <a:gd name="T3" fmla="*/ 90 h 154"/>
                  <a:gd name="T4" fmla="*/ 23 w 618"/>
                  <a:gd name="T5" fmla="*/ 90 h 154"/>
                  <a:gd name="T6" fmla="*/ 69 w 618"/>
                  <a:gd name="T7" fmla="*/ 55 h 154"/>
                  <a:gd name="T8" fmla="*/ 45 w 618"/>
                  <a:gd name="T9" fmla="*/ 102 h 154"/>
                  <a:gd name="T10" fmla="*/ 90 w 618"/>
                  <a:gd name="T11" fmla="*/ 64 h 154"/>
                  <a:gd name="T12" fmla="*/ 92 w 618"/>
                  <a:gd name="T13" fmla="*/ 121 h 154"/>
                  <a:gd name="T14" fmla="*/ 95 w 618"/>
                  <a:gd name="T15" fmla="*/ 124 h 154"/>
                  <a:gd name="T16" fmla="*/ 133 w 618"/>
                  <a:gd name="T17" fmla="*/ 81 h 154"/>
                  <a:gd name="T18" fmla="*/ 118 w 618"/>
                  <a:gd name="T19" fmla="*/ 131 h 154"/>
                  <a:gd name="T20" fmla="*/ 159 w 618"/>
                  <a:gd name="T21" fmla="*/ 88 h 154"/>
                  <a:gd name="T22" fmla="*/ 168 w 618"/>
                  <a:gd name="T23" fmla="*/ 143 h 154"/>
                  <a:gd name="T24" fmla="*/ 171 w 618"/>
                  <a:gd name="T25" fmla="*/ 145 h 154"/>
                  <a:gd name="T26" fmla="*/ 204 w 618"/>
                  <a:gd name="T27" fmla="*/ 97 h 154"/>
                  <a:gd name="T28" fmla="*/ 195 w 618"/>
                  <a:gd name="T29" fmla="*/ 147 h 154"/>
                  <a:gd name="T30" fmla="*/ 228 w 618"/>
                  <a:gd name="T31" fmla="*/ 100 h 154"/>
                  <a:gd name="T32" fmla="*/ 247 w 618"/>
                  <a:gd name="T33" fmla="*/ 154 h 154"/>
                  <a:gd name="T34" fmla="*/ 249 w 618"/>
                  <a:gd name="T35" fmla="*/ 154 h 154"/>
                  <a:gd name="T36" fmla="*/ 273 w 618"/>
                  <a:gd name="T37" fmla="*/ 102 h 154"/>
                  <a:gd name="T38" fmla="*/ 273 w 618"/>
                  <a:gd name="T39" fmla="*/ 154 h 154"/>
                  <a:gd name="T40" fmla="*/ 302 w 618"/>
                  <a:gd name="T41" fmla="*/ 154 h 154"/>
                  <a:gd name="T42" fmla="*/ 321 w 618"/>
                  <a:gd name="T43" fmla="*/ 102 h 154"/>
                  <a:gd name="T44" fmla="*/ 325 w 618"/>
                  <a:gd name="T45" fmla="*/ 152 h 154"/>
                  <a:gd name="T46" fmla="*/ 347 w 618"/>
                  <a:gd name="T47" fmla="*/ 100 h 154"/>
                  <a:gd name="T48" fmla="*/ 345 w 618"/>
                  <a:gd name="T49" fmla="*/ 100 h 154"/>
                  <a:gd name="T50" fmla="*/ 380 w 618"/>
                  <a:gd name="T51" fmla="*/ 147 h 154"/>
                  <a:gd name="T52" fmla="*/ 392 w 618"/>
                  <a:gd name="T53" fmla="*/ 90 h 154"/>
                  <a:gd name="T54" fmla="*/ 404 w 618"/>
                  <a:gd name="T55" fmla="*/ 143 h 154"/>
                  <a:gd name="T56" fmla="*/ 418 w 618"/>
                  <a:gd name="T57" fmla="*/ 86 h 154"/>
                  <a:gd name="T58" fmla="*/ 416 w 618"/>
                  <a:gd name="T59" fmla="*/ 86 h 154"/>
                  <a:gd name="T60" fmla="*/ 456 w 618"/>
                  <a:gd name="T61" fmla="*/ 126 h 154"/>
                  <a:gd name="T62" fmla="*/ 461 w 618"/>
                  <a:gd name="T63" fmla="*/ 71 h 154"/>
                  <a:gd name="T64" fmla="*/ 480 w 618"/>
                  <a:gd name="T65" fmla="*/ 119 h 154"/>
                  <a:gd name="T66" fmla="*/ 485 w 618"/>
                  <a:gd name="T67" fmla="*/ 59 h 154"/>
                  <a:gd name="T68" fmla="*/ 483 w 618"/>
                  <a:gd name="T69" fmla="*/ 62 h 154"/>
                  <a:gd name="T70" fmla="*/ 530 w 618"/>
                  <a:gd name="T71" fmla="*/ 97 h 154"/>
                  <a:gd name="T72" fmla="*/ 525 w 618"/>
                  <a:gd name="T73" fmla="*/ 40 h 154"/>
                  <a:gd name="T74" fmla="*/ 552 w 618"/>
                  <a:gd name="T75" fmla="*/ 86 h 154"/>
                  <a:gd name="T76" fmla="*/ 547 w 618"/>
                  <a:gd name="T77" fmla="*/ 26 h 154"/>
                  <a:gd name="T78" fmla="*/ 544 w 618"/>
                  <a:gd name="T79" fmla="*/ 28 h 154"/>
                  <a:gd name="T80" fmla="*/ 597 w 618"/>
                  <a:gd name="T81" fmla="*/ 57 h 154"/>
                  <a:gd name="T82" fmla="*/ 585 w 618"/>
                  <a:gd name="T83" fmla="*/ 0 h 154"/>
                  <a:gd name="T84" fmla="*/ 616 w 618"/>
                  <a:gd name="T85" fmla="*/ 4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8" h="154">
                    <a:moveTo>
                      <a:pt x="0" y="76"/>
                    </a:moveTo>
                    <a:lnTo>
                      <a:pt x="26" y="33"/>
                    </a:lnTo>
                    <a:lnTo>
                      <a:pt x="28" y="33"/>
                    </a:lnTo>
                    <a:lnTo>
                      <a:pt x="0" y="78"/>
                    </a:lnTo>
                    <a:lnTo>
                      <a:pt x="0" y="76"/>
                    </a:lnTo>
                    <a:close/>
                    <a:moveTo>
                      <a:pt x="21" y="90"/>
                    </a:moveTo>
                    <a:lnTo>
                      <a:pt x="47" y="43"/>
                    </a:lnTo>
                    <a:lnTo>
                      <a:pt x="47" y="45"/>
                    </a:lnTo>
                    <a:lnTo>
                      <a:pt x="23" y="90"/>
                    </a:lnTo>
                    <a:lnTo>
                      <a:pt x="21" y="90"/>
                    </a:lnTo>
                    <a:close/>
                    <a:moveTo>
                      <a:pt x="45" y="102"/>
                    </a:moveTo>
                    <a:lnTo>
                      <a:pt x="69" y="55"/>
                    </a:lnTo>
                    <a:lnTo>
                      <a:pt x="69" y="55"/>
                    </a:lnTo>
                    <a:lnTo>
                      <a:pt x="47" y="102"/>
                    </a:lnTo>
                    <a:lnTo>
                      <a:pt x="45" y="102"/>
                    </a:lnTo>
                    <a:close/>
                    <a:moveTo>
                      <a:pt x="69" y="112"/>
                    </a:moveTo>
                    <a:lnTo>
                      <a:pt x="90" y="64"/>
                    </a:lnTo>
                    <a:lnTo>
                      <a:pt x="90" y="64"/>
                    </a:lnTo>
                    <a:lnTo>
                      <a:pt x="71" y="114"/>
                    </a:lnTo>
                    <a:lnTo>
                      <a:pt x="69" y="112"/>
                    </a:lnTo>
                    <a:close/>
                    <a:moveTo>
                      <a:pt x="92" y="121"/>
                    </a:moveTo>
                    <a:lnTo>
                      <a:pt x="111" y="74"/>
                    </a:lnTo>
                    <a:lnTo>
                      <a:pt x="114" y="74"/>
                    </a:lnTo>
                    <a:lnTo>
                      <a:pt x="95" y="124"/>
                    </a:lnTo>
                    <a:lnTo>
                      <a:pt x="92" y="121"/>
                    </a:lnTo>
                    <a:close/>
                    <a:moveTo>
                      <a:pt x="118" y="131"/>
                    </a:moveTo>
                    <a:lnTo>
                      <a:pt x="133" y="81"/>
                    </a:lnTo>
                    <a:lnTo>
                      <a:pt x="135" y="81"/>
                    </a:lnTo>
                    <a:lnTo>
                      <a:pt x="121" y="131"/>
                    </a:lnTo>
                    <a:lnTo>
                      <a:pt x="118" y="131"/>
                    </a:lnTo>
                    <a:close/>
                    <a:moveTo>
                      <a:pt x="145" y="138"/>
                    </a:moveTo>
                    <a:lnTo>
                      <a:pt x="157" y="88"/>
                    </a:lnTo>
                    <a:lnTo>
                      <a:pt x="159" y="88"/>
                    </a:lnTo>
                    <a:lnTo>
                      <a:pt x="145" y="138"/>
                    </a:lnTo>
                    <a:lnTo>
                      <a:pt x="145" y="138"/>
                    </a:lnTo>
                    <a:close/>
                    <a:moveTo>
                      <a:pt x="168" y="143"/>
                    </a:moveTo>
                    <a:lnTo>
                      <a:pt x="180" y="93"/>
                    </a:lnTo>
                    <a:lnTo>
                      <a:pt x="183" y="93"/>
                    </a:lnTo>
                    <a:lnTo>
                      <a:pt x="171" y="145"/>
                    </a:lnTo>
                    <a:lnTo>
                      <a:pt x="168" y="143"/>
                    </a:lnTo>
                    <a:close/>
                    <a:moveTo>
                      <a:pt x="195" y="147"/>
                    </a:moveTo>
                    <a:lnTo>
                      <a:pt x="204" y="97"/>
                    </a:lnTo>
                    <a:lnTo>
                      <a:pt x="204" y="97"/>
                    </a:lnTo>
                    <a:lnTo>
                      <a:pt x="197" y="147"/>
                    </a:lnTo>
                    <a:lnTo>
                      <a:pt x="195" y="147"/>
                    </a:lnTo>
                    <a:close/>
                    <a:moveTo>
                      <a:pt x="221" y="152"/>
                    </a:moveTo>
                    <a:lnTo>
                      <a:pt x="228" y="100"/>
                    </a:lnTo>
                    <a:lnTo>
                      <a:pt x="228" y="100"/>
                    </a:lnTo>
                    <a:lnTo>
                      <a:pt x="223" y="152"/>
                    </a:lnTo>
                    <a:lnTo>
                      <a:pt x="221" y="152"/>
                    </a:lnTo>
                    <a:close/>
                    <a:moveTo>
                      <a:pt x="247" y="154"/>
                    </a:moveTo>
                    <a:lnTo>
                      <a:pt x="249" y="102"/>
                    </a:lnTo>
                    <a:lnTo>
                      <a:pt x="252" y="102"/>
                    </a:lnTo>
                    <a:lnTo>
                      <a:pt x="249" y="154"/>
                    </a:lnTo>
                    <a:lnTo>
                      <a:pt x="247" y="154"/>
                    </a:lnTo>
                    <a:close/>
                    <a:moveTo>
                      <a:pt x="273" y="154"/>
                    </a:moveTo>
                    <a:lnTo>
                      <a:pt x="273" y="102"/>
                    </a:lnTo>
                    <a:lnTo>
                      <a:pt x="276" y="102"/>
                    </a:lnTo>
                    <a:lnTo>
                      <a:pt x="276" y="154"/>
                    </a:lnTo>
                    <a:lnTo>
                      <a:pt x="273" y="154"/>
                    </a:lnTo>
                    <a:close/>
                    <a:moveTo>
                      <a:pt x="297" y="102"/>
                    </a:moveTo>
                    <a:lnTo>
                      <a:pt x="299" y="102"/>
                    </a:lnTo>
                    <a:lnTo>
                      <a:pt x="302" y="154"/>
                    </a:lnTo>
                    <a:lnTo>
                      <a:pt x="299" y="154"/>
                    </a:lnTo>
                    <a:lnTo>
                      <a:pt x="297" y="102"/>
                    </a:lnTo>
                    <a:close/>
                    <a:moveTo>
                      <a:pt x="321" y="102"/>
                    </a:moveTo>
                    <a:lnTo>
                      <a:pt x="323" y="102"/>
                    </a:lnTo>
                    <a:lnTo>
                      <a:pt x="328" y="152"/>
                    </a:lnTo>
                    <a:lnTo>
                      <a:pt x="325" y="152"/>
                    </a:lnTo>
                    <a:lnTo>
                      <a:pt x="321" y="102"/>
                    </a:lnTo>
                    <a:close/>
                    <a:moveTo>
                      <a:pt x="345" y="100"/>
                    </a:moveTo>
                    <a:lnTo>
                      <a:pt x="347" y="100"/>
                    </a:lnTo>
                    <a:lnTo>
                      <a:pt x="354" y="150"/>
                    </a:lnTo>
                    <a:lnTo>
                      <a:pt x="352" y="150"/>
                    </a:lnTo>
                    <a:lnTo>
                      <a:pt x="345" y="100"/>
                    </a:lnTo>
                    <a:close/>
                    <a:moveTo>
                      <a:pt x="368" y="95"/>
                    </a:moveTo>
                    <a:lnTo>
                      <a:pt x="371" y="95"/>
                    </a:lnTo>
                    <a:lnTo>
                      <a:pt x="380" y="147"/>
                    </a:lnTo>
                    <a:lnTo>
                      <a:pt x="378" y="147"/>
                    </a:lnTo>
                    <a:lnTo>
                      <a:pt x="368" y="95"/>
                    </a:lnTo>
                    <a:close/>
                    <a:moveTo>
                      <a:pt x="392" y="90"/>
                    </a:moveTo>
                    <a:lnTo>
                      <a:pt x="394" y="90"/>
                    </a:lnTo>
                    <a:lnTo>
                      <a:pt x="406" y="140"/>
                    </a:lnTo>
                    <a:lnTo>
                      <a:pt x="404" y="143"/>
                    </a:lnTo>
                    <a:lnTo>
                      <a:pt x="392" y="90"/>
                    </a:lnTo>
                    <a:close/>
                    <a:moveTo>
                      <a:pt x="416" y="86"/>
                    </a:moveTo>
                    <a:lnTo>
                      <a:pt x="418" y="86"/>
                    </a:lnTo>
                    <a:lnTo>
                      <a:pt x="430" y="135"/>
                    </a:lnTo>
                    <a:lnTo>
                      <a:pt x="430" y="135"/>
                    </a:lnTo>
                    <a:lnTo>
                      <a:pt x="416" y="86"/>
                    </a:lnTo>
                    <a:close/>
                    <a:moveTo>
                      <a:pt x="437" y="78"/>
                    </a:moveTo>
                    <a:lnTo>
                      <a:pt x="440" y="78"/>
                    </a:lnTo>
                    <a:lnTo>
                      <a:pt x="456" y="126"/>
                    </a:lnTo>
                    <a:lnTo>
                      <a:pt x="454" y="128"/>
                    </a:lnTo>
                    <a:lnTo>
                      <a:pt x="437" y="78"/>
                    </a:lnTo>
                    <a:close/>
                    <a:moveTo>
                      <a:pt x="461" y="71"/>
                    </a:moveTo>
                    <a:lnTo>
                      <a:pt x="463" y="69"/>
                    </a:lnTo>
                    <a:lnTo>
                      <a:pt x="480" y="119"/>
                    </a:lnTo>
                    <a:lnTo>
                      <a:pt x="480" y="119"/>
                    </a:lnTo>
                    <a:lnTo>
                      <a:pt x="461" y="71"/>
                    </a:lnTo>
                    <a:close/>
                    <a:moveTo>
                      <a:pt x="483" y="62"/>
                    </a:moveTo>
                    <a:lnTo>
                      <a:pt x="485" y="59"/>
                    </a:lnTo>
                    <a:lnTo>
                      <a:pt x="506" y="107"/>
                    </a:lnTo>
                    <a:lnTo>
                      <a:pt x="504" y="109"/>
                    </a:lnTo>
                    <a:lnTo>
                      <a:pt x="483" y="62"/>
                    </a:lnTo>
                    <a:close/>
                    <a:moveTo>
                      <a:pt x="504" y="50"/>
                    </a:moveTo>
                    <a:lnTo>
                      <a:pt x="506" y="50"/>
                    </a:lnTo>
                    <a:lnTo>
                      <a:pt x="530" y="97"/>
                    </a:lnTo>
                    <a:lnTo>
                      <a:pt x="528" y="97"/>
                    </a:lnTo>
                    <a:lnTo>
                      <a:pt x="504" y="50"/>
                    </a:lnTo>
                    <a:close/>
                    <a:moveTo>
                      <a:pt x="525" y="40"/>
                    </a:moveTo>
                    <a:lnTo>
                      <a:pt x="528" y="38"/>
                    </a:lnTo>
                    <a:lnTo>
                      <a:pt x="552" y="86"/>
                    </a:lnTo>
                    <a:lnTo>
                      <a:pt x="552" y="86"/>
                    </a:lnTo>
                    <a:lnTo>
                      <a:pt x="525" y="40"/>
                    </a:lnTo>
                    <a:close/>
                    <a:moveTo>
                      <a:pt x="544" y="28"/>
                    </a:moveTo>
                    <a:lnTo>
                      <a:pt x="547" y="26"/>
                    </a:lnTo>
                    <a:lnTo>
                      <a:pt x="575" y="71"/>
                    </a:lnTo>
                    <a:lnTo>
                      <a:pt x="573" y="71"/>
                    </a:lnTo>
                    <a:lnTo>
                      <a:pt x="544" y="28"/>
                    </a:lnTo>
                    <a:close/>
                    <a:moveTo>
                      <a:pt x="566" y="14"/>
                    </a:moveTo>
                    <a:lnTo>
                      <a:pt x="568" y="14"/>
                    </a:lnTo>
                    <a:lnTo>
                      <a:pt x="597" y="57"/>
                    </a:lnTo>
                    <a:lnTo>
                      <a:pt x="594" y="57"/>
                    </a:lnTo>
                    <a:lnTo>
                      <a:pt x="566" y="14"/>
                    </a:lnTo>
                    <a:close/>
                    <a:moveTo>
                      <a:pt x="585" y="0"/>
                    </a:moveTo>
                    <a:lnTo>
                      <a:pt x="587" y="0"/>
                    </a:lnTo>
                    <a:lnTo>
                      <a:pt x="618" y="40"/>
                    </a:lnTo>
                    <a:lnTo>
                      <a:pt x="616" y="43"/>
                    </a:lnTo>
                    <a:lnTo>
                      <a:pt x="5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sp>
            <p:nvSpPr>
              <p:cNvPr id="81" name="Freeform 32"/>
              <p:cNvSpPr>
                <a:spLocks noEditPoints="1"/>
              </p:cNvSpPr>
              <p:nvPr/>
            </p:nvSpPr>
            <p:spPr bwMode="auto">
              <a:xfrm>
                <a:off x="3941763" y="519113"/>
                <a:ext cx="981075" cy="249238"/>
              </a:xfrm>
              <a:custGeom>
                <a:avLst/>
                <a:gdLst>
                  <a:gd name="T0" fmla="*/ 28 w 618"/>
                  <a:gd name="T1" fmla="*/ 124 h 157"/>
                  <a:gd name="T2" fmla="*/ 21 w 618"/>
                  <a:gd name="T3" fmla="*/ 67 h 157"/>
                  <a:gd name="T4" fmla="*/ 47 w 618"/>
                  <a:gd name="T5" fmla="*/ 112 h 157"/>
                  <a:gd name="T6" fmla="*/ 47 w 618"/>
                  <a:gd name="T7" fmla="*/ 52 h 157"/>
                  <a:gd name="T8" fmla="*/ 45 w 618"/>
                  <a:gd name="T9" fmla="*/ 55 h 157"/>
                  <a:gd name="T10" fmla="*/ 90 w 618"/>
                  <a:gd name="T11" fmla="*/ 90 h 157"/>
                  <a:gd name="T12" fmla="*/ 92 w 618"/>
                  <a:gd name="T13" fmla="*/ 33 h 157"/>
                  <a:gd name="T14" fmla="*/ 111 w 618"/>
                  <a:gd name="T15" fmla="*/ 83 h 157"/>
                  <a:gd name="T16" fmla="*/ 121 w 618"/>
                  <a:gd name="T17" fmla="*/ 26 h 157"/>
                  <a:gd name="T18" fmla="*/ 118 w 618"/>
                  <a:gd name="T19" fmla="*/ 26 h 157"/>
                  <a:gd name="T20" fmla="*/ 159 w 618"/>
                  <a:gd name="T21" fmla="*/ 69 h 157"/>
                  <a:gd name="T22" fmla="*/ 168 w 618"/>
                  <a:gd name="T23" fmla="*/ 12 h 157"/>
                  <a:gd name="T24" fmla="*/ 180 w 618"/>
                  <a:gd name="T25" fmla="*/ 64 h 157"/>
                  <a:gd name="T26" fmla="*/ 197 w 618"/>
                  <a:gd name="T27" fmla="*/ 7 h 157"/>
                  <a:gd name="T28" fmla="*/ 195 w 618"/>
                  <a:gd name="T29" fmla="*/ 7 h 157"/>
                  <a:gd name="T30" fmla="*/ 228 w 618"/>
                  <a:gd name="T31" fmla="*/ 57 h 157"/>
                  <a:gd name="T32" fmla="*/ 247 w 618"/>
                  <a:gd name="T33" fmla="*/ 2 h 157"/>
                  <a:gd name="T34" fmla="*/ 249 w 618"/>
                  <a:gd name="T35" fmla="*/ 55 h 157"/>
                  <a:gd name="T36" fmla="*/ 276 w 618"/>
                  <a:gd name="T37" fmla="*/ 0 h 157"/>
                  <a:gd name="T38" fmla="*/ 273 w 618"/>
                  <a:gd name="T39" fmla="*/ 0 h 157"/>
                  <a:gd name="T40" fmla="*/ 302 w 618"/>
                  <a:gd name="T41" fmla="*/ 2 h 157"/>
                  <a:gd name="T42" fmla="*/ 321 w 618"/>
                  <a:gd name="T43" fmla="*/ 55 h 157"/>
                  <a:gd name="T44" fmla="*/ 323 w 618"/>
                  <a:gd name="T45" fmla="*/ 55 h 157"/>
                  <a:gd name="T46" fmla="*/ 352 w 618"/>
                  <a:gd name="T47" fmla="*/ 5 h 157"/>
                  <a:gd name="T48" fmla="*/ 345 w 618"/>
                  <a:gd name="T49" fmla="*/ 57 h 157"/>
                  <a:gd name="T50" fmla="*/ 380 w 618"/>
                  <a:gd name="T51" fmla="*/ 9 h 157"/>
                  <a:gd name="T52" fmla="*/ 392 w 618"/>
                  <a:gd name="T53" fmla="*/ 64 h 157"/>
                  <a:gd name="T54" fmla="*/ 394 w 618"/>
                  <a:gd name="T55" fmla="*/ 67 h 157"/>
                  <a:gd name="T56" fmla="*/ 430 w 618"/>
                  <a:gd name="T57" fmla="*/ 21 h 157"/>
                  <a:gd name="T58" fmla="*/ 416 w 618"/>
                  <a:gd name="T59" fmla="*/ 71 h 157"/>
                  <a:gd name="T60" fmla="*/ 456 w 618"/>
                  <a:gd name="T61" fmla="*/ 28 h 157"/>
                  <a:gd name="T62" fmla="*/ 461 w 618"/>
                  <a:gd name="T63" fmla="*/ 86 h 157"/>
                  <a:gd name="T64" fmla="*/ 463 w 618"/>
                  <a:gd name="T65" fmla="*/ 86 h 157"/>
                  <a:gd name="T66" fmla="*/ 504 w 618"/>
                  <a:gd name="T67" fmla="*/ 47 h 157"/>
                  <a:gd name="T68" fmla="*/ 483 w 618"/>
                  <a:gd name="T69" fmla="*/ 95 h 157"/>
                  <a:gd name="T70" fmla="*/ 530 w 618"/>
                  <a:gd name="T71" fmla="*/ 59 h 157"/>
                  <a:gd name="T72" fmla="*/ 525 w 618"/>
                  <a:gd name="T73" fmla="*/ 116 h 157"/>
                  <a:gd name="T74" fmla="*/ 528 w 618"/>
                  <a:gd name="T75" fmla="*/ 116 h 157"/>
                  <a:gd name="T76" fmla="*/ 573 w 618"/>
                  <a:gd name="T77" fmla="*/ 83 h 157"/>
                  <a:gd name="T78" fmla="*/ 544 w 618"/>
                  <a:gd name="T79" fmla="*/ 128 h 157"/>
                  <a:gd name="T80" fmla="*/ 597 w 618"/>
                  <a:gd name="T81" fmla="*/ 100 h 157"/>
                  <a:gd name="T82" fmla="*/ 585 w 618"/>
                  <a:gd name="T83" fmla="*/ 155 h 157"/>
                  <a:gd name="T84" fmla="*/ 587 w 618"/>
                  <a:gd name="T8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8" h="157">
                    <a:moveTo>
                      <a:pt x="0" y="78"/>
                    </a:moveTo>
                    <a:lnTo>
                      <a:pt x="0" y="78"/>
                    </a:lnTo>
                    <a:lnTo>
                      <a:pt x="28" y="124"/>
                    </a:lnTo>
                    <a:lnTo>
                      <a:pt x="26" y="124"/>
                    </a:lnTo>
                    <a:lnTo>
                      <a:pt x="0" y="78"/>
                    </a:lnTo>
                    <a:close/>
                    <a:moveTo>
                      <a:pt x="21" y="67"/>
                    </a:moveTo>
                    <a:lnTo>
                      <a:pt x="23" y="64"/>
                    </a:lnTo>
                    <a:lnTo>
                      <a:pt x="47" y="112"/>
                    </a:lnTo>
                    <a:lnTo>
                      <a:pt x="47" y="112"/>
                    </a:lnTo>
                    <a:lnTo>
                      <a:pt x="21" y="67"/>
                    </a:lnTo>
                    <a:close/>
                    <a:moveTo>
                      <a:pt x="45" y="55"/>
                    </a:moveTo>
                    <a:lnTo>
                      <a:pt x="47" y="52"/>
                    </a:lnTo>
                    <a:lnTo>
                      <a:pt x="69" y="100"/>
                    </a:lnTo>
                    <a:lnTo>
                      <a:pt x="69" y="102"/>
                    </a:lnTo>
                    <a:lnTo>
                      <a:pt x="45" y="55"/>
                    </a:lnTo>
                    <a:close/>
                    <a:moveTo>
                      <a:pt x="69" y="43"/>
                    </a:moveTo>
                    <a:lnTo>
                      <a:pt x="71" y="43"/>
                    </a:lnTo>
                    <a:lnTo>
                      <a:pt x="90" y="90"/>
                    </a:lnTo>
                    <a:lnTo>
                      <a:pt x="90" y="93"/>
                    </a:lnTo>
                    <a:lnTo>
                      <a:pt x="69" y="43"/>
                    </a:lnTo>
                    <a:close/>
                    <a:moveTo>
                      <a:pt x="92" y="33"/>
                    </a:moveTo>
                    <a:lnTo>
                      <a:pt x="95" y="33"/>
                    </a:lnTo>
                    <a:lnTo>
                      <a:pt x="114" y="83"/>
                    </a:lnTo>
                    <a:lnTo>
                      <a:pt x="111" y="83"/>
                    </a:lnTo>
                    <a:lnTo>
                      <a:pt x="92" y="33"/>
                    </a:lnTo>
                    <a:close/>
                    <a:moveTo>
                      <a:pt x="118" y="26"/>
                    </a:moveTo>
                    <a:lnTo>
                      <a:pt x="121" y="26"/>
                    </a:lnTo>
                    <a:lnTo>
                      <a:pt x="135" y="76"/>
                    </a:lnTo>
                    <a:lnTo>
                      <a:pt x="133" y="76"/>
                    </a:lnTo>
                    <a:lnTo>
                      <a:pt x="118" y="26"/>
                    </a:lnTo>
                    <a:close/>
                    <a:moveTo>
                      <a:pt x="145" y="19"/>
                    </a:moveTo>
                    <a:lnTo>
                      <a:pt x="145" y="19"/>
                    </a:lnTo>
                    <a:lnTo>
                      <a:pt x="159" y="69"/>
                    </a:lnTo>
                    <a:lnTo>
                      <a:pt x="157" y="69"/>
                    </a:lnTo>
                    <a:lnTo>
                      <a:pt x="145" y="19"/>
                    </a:lnTo>
                    <a:close/>
                    <a:moveTo>
                      <a:pt x="168" y="12"/>
                    </a:moveTo>
                    <a:lnTo>
                      <a:pt x="171" y="12"/>
                    </a:lnTo>
                    <a:lnTo>
                      <a:pt x="183" y="64"/>
                    </a:lnTo>
                    <a:lnTo>
                      <a:pt x="180" y="64"/>
                    </a:lnTo>
                    <a:lnTo>
                      <a:pt x="168" y="12"/>
                    </a:lnTo>
                    <a:close/>
                    <a:moveTo>
                      <a:pt x="195" y="7"/>
                    </a:moveTo>
                    <a:lnTo>
                      <a:pt x="197" y="7"/>
                    </a:lnTo>
                    <a:lnTo>
                      <a:pt x="204" y="59"/>
                    </a:lnTo>
                    <a:lnTo>
                      <a:pt x="204" y="59"/>
                    </a:lnTo>
                    <a:lnTo>
                      <a:pt x="195" y="7"/>
                    </a:lnTo>
                    <a:close/>
                    <a:moveTo>
                      <a:pt x="221" y="5"/>
                    </a:moveTo>
                    <a:lnTo>
                      <a:pt x="223" y="5"/>
                    </a:lnTo>
                    <a:lnTo>
                      <a:pt x="228" y="57"/>
                    </a:lnTo>
                    <a:lnTo>
                      <a:pt x="228" y="57"/>
                    </a:lnTo>
                    <a:lnTo>
                      <a:pt x="221" y="5"/>
                    </a:lnTo>
                    <a:close/>
                    <a:moveTo>
                      <a:pt x="247" y="2"/>
                    </a:moveTo>
                    <a:lnTo>
                      <a:pt x="249" y="2"/>
                    </a:lnTo>
                    <a:lnTo>
                      <a:pt x="252" y="55"/>
                    </a:lnTo>
                    <a:lnTo>
                      <a:pt x="249" y="55"/>
                    </a:lnTo>
                    <a:lnTo>
                      <a:pt x="247" y="2"/>
                    </a:lnTo>
                    <a:close/>
                    <a:moveTo>
                      <a:pt x="273" y="0"/>
                    </a:moveTo>
                    <a:lnTo>
                      <a:pt x="276" y="0"/>
                    </a:lnTo>
                    <a:lnTo>
                      <a:pt x="276" y="52"/>
                    </a:lnTo>
                    <a:lnTo>
                      <a:pt x="273" y="52"/>
                    </a:lnTo>
                    <a:lnTo>
                      <a:pt x="273" y="0"/>
                    </a:lnTo>
                    <a:close/>
                    <a:moveTo>
                      <a:pt x="299" y="52"/>
                    </a:moveTo>
                    <a:lnTo>
                      <a:pt x="299" y="2"/>
                    </a:lnTo>
                    <a:lnTo>
                      <a:pt x="302" y="2"/>
                    </a:lnTo>
                    <a:lnTo>
                      <a:pt x="299" y="52"/>
                    </a:lnTo>
                    <a:lnTo>
                      <a:pt x="299" y="52"/>
                    </a:lnTo>
                    <a:close/>
                    <a:moveTo>
                      <a:pt x="321" y="55"/>
                    </a:moveTo>
                    <a:lnTo>
                      <a:pt x="325" y="2"/>
                    </a:lnTo>
                    <a:lnTo>
                      <a:pt x="328" y="2"/>
                    </a:lnTo>
                    <a:lnTo>
                      <a:pt x="323" y="55"/>
                    </a:lnTo>
                    <a:lnTo>
                      <a:pt x="321" y="55"/>
                    </a:lnTo>
                    <a:close/>
                    <a:moveTo>
                      <a:pt x="345" y="57"/>
                    </a:moveTo>
                    <a:lnTo>
                      <a:pt x="352" y="5"/>
                    </a:lnTo>
                    <a:lnTo>
                      <a:pt x="354" y="5"/>
                    </a:lnTo>
                    <a:lnTo>
                      <a:pt x="347" y="57"/>
                    </a:lnTo>
                    <a:lnTo>
                      <a:pt x="345" y="57"/>
                    </a:lnTo>
                    <a:close/>
                    <a:moveTo>
                      <a:pt x="368" y="62"/>
                    </a:moveTo>
                    <a:lnTo>
                      <a:pt x="378" y="9"/>
                    </a:lnTo>
                    <a:lnTo>
                      <a:pt x="380" y="9"/>
                    </a:lnTo>
                    <a:lnTo>
                      <a:pt x="371" y="62"/>
                    </a:lnTo>
                    <a:lnTo>
                      <a:pt x="368" y="62"/>
                    </a:lnTo>
                    <a:close/>
                    <a:moveTo>
                      <a:pt x="392" y="64"/>
                    </a:moveTo>
                    <a:lnTo>
                      <a:pt x="404" y="14"/>
                    </a:lnTo>
                    <a:lnTo>
                      <a:pt x="406" y="14"/>
                    </a:lnTo>
                    <a:lnTo>
                      <a:pt x="394" y="67"/>
                    </a:lnTo>
                    <a:lnTo>
                      <a:pt x="392" y="64"/>
                    </a:lnTo>
                    <a:close/>
                    <a:moveTo>
                      <a:pt x="416" y="71"/>
                    </a:moveTo>
                    <a:lnTo>
                      <a:pt x="430" y="21"/>
                    </a:lnTo>
                    <a:lnTo>
                      <a:pt x="430" y="21"/>
                    </a:lnTo>
                    <a:lnTo>
                      <a:pt x="418" y="71"/>
                    </a:lnTo>
                    <a:lnTo>
                      <a:pt x="416" y="71"/>
                    </a:lnTo>
                    <a:close/>
                    <a:moveTo>
                      <a:pt x="437" y="78"/>
                    </a:moveTo>
                    <a:lnTo>
                      <a:pt x="454" y="28"/>
                    </a:lnTo>
                    <a:lnTo>
                      <a:pt x="456" y="28"/>
                    </a:lnTo>
                    <a:lnTo>
                      <a:pt x="440" y="78"/>
                    </a:lnTo>
                    <a:lnTo>
                      <a:pt x="437" y="78"/>
                    </a:lnTo>
                    <a:close/>
                    <a:moveTo>
                      <a:pt x="461" y="86"/>
                    </a:moveTo>
                    <a:lnTo>
                      <a:pt x="480" y="38"/>
                    </a:lnTo>
                    <a:lnTo>
                      <a:pt x="480" y="38"/>
                    </a:lnTo>
                    <a:lnTo>
                      <a:pt x="463" y="86"/>
                    </a:lnTo>
                    <a:lnTo>
                      <a:pt x="461" y="86"/>
                    </a:lnTo>
                    <a:close/>
                    <a:moveTo>
                      <a:pt x="483" y="95"/>
                    </a:moveTo>
                    <a:lnTo>
                      <a:pt x="504" y="47"/>
                    </a:lnTo>
                    <a:lnTo>
                      <a:pt x="506" y="47"/>
                    </a:lnTo>
                    <a:lnTo>
                      <a:pt x="485" y="95"/>
                    </a:lnTo>
                    <a:lnTo>
                      <a:pt x="483" y="95"/>
                    </a:lnTo>
                    <a:close/>
                    <a:moveTo>
                      <a:pt x="504" y="105"/>
                    </a:moveTo>
                    <a:lnTo>
                      <a:pt x="528" y="59"/>
                    </a:lnTo>
                    <a:lnTo>
                      <a:pt x="530" y="59"/>
                    </a:lnTo>
                    <a:lnTo>
                      <a:pt x="506" y="107"/>
                    </a:lnTo>
                    <a:lnTo>
                      <a:pt x="504" y="105"/>
                    </a:lnTo>
                    <a:close/>
                    <a:moveTo>
                      <a:pt x="525" y="116"/>
                    </a:moveTo>
                    <a:lnTo>
                      <a:pt x="552" y="71"/>
                    </a:lnTo>
                    <a:lnTo>
                      <a:pt x="552" y="71"/>
                    </a:lnTo>
                    <a:lnTo>
                      <a:pt x="528" y="116"/>
                    </a:lnTo>
                    <a:lnTo>
                      <a:pt x="525" y="116"/>
                    </a:lnTo>
                    <a:close/>
                    <a:moveTo>
                      <a:pt x="544" y="128"/>
                    </a:moveTo>
                    <a:lnTo>
                      <a:pt x="573" y="83"/>
                    </a:lnTo>
                    <a:lnTo>
                      <a:pt x="575" y="86"/>
                    </a:lnTo>
                    <a:lnTo>
                      <a:pt x="547" y="128"/>
                    </a:lnTo>
                    <a:lnTo>
                      <a:pt x="544" y="128"/>
                    </a:lnTo>
                    <a:close/>
                    <a:moveTo>
                      <a:pt x="566" y="140"/>
                    </a:moveTo>
                    <a:lnTo>
                      <a:pt x="594" y="97"/>
                    </a:lnTo>
                    <a:lnTo>
                      <a:pt x="597" y="100"/>
                    </a:lnTo>
                    <a:lnTo>
                      <a:pt x="568" y="143"/>
                    </a:lnTo>
                    <a:lnTo>
                      <a:pt x="566" y="140"/>
                    </a:lnTo>
                    <a:close/>
                    <a:moveTo>
                      <a:pt x="585" y="155"/>
                    </a:moveTo>
                    <a:lnTo>
                      <a:pt x="616" y="114"/>
                    </a:lnTo>
                    <a:lnTo>
                      <a:pt x="618" y="114"/>
                    </a:lnTo>
                    <a:lnTo>
                      <a:pt x="587" y="157"/>
                    </a:lnTo>
                    <a:lnTo>
                      <a:pt x="585" y="1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effectLst/>
                  <a:uLnTx/>
                  <a:uFillTx/>
                  <a:latin typeface="+mn-ea"/>
                  <a:ea typeface="+mn-ea"/>
                </a:endParaRPr>
              </a:p>
            </p:txBody>
          </p:sp>
        </p:grpSp>
        <p:grpSp>
          <p:nvGrpSpPr>
            <p:cNvPr id="66" name="组合 65"/>
            <p:cNvGrpSpPr/>
            <p:nvPr/>
          </p:nvGrpSpPr>
          <p:grpSpPr>
            <a:xfrm>
              <a:off x="6801671" y="3420237"/>
              <a:ext cx="349698" cy="395800"/>
              <a:chOff x="17543463" y="482600"/>
              <a:chExt cx="493712" cy="558800"/>
            </a:xfrm>
            <a:grpFill/>
          </p:grpSpPr>
          <p:sp>
            <p:nvSpPr>
              <p:cNvPr id="67" name="Freeform 308"/>
              <p:cNvSpPr>
                <a:spLocks/>
              </p:cNvSpPr>
              <p:nvPr/>
            </p:nvSpPr>
            <p:spPr bwMode="auto">
              <a:xfrm>
                <a:off x="17543463" y="482600"/>
                <a:ext cx="231775" cy="230188"/>
              </a:xfrm>
              <a:custGeom>
                <a:avLst/>
                <a:gdLst>
                  <a:gd name="T0" fmla="*/ 45 w 146"/>
                  <a:gd name="T1" fmla="*/ 0 h 145"/>
                  <a:gd name="T2" fmla="*/ 129 w 146"/>
                  <a:gd name="T3" fmla="*/ 83 h 145"/>
                  <a:gd name="T4" fmla="*/ 146 w 146"/>
                  <a:gd name="T5" fmla="*/ 145 h 145"/>
                  <a:gd name="T6" fmla="*/ 85 w 146"/>
                  <a:gd name="T7" fmla="*/ 128 h 145"/>
                  <a:gd name="T8" fmla="*/ 0 w 146"/>
                  <a:gd name="T9" fmla="*/ 44 h 145"/>
                  <a:gd name="T10" fmla="*/ 45 w 146"/>
                  <a:gd name="T11" fmla="*/ 0 h 145"/>
                  <a:gd name="T12" fmla="*/ 45 w 146"/>
                  <a:gd name="T13" fmla="*/ 0 h 145"/>
                </a:gdLst>
                <a:ahLst/>
                <a:cxnLst>
                  <a:cxn ang="0">
                    <a:pos x="T0" y="T1"/>
                  </a:cxn>
                  <a:cxn ang="0">
                    <a:pos x="T2" y="T3"/>
                  </a:cxn>
                  <a:cxn ang="0">
                    <a:pos x="T4" y="T5"/>
                  </a:cxn>
                  <a:cxn ang="0">
                    <a:pos x="T6" y="T7"/>
                  </a:cxn>
                  <a:cxn ang="0">
                    <a:pos x="T8" y="T9"/>
                  </a:cxn>
                  <a:cxn ang="0">
                    <a:pos x="T10" y="T11"/>
                  </a:cxn>
                  <a:cxn ang="0">
                    <a:pos x="T12" y="T13"/>
                  </a:cxn>
                </a:cxnLst>
                <a:rect l="0" t="0" r="r" b="b"/>
                <a:pathLst>
                  <a:path w="146" h="145">
                    <a:moveTo>
                      <a:pt x="45" y="0"/>
                    </a:moveTo>
                    <a:lnTo>
                      <a:pt x="129" y="83"/>
                    </a:lnTo>
                    <a:lnTo>
                      <a:pt x="146" y="145"/>
                    </a:lnTo>
                    <a:lnTo>
                      <a:pt x="85" y="128"/>
                    </a:lnTo>
                    <a:lnTo>
                      <a:pt x="0" y="44"/>
                    </a:lnTo>
                    <a:lnTo>
                      <a:pt x="45" y="0"/>
                    </a:lnTo>
                    <a:lnTo>
                      <a:pt x="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effectLst/>
                  <a:uLnTx/>
                  <a:uFillTx/>
                  <a:latin typeface="+mn-ea"/>
                  <a:ea typeface="+mn-ea"/>
                </a:endParaRPr>
              </a:p>
            </p:txBody>
          </p:sp>
          <p:sp>
            <p:nvSpPr>
              <p:cNvPr id="68" name="Freeform 309"/>
              <p:cNvSpPr>
                <a:spLocks/>
              </p:cNvSpPr>
              <p:nvPr/>
            </p:nvSpPr>
            <p:spPr bwMode="auto">
              <a:xfrm>
                <a:off x="17681575" y="617538"/>
                <a:ext cx="80962" cy="82550"/>
              </a:xfrm>
              <a:custGeom>
                <a:avLst/>
                <a:gdLst>
                  <a:gd name="T0" fmla="*/ 41 w 51"/>
                  <a:gd name="T1" fmla="*/ 0 h 52"/>
                  <a:gd name="T2" fmla="*/ 51 w 51"/>
                  <a:gd name="T3" fmla="*/ 35 h 52"/>
                  <a:gd name="T4" fmla="*/ 35 w 51"/>
                  <a:gd name="T5" fmla="*/ 52 h 52"/>
                  <a:gd name="T6" fmla="*/ 0 w 51"/>
                  <a:gd name="T7" fmla="*/ 42 h 52"/>
                  <a:gd name="T8" fmla="*/ 41 w 51"/>
                  <a:gd name="T9" fmla="*/ 0 h 52"/>
                  <a:gd name="T10" fmla="*/ 41 w 51"/>
                  <a:gd name="T11" fmla="*/ 0 h 52"/>
                  <a:gd name="T12" fmla="*/ 41 w 51"/>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1" h="52">
                    <a:moveTo>
                      <a:pt x="41" y="0"/>
                    </a:moveTo>
                    <a:lnTo>
                      <a:pt x="51" y="35"/>
                    </a:lnTo>
                    <a:lnTo>
                      <a:pt x="35" y="52"/>
                    </a:lnTo>
                    <a:lnTo>
                      <a:pt x="0" y="42"/>
                    </a:lnTo>
                    <a:lnTo>
                      <a:pt x="41" y="0"/>
                    </a:lnTo>
                    <a:lnTo>
                      <a:pt x="41" y="0"/>
                    </a:lnTo>
                    <a:lnTo>
                      <a:pt x="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effectLst/>
                  <a:uLnTx/>
                  <a:uFillTx/>
                  <a:latin typeface="+mn-ea"/>
                  <a:ea typeface="+mn-ea"/>
                </a:endParaRPr>
              </a:p>
            </p:txBody>
          </p:sp>
          <p:sp>
            <p:nvSpPr>
              <p:cNvPr id="69" name="Freeform 310"/>
              <p:cNvSpPr>
                <a:spLocks noEditPoints="1"/>
              </p:cNvSpPr>
              <p:nvPr/>
            </p:nvSpPr>
            <p:spPr bwMode="auto">
              <a:xfrm>
                <a:off x="17611725" y="517525"/>
                <a:ext cx="425450" cy="523875"/>
              </a:xfrm>
              <a:custGeom>
                <a:avLst/>
                <a:gdLst>
                  <a:gd name="T0" fmla="*/ 222 w 268"/>
                  <a:gd name="T1" fmla="*/ 106 h 330"/>
                  <a:gd name="T2" fmla="*/ 108 w 268"/>
                  <a:gd name="T3" fmla="*/ 91 h 330"/>
                  <a:gd name="T4" fmla="*/ 108 w 268"/>
                  <a:gd name="T5" fmla="*/ 106 h 330"/>
                  <a:gd name="T6" fmla="*/ 268 w 268"/>
                  <a:gd name="T7" fmla="*/ 31 h 330"/>
                  <a:gd name="T8" fmla="*/ 268 w 268"/>
                  <a:gd name="T9" fmla="*/ 25 h 330"/>
                  <a:gd name="T10" fmla="*/ 262 w 268"/>
                  <a:gd name="T11" fmla="*/ 14 h 330"/>
                  <a:gd name="T12" fmla="*/ 254 w 268"/>
                  <a:gd name="T13" fmla="*/ 6 h 330"/>
                  <a:gd name="T14" fmla="*/ 243 w 268"/>
                  <a:gd name="T15" fmla="*/ 2 h 330"/>
                  <a:gd name="T16" fmla="*/ 138 w 268"/>
                  <a:gd name="T17" fmla="*/ 0 h 330"/>
                  <a:gd name="T18" fmla="*/ 69 w 268"/>
                  <a:gd name="T19" fmla="*/ 0 h 330"/>
                  <a:gd name="T20" fmla="*/ 138 w 268"/>
                  <a:gd name="T21" fmla="*/ 24 h 330"/>
                  <a:gd name="T22" fmla="*/ 237 w 268"/>
                  <a:gd name="T23" fmla="*/ 24 h 330"/>
                  <a:gd name="T24" fmla="*/ 240 w 268"/>
                  <a:gd name="T25" fmla="*/ 24 h 330"/>
                  <a:gd name="T26" fmla="*/ 244 w 268"/>
                  <a:gd name="T27" fmla="*/ 28 h 330"/>
                  <a:gd name="T28" fmla="*/ 244 w 268"/>
                  <a:gd name="T29" fmla="*/ 176 h 330"/>
                  <a:gd name="T30" fmla="*/ 146 w 268"/>
                  <a:gd name="T31" fmla="*/ 176 h 330"/>
                  <a:gd name="T32" fmla="*/ 133 w 268"/>
                  <a:gd name="T33" fmla="*/ 179 h 330"/>
                  <a:gd name="T34" fmla="*/ 124 w 268"/>
                  <a:gd name="T35" fmla="*/ 186 h 330"/>
                  <a:gd name="T36" fmla="*/ 117 w 268"/>
                  <a:gd name="T37" fmla="*/ 196 h 330"/>
                  <a:gd name="T38" fmla="*/ 115 w 268"/>
                  <a:gd name="T39" fmla="*/ 207 h 330"/>
                  <a:gd name="T40" fmla="*/ 31 w 268"/>
                  <a:gd name="T41" fmla="*/ 308 h 330"/>
                  <a:gd name="T42" fmla="*/ 28 w 268"/>
                  <a:gd name="T43" fmla="*/ 307 h 330"/>
                  <a:gd name="T44" fmla="*/ 23 w 268"/>
                  <a:gd name="T45" fmla="*/ 302 h 330"/>
                  <a:gd name="T46" fmla="*/ 23 w 268"/>
                  <a:gd name="T47" fmla="*/ 204 h 330"/>
                  <a:gd name="T48" fmla="*/ 23 w 268"/>
                  <a:gd name="T49" fmla="*/ 122 h 330"/>
                  <a:gd name="T50" fmla="*/ 0 w 268"/>
                  <a:gd name="T51" fmla="*/ 204 h 330"/>
                  <a:gd name="T52" fmla="*/ 0 w 268"/>
                  <a:gd name="T53" fmla="*/ 299 h 330"/>
                  <a:gd name="T54" fmla="*/ 1 w 268"/>
                  <a:gd name="T55" fmla="*/ 305 h 330"/>
                  <a:gd name="T56" fmla="*/ 5 w 268"/>
                  <a:gd name="T57" fmla="*/ 316 h 330"/>
                  <a:gd name="T58" fmla="*/ 14 w 268"/>
                  <a:gd name="T59" fmla="*/ 325 h 330"/>
                  <a:gd name="T60" fmla="*/ 24 w 268"/>
                  <a:gd name="T61" fmla="*/ 330 h 330"/>
                  <a:gd name="T62" fmla="*/ 114 w 268"/>
                  <a:gd name="T63" fmla="*/ 330 h 330"/>
                  <a:gd name="T64" fmla="*/ 115 w 268"/>
                  <a:gd name="T65" fmla="*/ 330 h 330"/>
                  <a:gd name="T66" fmla="*/ 268 w 268"/>
                  <a:gd name="T67" fmla="*/ 177 h 330"/>
                  <a:gd name="T68" fmla="*/ 268 w 268"/>
                  <a:gd name="T69" fmla="*/ 176 h 330"/>
                  <a:gd name="T70" fmla="*/ 268 w 268"/>
                  <a:gd name="T71" fmla="*/ 176 h 330"/>
                  <a:gd name="T72" fmla="*/ 139 w 268"/>
                  <a:gd name="T73" fmla="*/ 289 h 330"/>
                  <a:gd name="T74" fmla="*/ 139 w 268"/>
                  <a:gd name="T75" fmla="*/ 207 h 330"/>
                  <a:gd name="T76" fmla="*/ 141 w 268"/>
                  <a:gd name="T77" fmla="*/ 202 h 330"/>
                  <a:gd name="T78" fmla="*/ 146 w 268"/>
                  <a:gd name="T79" fmla="*/ 200 h 330"/>
                  <a:gd name="T80" fmla="*/ 139 w 268"/>
                  <a:gd name="T81" fmla="*/ 289 h 330"/>
                  <a:gd name="T82" fmla="*/ 222 w 268"/>
                  <a:gd name="T83" fmla="*/ 52 h 330"/>
                  <a:gd name="T84" fmla="*/ 108 w 268"/>
                  <a:gd name="T85" fmla="*/ 67 h 330"/>
                  <a:gd name="T86" fmla="*/ 222 w 268"/>
                  <a:gd name="T87" fmla="*/ 52 h 330"/>
                  <a:gd name="T88" fmla="*/ 108 w 268"/>
                  <a:gd name="T89" fmla="*/ 146 h 330"/>
                  <a:gd name="T90" fmla="*/ 222 w 268"/>
                  <a:gd name="T91" fmla="*/ 131 h 330"/>
                  <a:gd name="T92" fmla="*/ 108 w 268"/>
                  <a:gd name="T93" fmla="*/ 146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8" h="330">
                    <a:moveTo>
                      <a:pt x="108" y="106"/>
                    </a:moveTo>
                    <a:lnTo>
                      <a:pt x="222" y="106"/>
                    </a:lnTo>
                    <a:lnTo>
                      <a:pt x="222" y="91"/>
                    </a:lnTo>
                    <a:lnTo>
                      <a:pt x="108" y="91"/>
                    </a:lnTo>
                    <a:lnTo>
                      <a:pt x="108" y="106"/>
                    </a:lnTo>
                    <a:lnTo>
                      <a:pt x="108" y="106"/>
                    </a:lnTo>
                    <a:close/>
                    <a:moveTo>
                      <a:pt x="268" y="176"/>
                    </a:moveTo>
                    <a:lnTo>
                      <a:pt x="268" y="31"/>
                    </a:lnTo>
                    <a:lnTo>
                      <a:pt x="268" y="31"/>
                    </a:lnTo>
                    <a:lnTo>
                      <a:pt x="268" y="25"/>
                    </a:lnTo>
                    <a:lnTo>
                      <a:pt x="265" y="20"/>
                    </a:lnTo>
                    <a:lnTo>
                      <a:pt x="262" y="14"/>
                    </a:lnTo>
                    <a:lnTo>
                      <a:pt x="259" y="10"/>
                    </a:lnTo>
                    <a:lnTo>
                      <a:pt x="254" y="6"/>
                    </a:lnTo>
                    <a:lnTo>
                      <a:pt x="248" y="3"/>
                    </a:lnTo>
                    <a:lnTo>
                      <a:pt x="243" y="2"/>
                    </a:lnTo>
                    <a:lnTo>
                      <a:pt x="237" y="0"/>
                    </a:lnTo>
                    <a:lnTo>
                      <a:pt x="138" y="0"/>
                    </a:lnTo>
                    <a:lnTo>
                      <a:pt x="138" y="0"/>
                    </a:lnTo>
                    <a:lnTo>
                      <a:pt x="69" y="0"/>
                    </a:lnTo>
                    <a:lnTo>
                      <a:pt x="69" y="24"/>
                    </a:lnTo>
                    <a:lnTo>
                      <a:pt x="138" y="24"/>
                    </a:lnTo>
                    <a:lnTo>
                      <a:pt x="138" y="24"/>
                    </a:lnTo>
                    <a:lnTo>
                      <a:pt x="237" y="24"/>
                    </a:lnTo>
                    <a:lnTo>
                      <a:pt x="237" y="24"/>
                    </a:lnTo>
                    <a:lnTo>
                      <a:pt x="240" y="24"/>
                    </a:lnTo>
                    <a:lnTo>
                      <a:pt x="242" y="26"/>
                    </a:lnTo>
                    <a:lnTo>
                      <a:pt x="244" y="28"/>
                    </a:lnTo>
                    <a:lnTo>
                      <a:pt x="244" y="31"/>
                    </a:lnTo>
                    <a:lnTo>
                      <a:pt x="244" y="176"/>
                    </a:lnTo>
                    <a:lnTo>
                      <a:pt x="146" y="176"/>
                    </a:lnTo>
                    <a:lnTo>
                      <a:pt x="146" y="176"/>
                    </a:lnTo>
                    <a:lnTo>
                      <a:pt x="140" y="177"/>
                    </a:lnTo>
                    <a:lnTo>
                      <a:pt x="133" y="179"/>
                    </a:lnTo>
                    <a:lnTo>
                      <a:pt x="129" y="182"/>
                    </a:lnTo>
                    <a:lnTo>
                      <a:pt x="124" y="186"/>
                    </a:lnTo>
                    <a:lnTo>
                      <a:pt x="120" y="190"/>
                    </a:lnTo>
                    <a:lnTo>
                      <a:pt x="117" y="196"/>
                    </a:lnTo>
                    <a:lnTo>
                      <a:pt x="115" y="201"/>
                    </a:lnTo>
                    <a:lnTo>
                      <a:pt x="115" y="207"/>
                    </a:lnTo>
                    <a:lnTo>
                      <a:pt x="115" y="308"/>
                    </a:lnTo>
                    <a:lnTo>
                      <a:pt x="31" y="308"/>
                    </a:lnTo>
                    <a:lnTo>
                      <a:pt x="31" y="308"/>
                    </a:lnTo>
                    <a:lnTo>
                      <a:pt x="28" y="307"/>
                    </a:lnTo>
                    <a:lnTo>
                      <a:pt x="26" y="304"/>
                    </a:lnTo>
                    <a:lnTo>
                      <a:pt x="23" y="302"/>
                    </a:lnTo>
                    <a:lnTo>
                      <a:pt x="23" y="299"/>
                    </a:lnTo>
                    <a:lnTo>
                      <a:pt x="23" y="204"/>
                    </a:lnTo>
                    <a:lnTo>
                      <a:pt x="23" y="204"/>
                    </a:lnTo>
                    <a:lnTo>
                      <a:pt x="23" y="122"/>
                    </a:lnTo>
                    <a:lnTo>
                      <a:pt x="0" y="122"/>
                    </a:lnTo>
                    <a:lnTo>
                      <a:pt x="0" y="204"/>
                    </a:lnTo>
                    <a:lnTo>
                      <a:pt x="0" y="204"/>
                    </a:lnTo>
                    <a:lnTo>
                      <a:pt x="0" y="299"/>
                    </a:lnTo>
                    <a:lnTo>
                      <a:pt x="0" y="299"/>
                    </a:lnTo>
                    <a:lnTo>
                      <a:pt x="1" y="305"/>
                    </a:lnTo>
                    <a:lnTo>
                      <a:pt x="2" y="312"/>
                    </a:lnTo>
                    <a:lnTo>
                      <a:pt x="5" y="316"/>
                    </a:lnTo>
                    <a:lnTo>
                      <a:pt x="10" y="321"/>
                    </a:lnTo>
                    <a:lnTo>
                      <a:pt x="14" y="325"/>
                    </a:lnTo>
                    <a:lnTo>
                      <a:pt x="19" y="328"/>
                    </a:lnTo>
                    <a:lnTo>
                      <a:pt x="24" y="330"/>
                    </a:lnTo>
                    <a:lnTo>
                      <a:pt x="31" y="330"/>
                    </a:lnTo>
                    <a:lnTo>
                      <a:pt x="114" y="330"/>
                    </a:lnTo>
                    <a:lnTo>
                      <a:pt x="115" y="330"/>
                    </a:lnTo>
                    <a:lnTo>
                      <a:pt x="115" y="330"/>
                    </a:lnTo>
                    <a:lnTo>
                      <a:pt x="268" y="177"/>
                    </a:lnTo>
                    <a:lnTo>
                      <a:pt x="268" y="177"/>
                    </a:lnTo>
                    <a:lnTo>
                      <a:pt x="268" y="177"/>
                    </a:lnTo>
                    <a:lnTo>
                      <a:pt x="268" y="176"/>
                    </a:lnTo>
                    <a:lnTo>
                      <a:pt x="268" y="176"/>
                    </a:lnTo>
                    <a:lnTo>
                      <a:pt x="268" y="176"/>
                    </a:lnTo>
                    <a:lnTo>
                      <a:pt x="268" y="176"/>
                    </a:lnTo>
                    <a:close/>
                    <a:moveTo>
                      <a:pt x="139" y="289"/>
                    </a:moveTo>
                    <a:lnTo>
                      <a:pt x="139" y="207"/>
                    </a:lnTo>
                    <a:lnTo>
                      <a:pt x="139" y="207"/>
                    </a:lnTo>
                    <a:lnTo>
                      <a:pt x="139" y="204"/>
                    </a:lnTo>
                    <a:lnTo>
                      <a:pt x="141" y="202"/>
                    </a:lnTo>
                    <a:lnTo>
                      <a:pt x="143" y="200"/>
                    </a:lnTo>
                    <a:lnTo>
                      <a:pt x="146" y="200"/>
                    </a:lnTo>
                    <a:lnTo>
                      <a:pt x="227" y="200"/>
                    </a:lnTo>
                    <a:lnTo>
                      <a:pt x="139" y="289"/>
                    </a:lnTo>
                    <a:lnTo>
                      <a:pt x="139" y="289"/>
                    </a:lnTo>
                    <a:close/>
                    <a:moveTo>
                      <a:pt x="222" y="52"/>
                    </a:moveTo>
                    <a:lnTo>
                      <a:pt x="108" y="52"/>
                    </a:lnTo>
                    <a:lnTo>
                      <a:pt x="108" y="67"/>
                    </a:lnTo>
                    <a:lnTo>
                      <a:pt x="222" y="67"/>
                    </a:lnTo>
                    <a:lnTo>
                      <a:pt x="222" y="52"/>
                    </a:lnTo>
                    <a:lnTo>
                      <a:pt x="222" y="52"/>
                    </a:lnTo>
                    <a:close/>
                    <a:moveTo>
                      <a:pt x="108" y="146"/>
                    </a:moveTo>
                    <a:lnTo>
                      <a:pt x="222" y="146"/>
                    </a:lnTo>
                    <a:lnTo>
                      <a:pt x="222" y="131"/>
                    </a:lnTo>
                    <a:lnTo>
                      <a:pt x="108" y="131"/>
                    </a:lnTo>
                    <a:lnTo>
                      <a:pt x="108" y="146"/>
                    </a:lnTo>
                    <a:lnTo>
                      <a:pt x="108"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444"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effectLst/>
                  <a:uLnTx/>
                  <a:uFillTx/>
                  <a:latin typeface="+mn-ea"/>
                  <a:ea typeface="+mn-ea"/>
                </a:endParaRPr>
              </a:p>
            </p:txBody>
          </p:sp>
        </p:grpSp>
      </p:grpSp>
      <p:sp>
        <p:nvSpPr>
          <p:cNvPr id="82" name="文本框 81"/>
          <p:cNvSpPr txBox="1"/>
          <p:nvPr/>
        </p:nvSpPr>
        <p:spPr>
          <a:xfrm>
            <a:off x="4548508" y="5178540"/>
            <a:ext cx="670376" cy="276999"/>
          </a:xfrm>
          <a:prstGeom prst="rect">
            <a:avLst/>
          </a:prstGeom>
          <a:noFill/>
        </p:spPr>
        <p:txBody>
          <a:bodyPr wrap="none" rtlCol="0">
            <a:spAutoFit/>
          </a:bodyPr>
          <a:lstStyle/>
          <a:p>
            <a:pPr defTabSz="1219444" eaLnBrk="0" fontAlgn="base" hangingPunct="0"/>
            <a:r>
              <a:rPr lang="en-US" altLang="zh-CN" sz="1200" dirty="0">
                <a:latin typeface="+mn-ea"/>
                <a:ea typeface="+mn-ea"/>
              </a:rPr>
              <a:t>Object</a:t>
            </a:r>
            <a:endParaRPr lang="zh-CN" altLang="en-US" sz="1200" dirty="0">
              <a:latin typeface="+mn-ea"/>
              <a:ea typeface="+mn-ea"/>
            </a:endParaRPr>
          </a:p>
        </p:txBody>
      </p:sp>
      <p:pic>
        <p:nvPicPr>
          <p:cNvPr id="83" name="图片 82"/>
          <p:cNvPicPr>
            <a:picLocks noChangeAspect="1"/>
          </p:cNvPicPr>
          <p:nvPr/>
        </p:nvPicPr>
        <p:blipFill>
          <a:blip r:embed="rId10" cstate="print"/>
          <a:stretch>
            <a:fillRect/>
          </a:stretch>
        </p:blipFill>
        <p:spPr>
          <a:xfrm>
            <a:off x="4516948" y="4222022"/>
            <a:ext cx="805874" cy="945386"/>
          </a:xfrm>
          <a:prstGeom prst="rect">
            <a:avLst/>
          </a:prstGeom>
        </p:spPr>
      </p:pic>
      <p:cxnSp>
        <p:nvCxnSpPr>
          <p:cNvPr id="84" name="直接连接符 83"/>
          <p:cNvCxnSpPr/>
          <p:nvPr/>
        </p:nvCxnSpPr>
        <p:spPr>
          <a:xfrm>
            <a:off x="1262661" y="2935384"/>
            <a:ext cx="4368556" cy="0"/>
          </a:xfrm>
          <a:prstGeom prst="line">
            <a:avLst/>
          </a:prstGeom>
          <a:noFill/>
          <a:ln w="15875" cap="flat" cmpd="sng" algn="ctr">
            <a:solidFill>
              <a:sysClr val="window" lastClr="FFFFFF">
                <a:lumMod val="75000"/>
              </a:sysClr>
            </a:solidFill>
            <a:prstDash val="sysDash"/>
          </a:ln>
          <a:effectLst/>
        </p:spPr>
      </p:cxnSp>
      <p:cxnSp>
        <p:nvCxnSpPr>
          <p:cNvPr id="85" name="直接连接符 84"/>
          <p:cNvCxnSpPr/>
          <p:nvPr/>
        </p:nvCxnSpPr>
        <p:spPr>
          <a:xfrm>
            <a:off x="1262661" y="3547452"/>
            <a:ext cx="4368556" cy="0"/>
          </a:xfrm>
          <a:prstGeom prst="line">
            <a:avLst/>
          </a:prstGeom>
          <a:noFill/>
          <a:ln w="15875" cap="flat" cmpd="sng" algn="ctr">
            <a:solidFill>
              <a:sysClr val="window" lastClr="FFFFFF">
                <a:lumMod val="75000"/>
              </a:sysClr>
            </a:solidFill>
            <a:prstDash val="sysDash"/>
          </a:ln>
          <a:effectLst/>
        </p:spPr>
      </p:cxnSp>
      <p:cxnSp>
        <p:nvCxnSpPr>
          <p:cNvPr id="86" name="直接连接符 85"/>
          <p:cNvCxnSpPr/>
          <p:nvPr/>
        </p:nvCxnSpPr>
        <p:spPr>
          <a:xfrm>
            <a:off x="1262661" y="4081219"/>
            <a:ext cx="4368556" cy="0"/>
          </a:xfrm>
          <a:prstGeom prst="line">
            <a:avLst/>
          </a:prstGeom>
          <a:noFill/>
          <a:ln w="15875" cap="flat" cmpd="sng" algn="ctr">
            <a:solidFill>
              <a:sysClr val="window" lastClr="FFFFFF">
                <a:lumMod val="75000"/>
              </a:sysClr>
            </a:solidFill>
            <a:prstDash val="sysDash"/>
          </a:ln>
          <a:effectLst/>
        </p:spPr>
      </p:cxnSp>
      <p:sp>
        <p:nvSpPr>
          <p:cNvPr id="87" name="文本框 86"/>
          <p:cNvSpPr txBox="1"/>
          <p:nvPr/>
        </p:nvSpPr>
        <p:spPr>
          <a:xfrm>
            <a:off x="1738146" y="3097297"/>
            <a:ext cx="492443"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计算</a:t>
            </a:r>
          </a:p>
        </p:txBody>
      </p:sp>
      <p:sp>
        <p:nvSpPr>
          <p:cNvPr id="88" name="文本框 87"/>
          <p:cNvSpPr txBox="1"/>
          <p:nvPr/>
        </p:nvSpPr>
        <p:spPr>
          <a:xfrm>
            <a:off x="3240015" y="3097297"/>
            <a:ext cx="492443"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计算</a:t>
            </a:r>
          </a:p>
        </p:txBody>
      </p:sp>
      <p:sp>
        <p:nvSpPr>
          <p:cNvPr id="89" name="文本框 88"/>
          <p:cNvSpPr txBox="1"/>
          <p:nvPr/>
        </p:nvSpPr>
        <p:spPr>
          <a:xfrm>
            <a:off x="4720722" y="3097297"/>
            <a:ext cx="492443"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计算</a:t>
            </a:r>
          </a:p>
        </p:txBody>
      </p:sp>
      <p:sp>
        <p:nvSpPr>
          <p:cNvPr id="90" name="文本框 89"/>
          <p:cNvSpPr txBox="1"/>
          <p:nvPr/>
        </p:nvSpPr>
        <p:spPr>
          <a:xfrm>
            <a:off x="1738146" y="3651345"/>
            <a:ext cx="492443"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网络</a:t>
            </a:r>
          </a:p>
        </p:txBody>
      </p:sp>
      <p:sp>
        <p:nvSpPr>
          <p:cNvPr id="91" name="文本框 90"/>
          <p:cNvSpPr txBox="1"/>
          <p:nvPr/>
        </p:nvSpPr>
        <p:spPr>
          <a:xfrm>
            <a:off x="3213567" y="3651345"/>
            <a:ext cx="492443"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网络</a:t>
            </a:r>
          </a:p>
        </p:txBody>
      </p:sp>
      <p:sp>
        <p:nvSpPr>
          <p:cNvPr id="92" name="文本框 91"/>
          <p:cNvSpPr txBox="1"/>
          <p:nvPr/>
        </p:nvSpPr>
        <p:spPr>
          <a:xfrm>
            <a:off x="4734905" y="3651345"/>
            <a:ext cx="492443" cy="276999"/>
          </a:xfrm>
          <a:prstGeom prst="rect">
            <a:avLst/>
          </a:prstGeom>
          <a:noFill/>
        </p:spPr>
        <p:txBody>
          <a:bodyPr wrap="none" rtlCol="0">
            <a:spAutoFit/>
          </a:bodyPr>
          <a:lstStyle/>
          <a:p>
            <a:pPr defTabSz="1219444" fontAlgn="auto">
              <a:spcBef>
                <a:spcPts val="0"/>
              </a:spcBef>
              <a:spcAft>
                <a:spcPts val="0"/>
              </a:spcAft>
            </a:pPr>
            <a:r>
              <a:rPr lang="zh-CN" altLang="en-US" sz="1200" dirty="0">
                <a:latin typeface="+mn-ea"/>
                <a:ea typeface="+mn-ea"/>
              </a:rPr>
              <a:t>网络</a:t>
            </a:r>
          </a:p>
        </p:txBody>
      </p:sp>
      <p:sp>
        <p:nvSpPr>
          <p:cNvPr id="93" name="文本框 92"/>
          <p:cNvSpPr txBox="1"/>
          <p:nvPr/>
        </p:nvSpPr>
        <p:spPr>
          <a:xfrm>
            <a:off x="1694682" y="1672562"/>
            <a:ext cx="800219" cy="338554"/>
          </a:xfrm>
          <a:prstGeom prst="rect">
            <a:avLst/>
          </a:prstGeom>
          <a:noFill/>
        </p:spPr>
        <p:txBody>
          <a:bodyPr wrap="none" rtlCol="0">
            <a:spAutoFit/>
          </a:bodyPr>
          <a:lstStyle/>
          <a:p>
            <a:pPr defTabSz="1219444" fontAlgn="auto">
              <a:spcBef>
                <a:spcPts val="0"/>
              </a:spcBef>
              <a:spcAft>
                <a:spcPts val="0"/>
              </a:spcAft>
            </a:pPr>
            <a:r>
              <a:rPr lang="zh-CN" altLang="en-US" sz="1600" dirty="0">
                <a:latin typeface="+mn-ea"/>
                <a:ea typeface="+mn-ea"/>
              </a:rPr>
              <a:t>数据库</a:t>
            </a:r>
          </a:p>
        </p:txBody>
      </p:sp>
      <p:sp>
        <p:nvSpPr>
          <p:cNvPr id="94" name="文本框 93"/>
          <p:cNvSpPr txBox="1"/>
          <p:nvPr/>
        </p:nvSpPr>
        <p:spPr>
          <a:xfrm>
            <a:off x="3228209" y="1672562"/>
            <a:ext cx="595035" cy="338554"/>
          </a:xfrm>
          <a:prstGeom prst="rect">
            <a:avLst/>
          </a:prstGeom>
          <a:noFill/>
        </p:spPr>
        <p:txBody>
          <a:bodyPr wrap="none" rtlCol="0">
            <a:spAutoFit/>
          </a:bodyPr>
          <a:lstStyle/>
          <a:p>
            <a:pPr defTabSz="1219444" fontAlgn="auto">
              <a:spcBef>
                <a:spcPts val="0"/>
              </a:spcBef>
              <a:spcAft>
                <a:spcPts val="0"/>
              </a:spcAft>
            </a:pPr>
            <a:r>
              <a:rPr lang="zh-CN" altLang="en-US" sz="1600" dirty="0">
                <a:latin typeface="+mn-ea"/>
                <a:ea typeface="+mn-ea"/>
              </a:rPr>
              <a:t>视频</a:t>
            </a:r>
          </a:p>
        </p:txBody>
      </p:sp>
      <p:sp>
        <p:nvSpPr>
          <p:cNvPr id="95" name="文本框 94"/>
          <p:cNvSpPr txBox="1"/>
          <p:nvPr/>
        </p:nvSpPr>
        <p:spPr>
          <a:xfrm>
            <a:off x="4709306" y="1672562"/>
            <a:ext cx="595035" cy="338554"/>
          </a:xfrm>
          <a:prstGeom prst="rect">
            <a:avLst/>
          </a:prstGeom>
          <a:noFill/>
        </p:spPr>
        <p:txBody>
          <a:bodyPr wrap="none" rtlCol="0">
            <a:spAutoFit/>
          </a:bodyPr>
          <a:lstStyle/>
          <a:p>
            <a:pPr defTabSz="1219444" fontAlgn="auto">
              <a:spcBef>
                <a:spcPts val="0"/>
              </a:spcBef>
              <a:spcAft>
                <a:spcPts val="0"/>
              </a:spcAft>
            </a:pPr>
            <a:r>
              <a:rPr lang="zh-CN" altLang="en-US" sz="1600" dirty="0">
                <a:latin typeface="+mn-ea"/>
                <a:ea typeface="+mn-ea"/>
              </a:rPr>
              <a:t>归档</a:t>
            </a:r>
          </a:p>
        </p:txBody>
      </p:sp>
      <p:cxnSp>
        <p:nvCxnSpPr>
          <p:cNvPr id="96" name="直接连接符 95"/>
          <p:cNvCxnSpPr/>
          <p:nvPr/>
        </p:nvCxnSpPr>
        <p:spPr>
          <a:xfrm>
            <a:off x="1329107" y="6106400"/>
            <a:ext cx="4302110" cy="0"/>
          </a:xfrm>
          <a:prstGeom prst="line">
            <a:avLst/>
          </a:prstGeom>
          <a:noFill/>
          <a:ln w="12700" cap="flat">
            <a:solidFill>
              <a:srgbClr val="313E4F">
                <a:alpha val="47843"/>
              </a:srgbClr>
            </a:solidFill>
            <a:prstDash val="solid"/>
            <a:miter lim="400000"/>
          </a:ln>
          <a:effectLst/>
        </p:spPr>
      </p:cxnSp>
      <p:sp>
        <p:nvSpPr>
          <p:cNvPr id="97" name="矩形 18"/>
          <p:cNvSpPr/>
          <p:nvPr/>
        </p:nvSpPr>
        <p:spPr>
          <a:xfrm>
            <a:off x="4201131" y="5660169"/>
            <a:ext cx="1576287" cy="215444"/>
          </a:xfrm>
          <a:prstGeom prst="rect">
            <a:avLst/>
          </a:prstGeom>
        </p:spPr>
        <p:txBody>
          <a:bodyPr wrap="square" lIns="0" tIns="0" rIns="0" bIns="0">
            <a:spAutoFit/>
          </a:bodyPr>
          <a:lstStyle/>
          <a:p>
            <a:pPr marL="87313" indent="-87313" defTabSz="1219444" fontAlgn="auto">
              <a:spcBef>
                <a:spcPct val="20000"/>
              </a:spcBef>
              <a:spcAft>
                <a:spcPts val="0"/>
              </a:spcAft>
              <a:buFont typeface="Arial" panose="020B0604020202020204" pitchFamily="34" charset="0"/>
              <a:buChar char="•"/>
              <a:defRPr/>
            </a:pPr>
            <a:r>
              <a:rPr lang="zh-CN" altLang="en-US" sz="1400" dirty="0">
                <a:latin typeface="+mn-ea"/>
                <a:ea typeface="+mn-ea"/>
                <a:cs typeface="Arial" pitchFamily="34" charset="0"/>
              </a:rPr>
              <a:t>多系统多平台管理 </a:t>
            </a:r>
          </a:p>
        </p:txBody>
      </p:sp>
      <p:sp>
        <p:nvSpPr>
          <p:cNvPr id="98" name="矩形 18"/>
          <p:cNvSpPr/>
          <p:nvPr/>
        </p:nvSpPr>
        <p:spPr>
          <a:xfrm>
            <a:off x="1306051" y="5636845"/>
            <a:ext cx="1591838" cy="215444"/>
          </a:xfrm>
          <a:prstGeom prst="rect">
            <a:avLst/>
          </a:prstGeom>
        </p:spPr>
        <p:txBody>
          <a:bodyPr wrap="square" lIns="0" tIns="0" rIns="0" bIns="0">
            <a:spAutoFit/>
          </a:bodyPr>
          <a:lstStyle/>
          <a:p>
            <a:pPr marL="171450" indent="-171450" defTabSz="1219444" fontAlgn="auto">
              <a:spcBef>
                <a:spcPct val="20000"/>
              </a:spcBef>
              <a:spcAft>
                <a:spcPts val="0"/>
              </a:spcAft>
              <a:buFont typeface="Arial" panose="020B0604020202020204" pitchFamily="34" charset="0"/>
              <a:buChar char="•"/>
              <a:defRPr/>
            </a:pPr>
            <a:r>
              <a:rPr lang="zh-CN" altLang="en-US" sz="1400" dirty="0">
                <a:latin typeface="+mn-ea"/>
                <a:ea typeface="+mn-ea"/>
                <a:cs typeface="Arial" pitchFamily="34" charset="0"/>
              </a:rPr>
              <a:t>资源利用不均衡  </a:t>
            </a:r>
          </a:p>
        </p:txBody>
      </p:sp>
      <p:sp>
        <p:nvSpPr>
          <p:cNvPr id="99" name="矩形 18"/>
          <p:cNvSpPr/>
          <p:nvPr/>
        </p:nvSpPr>
        <p:spPr>
          <a:xfrm>
            <a:off x="3006818" y="5636845"/>
            <a:ext cx="1022453" cy="215444"/>
          </a:xfrm>
          <a:prstGeom prst="rect">
            <a:avLst/>
          </a:prstGeom>
        </p:spPr>
        <p:txBody>
          <a:bodyPr wrap="square" lIns="0" tIns="0" rIns="0" bIns="0">
            <a:spAutoFit/>
          </a:bodyPr>
          <a:lstStyle/>
          <a:p>
            <a:pPr marL="87313" indent="-87313" defTabSz="1219444" fontAlgn="auto">
              <a:spcBef>
                <a:spcPct val="20000"/>
              </a:spcBef>
              <a:spcAft>
                <a:spcPts val="0"/>
              </a:spcAft>
              <a:buFont typeface="Arial" panose="020B0604020202020204" pitchFamily="34" charset="0"/>
              <a:buChar char="•"/>
              <a:defRPr/>
            </a:pPr>
            <a:r>
              <a:rPr lang="zh-CN" altLang="en-US" sz="1400" dirty="0">
                <a:latin typeface="+mn-ea"/>
                <a:ea typeface="+mn-ea"/>
                <a:cs typeface="Arial" pitchFamily="34" charset="0"/>
              </a:rPr>
              <a:t>扩展性差</a:t>
            </a:r>
          </a:p>
        </p:txBody>
      </p:sp>
      <p:sp>
        <p:nvSpPr>
          <p:cNvPr id="100" name="矩形 99"/>
          <p:cNvSpPr/>
          <p:nvPr/>
        </p:nvSpPr>
        <p:spPr>
          <a:xfrm>
            <a:off x="1329107" y="1291610"/>
            <a:ext cx="4302110" cy="338552"/>
          </a:xfrm>
          <a:prstGeom prst="rect">
            <a:avLst/>
          </a:prstGeom>
          <a:solidFill>
            <a:srgbClr val="DFDFDF"/>
          </a:solidFill>
          <a:ln w="19050">
            <a:solidFill>
              <a:sysClr val="window" lastClr="FFFFFF">
                <a:lumMod val="75000"/>
              </a:sysClr>
            </a:solidFill>
          </a:ln>
        </p:spPr>
        <p:txBody>
          <a:bodyPr wrap="square" lIns="91437" tIns="45719" rIns="91437" bIns="45719">
            <a:spAutoFit/>
          </a:bodyPr>
          <a:lstStyle/>
          <a:p>
            <a:pPr algn="ctr" defTabSz="1219444" eaLnBrk="0" fontAlgn="base" hangingPunct="0">
              <a:defRPr/>
            </a:pPr>
            <a:r>
              <a:rPr kumimoji="1" lang="zh-CN" altLang="en-US" sz="1600" b="1" kern="0" dirty="0">
                <a:latin typeface="+mn-ea"/>
                <a:ea typeface="+mn-ea"/>
                <a:cs typeface="Arial"/>
              </a:rPr>
              <a:t>传统烟囱式</a:t>
            </a:r>
          </a:p>
        </p:txBody>
      </p:sp>
    </p:spTree>
    <p:extLst>
      <p:ext uri="{BB962C8B-B14F-4D97-AF65-F5344CB8AC3E}">
        <p14:creationId xmlns:p14="http://schemas.microsoft.com/office/powerpoint/2010/main" val="2620954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7C1AD8-7CE9-4439-9206-0920B0D2D697}"/>
              </a:ext>
            </a:extLst>
          </p:cNvPr>
          <p:cNvSpPr>
            <a:spLocks noGrp="1"/>
          </p:cNvSpPr>
          <p:nvPr>
            <p:ph type="title"/>
          </p:nvPr>
        </p:nvSpPr>
        <p:spPr/>
        <p:txBody>
          <a:bodyPr/>
          <a:lstStyle/>
          <a:p>
            <a:r>
              <a:rPr lang="en-US" altLang="zh-CN" dirty="0" err="1"/>
              <a:t>Ceph</a:t>
            </a:r>
            <a:r>
              <a:rPr lang="zh-CN" altLang="en-US" dirty="0"/>
              <a:t>介绍</a:t>
            </a:r>
          </a:p>
        </p:txBody>
      </p:sp>
      <p:sp>
        <p:nvSpPr>
          <p:cNvPr id="4" name="文本框 3">
            <a:extLst>
              <a:ext uri="{FF2B5EF4-FFF2-40B4-BE49-F238E27FC236}">
                <a16:creationId xmlns:a16="http://schemas.microsoft.com/office/drawing/2014/main" id="{DD15B152-DC1D-449B-B0DD-22592CFA0CD6}"/>
              </a:ext>
            </a:extLst>
          </p:cNvPr>
          <p:cNvSpPr txBox="1"/>
          <p:nvPr/>
        </p:nvSpPr>
        <p:spPr bwMode="auto">
          <a:xfrm>
            <a:off x="1178079" y="1592796"/>
            <a:ext cx="10261140" cy="2677656"/>
          </a:xfrm>
          <a:prstGeom prst="rect">
            <a:avLst/>
          </a:prstGeom>
          <a:noFill/>
          <a:ln w="9525" algn="ctr">
            <a:noFill/>
            <a:miter lim="800000"/>
            <a:headEnd/>
            <a:tailEnd/>
          </a:ln>
        </p:spPr>
        <p:txBody>
          <a:bodyPr wrap="square">
            <a:spAutoFit/>
          </a:bodyPr>
          <a:lstStyle/>
          <a:p>
            <a:r>
              <a:rPr lang="en-US" altLang="zh-CN" sz="2400" b="0" i="0" dirty="0" err="1">
                <a:solidFill>
                  <a:srgbClr val="404040"/>
                </a:solidFill>
                <a:effectLst/>
                <a:latin typeface="+mn-ea"/>
                <a:ea typeface="+mn-ea"/>
              </a:rPr>
              <a:t>Ceph</a:t>
            </a:r>
            <a:r>
              <a:rPr lang="zh-CN" altLang="en-US" sz="2400" b="0" i="0" dirty="0">
                <a:solidFill>
                  <a:srgbClr val="404040"/>
                </a:solidFill>
                <a:effectLst/>
                <a:latin typeface="+mn-ea"/>
                <a:ea typeface="+mn-ea"/>
              </a:rPr>
              <a:t>是一个分布式存储系统，诞生于</a:t>
            </a:r>
            <a:r>
              <a:rPr lang="en-US" altLang="zh-CN" sz="2400" b="0" i="0" dirty="0">
                <a:solidFill>
                  <a:srgbClr val="404040"/>
                </a:solidFill>
                <a:effectLst/>
                <a:latin typeface="+mn-ea"/>
                <a:ea typeface="+mn-ea"/>
              </a:rPr>
              <a:t>2004</a:t>
            </a:r>
            <a:r>
              <a:rPr lang="zh-CN" altLang="en-US" sz="2400" b="0" i="0" dirty="0">
                <a:solidFill>
                  <a:srgbClr val="404040"/>
                </a:solidFill>
                <a:effectLst/>
                <a:latin typeface="+mn-ea"/>
                <a:ea typeface="+mn-ea"/>
              </a:rPr>
              <a:t>年，最早致力于开发下一代高性能分布式文件系统的项目。</a:t>
            </a:r>
            <a:endParaRPr lang="en-US" altLang="zh-CN" sz="2400" b="0" i="0" dirty="0">
              <a:solidFill>
                <a:srgbClr val="404040"/>
              </a:solidFill>
              <a:effectLst/>
              <a:latin typeface="+mn-ea"/>
              <a:ea typeface="+mn-ea"/>
            </a:endParaRPr>
          </a:p>
          <a:p>
            <a:endParaRPr lang="en-US" altLang="zh-CN" sz="2400" dirty="0">
              <a:solidFill>
                <a:srgbClr val="404040"/>
              </a:solidFill>
              <a:latin typeface="+mn-ea"/>
              <a:ea typeface="+mn-ea"/>
            </a:endParaRPr>
          </a:p>
          <a:p>
            <a:endParaRPr lang="en-US" altLang="zh-CN" sz="2400" b="0" i="0" dirty="0">
              <a:solidFill>
                <a:srgbClr val="404040"/>
              </a:solidFill>
              <a:effectLst/>
              <a:latin typeface="+mn-ea"/>
              <a:ea typeface="+mn-ea"/>
            </a:endParaRPr>
          </a:p>
          <a:p>
            <a:endParaRPr lang="en-US" altLang="zh-CN" sz="2400" dirty="0">
              <a:solidFill>
                <a:srgbClr val="404040"/>
              </a:solidFill>
              <a:latin typeface="+mn-ea"/>
              <a:ea typeface="+mn-ea"/>
            </a:endParaRPr>
          </a:p>
          <a:p>
            <a:r>
              <a:rPr lang="zh-CN" altLang="en-US" sz="2400" b="0" i="0" dirty="0">
                <a:solidFill>
                  <a:srgbClr val="404040"/>
                </a:solidFill>
                <a:effectLst/>
                <a:latin typeface="+mn-ea"/>
                <a:ea typeface="+mn-ea"/>
              </a:rPr>
              <a:t>随着云计算的发展，</a:t>
            </a:r>
            <a:r>
              <a:rPr lang="en-US" altLang="zh-CN" sz="2400" b="0" i="0" dirty="0" err="1">
                <a:solidFill>
                  <a:srgbClr val="404040"/>
                </a:solidFill>
                <a:effectLst/>
                <a:latin typeface="+mn-ea"/>
                <a:ea typeface="+mn-ea"/>
              </a:rPr>
              <a:t>ceph</a:t>
            </a:r>
            <a:r>
              <a:rPr lang="zh-CN" altLang="en-US" sz="2400" b="0" i="0" dirty="0">
                <a:solidFill>
                  <a:srgbClr val="404040"/>
                </a:solidFill>
                <a:effectLst/>
                <a:latin typeface="+mn-ea"/>
                <a:ea typeface="+mn-ea"/>
              </a:rPr>
              <a:t>乘上了</a:t>
            </a:r>
            <a:r>
              <a:rPr lang="en-US" altLang="zh-CN" sz="2400" b="0" i="0" dirty="0">
                <a:solidFill>
                  <a:srgbClr val="404040"/>
                </a:solidFill>
                <a:effectLst/>
                <a:latin typeface="+mn-ea"/>
                <a:ea typeface="+mn-ea"/>
              </a:rPr>
              <a:t>OpenStack</a:t>
            </a:r>
            <a:r>
              <a:rPr lang="zh-CN" altLang="en-US" sz="2400" b="0" i="0" dirty="0">
                <a:solidFill>
                  <a:srgbClr val="404040"/>
                </a:solidFill>
                <a:effectLst/>
                <a:latin typeface="+mn-ea"/>
                <a:ea typeface="+mn-ea"/>
              </a:rPr>
              <a:t>的春风，进而成为了开源社区受关注最高的项目之一。</a:t>
            </a:r>
            <a:endParaRPr lang="zh-CN" altLang="en-US" sz="2400" dirty="0">
              <a:latin typeface="+mn-ea"/>
              <a:ea typeface="+mn-ea"/>
            </a:endParaRPr>
          </a:p>
        </p:txBody>
      </p:sp>
    </p:spTree>
    <p:extLst>
      <p:ext uri="{BB962C8B-B14F-4D97-AF65-F5344CB8AC3E}">
        <p14:creationId xmlns:p14="http://schemas.microsoft.com/office/powerpoint/2010/main" val="3340134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t>Ceph</a:t>
            </a:r>
            <a:r>
              <a:rPr lang="zh-CN" altLang="en-US" dirty="0"/>
              <a:t>分布式存储解决方案</a:t>
            </a:r>
          </a:p>
        </p:txBody>
      </p:sp>
      <p:sp>
        <p:nvSpPr>
          <p:cNvPr id="117" name="矩形 116"/>
          <p:cNvSpPr/>
          <p:nvPr/>
        </p:nvSpPr>
        <p:spPr>
          <a:xfrm>
            <a:off x="1008063" y="5460444"/>
            <a:ext cx="10464801" cy="625380"/>
          </a:xfrm>
          <a:prstGeom prst="rect">
            <a:avLst/>
          </a:prstGeom>
          <a:solidFill>
            <a:srgbClr val="C6D9F1"/>
          </a:solidFill>
          <a:ln w="25400" cap="flat" cmpd="sng" algn="ctr">
            <a:solidFill>
              <a:sysClr val="window" lastClr="FFFFFF">
                <a:lumMod val="65000"/>
              </a:sysClr>
            </a:solidFill>
            <a:prstDash val="solid"/>
          </a:ln>
          <a:effectLst/>
        </p:spPr>
        <p:txBody>
          <a:bodyPr wrap="none" rtlCol="0" anchor="t">
            <a:noAutofit/>
          </a:bodyPr>
          <a:lstStyle/>
          <a:p>
            <a:pPr algn="ctr" defTabSz="1217981" fontAlgn="base">
              <a:defRPr/>
            </a:pPr>
            <a:endParaRPr lang="zh-CN" altLang="en-US" sz="1599" b="1" kern="0" dirty="0">
              <a:solidFill>
                <a:srgbClr val="FFC000"/>
              </a:solidFill>
              <a:effectLst>
                <a:outerShdw blurRad="38100" dist="38100" dir="2700000" algn="tl">
                  <a:srgbClr val="000000">
                    <a:alpha val="43137"/>
                  </a:srgbClr>
                </a:outerShdw>
              </a:effectLst>
              <a:latin typeface="+mn-ea"/>
              <a:ea typeface="+mn-ea"/>
              <a:sym typeface="微软雅黑" panose="020B0503020204020204" pitchFamily="34" charset="-122"/>
            </a:endParaRPr>
          </a:p>
        </p:txBody>
      </p:sp>
      <p:pic>
        <p:nvPicPr>
          <p:cNvPr id="118" name="图片 11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7632151" y="5560290"/>
            <a:ext cx="1434925" cy="461150"/>
          </a:xfrm>
          <a:prstGeom prst="rect">
            <a:avLst/>
          </a:prstGeom>
        </p:spPr>
      </p:pic>
      <p:pic>
        <p:nvPicPr>
          <p:cNvPr id="119" name="图片 11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92367" y="5396317"/>
            <a:ext cx="1583476" cy="752882"/>
          </a:xfrm>
          <a:prstGeom prst="rect">
            <a:avLst/>
          </a:prstGeom>
        </p:spPr>
      </p:pic>
      <p:sp>
        <p:nvSpPr>
          <p:cNvPr id="120" name="文本框 119"/>
          <p:cNvSpPr txBox="1"/>
          <p:nvPr/>
        </p:nvSpPr>
        <p:spPr>
          <a:xfrm>
            <a:off x="1393057" y="5568997"/>
            <a:ext cx="1799205" cy="338426"/>
          </a:xfrm>
          <a:prstGeom prst="rect">
            <a:avLst/>
          </a:prstGeom>
          <a:noFill/>
        </p:spPr>
        <p:txBody>
          <a:bodyPr wrap="square" rtlCol="0">
            <a:spAutoFit/>
          </a:bodyPr>
          <a:lstStyle/>
          <a:p>
            <a:pPr defTabSz="1218712"/>
            <a:r>
              <a:rPr lang="zh-CN" altLang="en-US" sz="1599" b="1" dirty="0">
                <a:solidFill>
                  <a:prstClr val="black"/>
                </a:solidFill>
                <a:latin typeface="+mn-ea"/>
                <a:ea typeface="+mn-ea"/>
                <a:sym typeface="微软雅黑" panose="020B0503020204020204" pitchFamily="34" charset="-122"/>
              </a:rPr>
              <a:t>平台硬件</a:t>
            </a:r>
            <a:endParaRPr lang="en-US" sz="1599" b="1" dirty="0">
              <a:solidFill>
                <a:prstClr val="black"/>
              </a:solidFill>
              <a:latin typeface="+mn-ea"/>
              <a:ea typeface="+mn-ea"/>
              <a:sym typeface="微软雅黑" panose="020B0503020204020204" pitchFamily="34" charset="-122"/>
            </a:endParaRPr>
          </a:p>
        </p:txBody>
      </p:sp>
      <p:pic>
        <p:nvPicPr>
          <p:cNvPr id="121" name="1741291015"/>
          <p:cNvPicPr>
            <a:picLocks noChangeAspect="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335129" y="5390751"/>
            <a:ext cx="681660" cy="785694"/>
          </a:xfrm>
          <a:prstGeom prst="rect">
            <a:avLst/>
          </a:prstGeom>
        </p:spPr>
      </p:pic>
      <p:sp>
        <p:nvSpPr>
          <p:cNvPr id="122" name="矩形 121"/>
          <p:cNvSpPr/>
          <p:nvPr/>
        </p:nvSpPr>
        <p:spPr>
          <a:xfrm>
            <a:off x="1016372" y="4819312"/>
            <a:ext cx="10464801" cy="601661"/>
          </a:xfrm>
          <a:prstGeom prst="rect">
            <a:avLst/>
          </a:prstGeom>
          <a:solidFill>
            <a:srgbClr val="C6D9F1"/>
          </a:solidFill>
          <a:ln w="25400" cap="flat" cmpd="sng" algn="ctr">
            <a:solidFill>
              <a:sysClr val="window" lastClr="FFFFFF">
                <a:lumMod val="65000"/>
              </a:sysClr>
            </a:solidFill>
            <a:prstDash val="solid"/>
          </a:ln>
          <a:effectLst/>
        </p:spPr>
        <p:txBody>
          <a:bodyPr wrap="none" rtlCol="0" anchor="t">
            <a:noAutofit/>
          </a:bodyPr>
          <a:lstStyle/>
          <a:p>
            <a:pPr algn="ctr" defTabSz="1217981" fontAlgn="base">
              <a:defRPr/>
            </a:pPr>
            <a:endParaRPr lang="zh-CN" altLang="en-US" sz="1599" b="1" kern="0" dirty="0">
              <a:solidFill>
                <a:srgbClr val="FFC000"/>
              </a:solidFill>
              <a:effectLst>
                <a:outerShdw blurRad="38100" dist="38100" dir="2700000" algn="tl">
                  <a:srgbClr val="000000">
                    <a:alpha val="43137"/>
                  </a:srgbClr>
                </a:outerShdw>
              </a:effectLst>
              <a:latin typeface="+mn-ea"/>
              <a:ea typeface="+mn-ea"/>
              <a:sym typeface="微软雅黑" panose="020B0503020204020204" pitchFamily="34" charset="-122"/>
            </a:endParaRPr>
          </a:p>
        </p:txBody>
      </p:sp>
      <p:pic>
        <p:nvPicPr>
          <p:cNvPr id="124" name="图片 1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59641" y="4929598"/>
            <a:ext cx="1126894" cy="407066"/>
          </a:xfrm>
          <a:prstGeom prst="rect">
            <a:avLst/>
          </a:prstGeom>
        </p:spPr>
      </p:pic>
      <p:pic>
        <p:nvPicPr>
          <p:cNvPr id="181" name="图片 18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49459" y="4888769"/>
            <a:ext cx="746021" cy="473451"/>
          </a:xfrm>
          <a:prstGeom prst="rect">
            <a:avLst/>
          </a:prstGeom>
        </p:spPr>
      </p:pic>
      <p:pic>
        <p:nvPicPr>
          <p:cNvPr id="182" name="图片 181"/>
          <p:cNvPicPr>
            <a:picLocks noChangeAspect="1"/>
          </p:cNvPicPr>
          <p:nvPr/>
        </p:nvPicPr>
        <p:blipFill>
          <a:blip r:embed="rId8" cstate="print">
            <a:clrChange>
              <a:clrFrom>
                <a:srgbClr val="0A1425"/>
              </a:clrFrom>
              <a:clrTo>
                <a:srgbClr val="0A1425">
                  <a:alpha val="0"/>
                </a:srgbClr>
              </a:clrTo>
            </a:clrChange>
            <a:extLst>
              <a:ext uri="{28A0092B-C50C-407E-A947-70E740481C1C}">
                <a14:useLocalDpi xmlns:a14="http://schemas.microsoft.com/office/drawing/2010/main"/>
              </a:ext>
            </a:extLst>
          </a:blip>
          <a:stretch>
            <a:fillRect/>
          </a:stretch>
        </p:blipFill>
        <p:spPr>
          <a:xfrm>
            <a:off x="5037339" y="4997851"/>
            <a:ext cx="1181641" cy="227897"/>
          </a:xfrm>
          <a:prstGeom prst="rect">
            <a:avLst/>
          </a:prstGeom>
          <a:solidFill>
            <a:srgbClr val="00B0F0"/>
          </a:solidFill>
        </p:spPr>
      </p:pic>
      <p:pic>
        <p:nvPicPr>
          <p:cNvPr id="183" name="图片 182"/>
          <p:cNvPicPr>
            <a:picLocks noChangeAspect="1"/>
          </p:cNvPicPr>
          <p:nvPr/>
        </p:nvPicPr>
        <p:blipFill>
          <a:blip r:embed="rId9"/>
          <a:stretch>
            <a:fillRect/>
          </a:stretch>
        </p:blipFill>
        <p:spPr>
          <a:xfrm>
            <a:off x="6682953" y="4859450"/>
            <a:ext cx="482939" cy="538604"/>
          </a:xfrm>
          <a:prstGeom prst="rect">
            <a:avLst/>
          </a:prstGeom>
          <a:solidFill>
            <a:srgbClr val="00B0F0"/>
          </a:solidFill>
        </p:spPr>
      </p:pic>
      <p:pic>
        <p:nvPicPr>
          <p:cNvPr id="184" name="图片 183"/>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7713949" y="4849200"/>
            <a:ext cx="535062" cy="548854"/>
          </a:xfrm>
          <a:prstGeom prst="rect">
            <a:avLst/>
          </a:prstGeom>
          <a:solidFill>
            <a:srgbClr val="00B0F0"/>
          </a:solidFill>
        </p:spPr>
      </p:pic>
      <p:pic>
        <p:nvPicPr>
          <p:cNvPr id="185" name="Picture 2" descr="Related image"/>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8826608" y="4933936"/>
            <a:ext cx="974973" cy="462124"/>
          </a:xfrm>
          <a:prstGeom prst="rect">
            <a:avLst/>
          </a:prstGeom>
          <a:noFill/>
          <a:extLst>
            <a:ext uri="{909E8E84-426E-40DD-AFC4-6F175D3DCCD1}">
              <a14:hiddenFill xmlns:a14="http://schemas.microsoft.com/office/drawing/2010/main">
                <a:solidFill>
                  <a:srgbClr val="FFFFFF"/>
                </a:solidFill>
              </a14:hiddenFill>
            </a:ext>
          </a:extLst>
        </p:spPr>
      </p:pic>
      <p:pic>
        <p:nvPicPr>
          <p:cNvPr id="186" name="图片 185"/>
          <p:cNvPicPr>
            <a:picLocks noChangeAspect="1"/>
          </p:cNvPicPr>
          <p:nvPr/>
        </p:nvPicPr>
        <p:blipFill>
          <a:blip r:embed="rId12"/>
          <a:stretch>
            <a:fillRect/>
          </a:stretch>
        </p:blipFill>
        <p:spPr>
          <a:xfrm>
            <a:off x="10307764" y="4912713"/>
            <a:ext cx="658701" cy="515685"/>
          </a:xfrm>
          <a:prstGeom prst="rect">
            <a:avLst/>
          </a:prstGeom>
        </p:spPr>
      </p:pic>
      <p:pic>
        <p:nvPicPr>
          <p:cNvPr id="187" name="图片 186"/>
          <p:cNvPicPr>
            <a:picLocks noChangeAspect="1"/>
          </p:cNvPicPr>
          <p:nvPr/>
        </p:nvPicPr>
        <p:blipFill>
          <a:blip r:embed="rId13" cstate="print">
            <a:clrChange>
              <a:clrFrom>
                <a:srgbClr val="000000"/>
              </a:clrFrom>
              <a:clrTo>
                <a:srgbClr val="000000">
                  <a:alpha val="0"/>
                </a:srgbClr>
              </a:clrTo>
            </a:clrChange>
            <a:extLst>
              <a:ext uri="{28A0092B-C50C-407E-A947-70E740481C1C}">
                <a14:useLocalDpi xmlns:a14="http://schemas.microsoft.com/office/drawing/2010/main"/>
              </a:ext>
            </a:extLst>
          </a:blip>
          <a:stretch>
            <a:fillRect/>
          </a:stretch>
        </p:blipFill>
        <p:spPr>
          <a:xfrm>
            <a:off x="3245818" y="5374926"/>
            <a:ext cx="1466689" cy="825012"/>
          </a:xfrm>
          <a:prstGeom prst="rect">
            <a:avLst/>
          </a:prstGeom>
        </p:spPr>
      </p:pic>
      <p:sp>
        <p:nvSpPr>
          <p:cNvPr id="188" name="文本框 187"/>
          <p:cNvSpPr txBox="1"/>
          <p:nvPr/>
        </p:nvSpPr>
        <p:spPr>
          <a:xfrm>
            <a:off x="1405725" y="4976677"/>
            <a:ext cx="830332" cy="338222"/>
          </a:xfrm>
          <a:prstGeom prst="rect">
            <a:avLst/>
          </a:prstGeom>
          <a:noFill/>
        </p:spPr>
        <p:txBody>
          <a:bodyPr wrap="square" rtlCol="0">
            <a:spAutoFit/>
          </a:bodyPr>
          <a:lstStyle/>
          <a:p>
            <a:pPr defTabSz="1218712"/>
            <a:r>
              <a:rPr lang="en-US" sz="1599" b="1" dirty="0">
                <a:solidFill>
                  <a:prstClr val="black"/>
                </a:solidFill>
                <a:latin typeface="+mn-ea"/>
                <a:ea typeface="+mn-ea"/>
                <a:sym typeface="微软雅黑" panose="020B0503020204020204" pitchFamily="34" charset="-122"/>
              </a:rPr>
              <a:t>OS</a:t>
            </a:r>
          </a:p>
        </p:txBody>
      </p:sp>
      <p:grpSp>
        <p:nvGrpSpPr>
          <p:cNvPr id="189" name="组合 188"/>
          <p:cNvGrpSpPr/>
          <p:nvPr/>
        </p:nvGrpSpPr>
        <p:grpSpPr>
          <a:xfrm>
            <a:off x="4825354" y="5448967"/>
            <a:ext cx="1113378" cy="647582"/>
            <a:chOff x="374021" y="2860948"/>
            <a:chExt cx="1114470" cy="916047"/>
          </a:xfrm>
        </p:grpSpPr>
        <p:pic>
          <p:nvPicPr>
            <p:cNvPr id="190" name="图片 34"/>
            <p:cNvPicPr>
              <a:picLocks noChangeAspect="1"/>
            </p:cNvPicPr>
            <p:nvPr/>
          </p:nvPicPr>
          <p:blipFill>
            <a:blip r:embed="rId14" cstate="print"/>
            <a:srcRect/>
            <a:stretch>
              <a:fillRect/>
            </a:stretch>
          </p:blipFill>
          <p:spPr bwMode="auto">
            <a:xfrm>
              <a:off x="374021" y="2860948"/>
              <a:ext cx="917083" cy="666169"/>
            </a:xfrm>
            <a:prstGeom prst="rect">
              <a:avLst/>
            </a:prstGeom>
            <a:noFill/>
            <a:ln w="9525">
              <a:noFill/>
              <a:miter lim="800000"/>
              <a:headEnd/>
              <a:tailEnd/>
            </a:ln>
          </p:spPr>
        </p:pic>
        <p:pic>
          <p:nvPicPr>
            <p:cNvPr id="191" name="图片 34"/>
            <p:cNvPicPr>
              <a:picLocks noChangeAspect="1"/>
            </p:cNvPicPr>
            <p:nvPr/>
          </p:nvPicPr>
          <p:blipFill>
            <a:blip r:embed="rId14" cstate="print"/>
            <a:srcRect/>
            <a:stretch>
              <a:fillRect/>
            </a:stretch>
          </p:blipFill>
          <p:spPr bwMode="auto">
            <a:xfrm>
              <a:off x="571408" y="3110826"/>
              <a:ext cx="917083" cy="666169"/>
            </a:xfrm>
            <a:prstGeom prst="rect">
              <a:avLst/>
            </a:prstGeom>
            <a:noFill/>
            <a:ln w="9525">
              <a:noFill/>
              <a:miter lim="800000"/>
              <a:headEnd/>
              <a:tailEnd/>
            </a:ln>
          </p:spPr>
        </p:pic>
      </p:grpSp>
      <p:pic>
        <p:nvPicPr>
          <p:cNvPr id="250" name="Picture 2" descr="../_images/stack.pn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56292" y="1302851"/>
            <a:ext cx="4986071" cy="3495297"/>
          </a:xfrm>
          <a:prstGeom prst="rect">
            <a:avLst/>
          </a:prstGeom>
          <a:noFill/>
          <a:ln>
            <a:solidFill>
              <a:srgbClr val="FBA102"/>
            </a:solidFill>
          </a:ln>
          <a:extLst>
            <a:ext uri="{909E8E84-426E-40DD-AFC4-6F175D3DCCD1}">
              <a14:hiddenFill xmlns:a14="http://schemas.microsoft.com/office/drawing/2010/main">
                <a:solidFill>
                  <a:srgbClr val="FFFFFF"/>
                </a:solidFill>
              </a14:hiddenFill>
            </a:ext>
          </a:extLst>
        </p:spPr>
      </p:pic>
      <p:grpSp>
        <p:nvGrpSpPr>
          <p:cNvPr id="80" name="组合 79"/>
          <p:cNvGrpSpPr/>
          <p:nvPr/>
        </p:nvGrpSpPr>
        <p:grpSpPr>
          <a:xfrm>
            <a:off x="6096000" y="1324724"/>
            <a:ext cx="5760640" cy="3477902"/>
            <a:chOff x="5978266" y="1324724"/>
            <a:chExt cx="5735213" cy="2824356"/>
          </a:xfrm>
        </p:grpSpPr>
        <p:sp>
          <p:nvSpPr>
            <p:cNvPr id="81" name="矩形 80"/>
            <p:cNvSpPr/>
            <p:nvPr/>
          </p:nvSpPr>
          <p:spPr bwMode="auto">
            <a:xfrm>
              <a:off x="5978266" y="1324724"/>
              <a:ext cx="4121874" cy="2824355"/>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2" name="文本框 81"/>
            <p:cNvSpPr txBox="1"/>
            <p:nvPr/>
          </p:nvSpPr>
          <p:spPr bwMode="auto">
            <a:xfrm>
              <a:off x="5988497" y="1574380"/>
              <a:ext cx="4064724" cy="540000"/>
            </a:xfrm>
            <a:prstGeom prst="rect">
              <a:avLst/>
            </a:prstGeom>
            <a:solidFill>
              <a:srgbClr val="C6D9F1"/>
            </a:solid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3" name="矩形 82"/>
            <p:cNvSpPr/>
            <p:nvPr/>
          </p:nvSpPr>
          <p:spPr bwMode="auto">
            <a:xfrm>
              <a:off x="6168008" y="1585229"/>
              <a:ext cx="553930" cy="230177"/>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rPr>
                <a:t>NFS</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4" name="矩形 83"/>
            <p:cNvSpPr/>
            <p:nvPr/>
          </p:nvSpPr>
          <p:spPr bwMode="auto">
            <a:xfrm>
              <a:off x="6836103" y="1589592"/>
              <a:ext cx="572342" cy="225814"/>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CI</a:t>
              </a:r>
              <a:r>
                <a:rPr kumimoji="0" lang="en-US" altLang="zh-CN"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rPr>
                <a:t>FS</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5" name="矩形 84"/>
            <p:cNvSpPr/>
            <p:nvPr/>
          </p:nvSpPr>
          <p:spPr bwMode="auto">
            <a:xfrm>
              <a:off x="7478846" y="1594002"/>
              <a:ext cx="546973" cy="207113"/>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FTP</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6" name="矩形 85"/>
            <p:cNvSpPr/>
            <p:nvPr/>
          </p:nvSpPr>
          <p:spPr bwMode="auto">
            <a:xfrm>
              <a:off x="8163696" y="1585536"/>
              <a:ext cx="616266" cy="232782"/>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HDFS</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7" name="矩形 86"/>
            <p:cNvSpPr/>
            <p:nvPr/>
          </p:nvSpPr>
          <p:spPr bwMode="auto">
            <a:xfrm>
              <a:off x="6168008" y="1843083"/>
              <a:ext cx="687398" cy="239412"/>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NDMP</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8" name="矩形 87"/>
            <p:cNvSpPr/>
            <p:nvPr/>
          </p:nvSpPr>
          <p:spPr bwMode="auto">
            <a:xfrm>
              <a:off x="6923607" y="1843083"/>
              <a:ext cx="552543" cy="244995"/>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iSCSI</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9" name="矩形 88"/>
            <p:cNvSpPr/>
            <p:nvPr/>
          </p:nvSpPr>
          <p:spPr bwMode="auto">
            <a:xfrm>
              <a:off x="7535526" y="1843083"/>
              <a:ext cx="505230" cy="230433"/>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SCSI</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0" name="矩形 89"/>
            <p:cNvSpPr/>
            <p:nvPr/>
          </p:nvSpPr>
          <p:spPr bwMode="auto">
            <a:xfrm>
              <a:off x="8136439" y="1843083"/>
              <a:ext cx="858769" cy="231377"/>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S3/Swift</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1" name="文本框 90"/>
            <p:cNvSpPr txBox="1"/>
            <p:nvPr/>
          </p:nvSpPr>
          <p:spPr bwMode="auto">
            <a:xfrm>
              <a:off x="5991105" y="2373765"/>
              <a:ext cx="4062116" cy="1080000"/>
            </a:xfrm>
            <a:prstGeom prst="rect">
              <a:avLst/>
            </a:prstGeom>
            <a:solidFill>
              <a:srgbClr val="C6D9F1"/>
            </a:solid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2" name="文本框 91"/>
            <p:cNvSpPr txBox="1"/>
            <p:nvPr/>
          </p:nvSpPr>
          <p:spPr bwMode="auto">
            <a:xfrm>
              <a:off x="6086723" y="2072763"/>
              <a:ext cx="1547663"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Data Service Layer</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3" name="矩形 92"/>
            <p:cNvSpPr/>
            <p:nvPr/>
          </p:nvSpPr>
          <p:spPr bwMode="auto">
            <a:xfrm>
              <a:off x="6096000" y="2531451"/>
              <a:ext cx="1188603" cy="897549"/>
            </a:xfrm>
            <a:prstGeom prst="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4" name="矩形 93"/>
            <p:cNvSpPr/>
            <p:nvPr/>
          </p:nvSpPr>
          <p:spPr bwMode="auto">
            <a:xfrm>
              <a:off x="7338936" y="2531451"/>
              <a:ext cx="1205336" cy="897549"/>
            </a:xfrm>
            <a:prstGeom prst="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5" name="矩形 94"/>
            <p:cNvSpPr/>
            <p:nvPr/>
          </p:nvSpPr>
          <p:spPr bwMode="auto">
            <a:xfrm>
              <a:off x="8616280" y="2531451"/>
              <a:ext cx="1377367" cy="897549"/>
            </a:xfrm>
            <a:prstGeom prst="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6" name="文本框 95"/>
            <p:cNvSpPr txBox="1"/>
            <p:nvPr/>
          </p:nvSpPr>
          <p:spPr bwMode="auto">
            <a:xfrm>
              <a:off x="6024055" y="2407868"/>
              <a:ext cx="1311771"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FusionStorage Block</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7" name="矩形 96"/>
            <p:cNvSpPr/>
            <p:nvPr/>
          </p:nvSpPr>
          <p:spPr bwMode="auto">
            <a:xfrm>
              <a:off x="6153612" y="2852936"/>
              <a:ext cx="482448" cy="220210"/>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快照</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8" name="矩形 97"/>
            <p:cNvSpPr/>
            <p:nvPr/>
          </p:nvSpPr>
          <p:spPr bwMode="auto">
            <a:xfrm>
              <a:off x="6669519" y="2852936"/>
              <a:ext cx="644787" cy="212651"/>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精简配置</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9" name="矩形 98"/>
            <p:cNvSpPr/>
            <p:nvPr/>
          </p:nvSpPr>
          <p:spPr bwMode="auto">
            <a:xfrm>
              <a:off x="6159206" y="3113815"/>
              <a:ext cx="657561" cy="218716"/>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链接克隆</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0" name="矩形 99"/>
            <p:cNvSpPr/>
            <p:nvPr/>
          </p:nvSpPr>
          <p:spPr bwMode="auto">
            <a:xfrm>
              <a:off x="6801684" y="3116944"/>
              <a:ext cx="471066" cy="215587"/>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双活</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1" name="文本框 100"/>
            <p:cNvSpPr txBox="1"/>
            <p:nvPr/>
          </p:nvSpPr>
          <p:spPr bwMode="auto">
            <a:xfrm>
              <a:off x="7345155" y="2455774"/>
              <a:ext cx="1326233"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FusionStorage Object</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2" name="矩形 101"/>
            <p:cNvSpPr/>
            <p:nvPr/>
          </p:nvSpPr>
          <p:spPr bwMode="auto">
            <a:xfrm>
              <a:off x="7485760" y="2861388"/>
              <a:ext cx="482448" cy="193845"/>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配额</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3" name="矩形 102"/>
            <p:cNvSpPr/>
            <p:nvPr/>
          </p:nvSpPr>
          <p:spPr bwMode="auto">
            <a:xfrm>
              <a:off x="7641071" y="3144342"/>
              <a:ext cx="665170" cy="189900"/>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同步复制</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4" name="矩形 103"/>
            <p:cNvSpPr/>
            <p:nvPr/>
          </p:nvSpPr>
          <p:spPr bwMode="auto">
            <a:xfrm>
              <a:off x="8025820" y="2861389"/>
              <a:ext cx="482448" cy="207572"/>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重删</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5" name="文本框 104"/>
            <p:cNvSpPr txBox="1"/>
            <p:nvPr/>
          </p:nvSpPr>
          <p:spPr bwMode="auto">
            <a:xfrm>
              <a:off x="8647451" y="2424355"/>
              <a:ext cx="1326233"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FusionStorage File</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6" name="矩形 105"/>
            <p:cNvSpPr/>
            <p:nvPr/>
          </p:nvSpPr>
          <p:spPr bwMode="auto">
            <a:xfrm>
              <a:off x="8616280" y="2852936"/>
              <a:ext cx="438349" cy="210163"/>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快照</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7" name="矩形 106"/>
            <p:cNvSpPr/>
            <p:nvPr/>
          </p:nvSpPr>
          <p:spPr bwMode="auto">
            <a:xfrm>
              <a:off x="9084332" y="2857098"/>
              <a:ext cx="438349" cy="207572"/>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配额</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8" name="矩形 107"/>
            <p:cNvSpPr/>
            <p:nvPr/>
          </p:nvSpPr>
          <p:spPr bwMode="auto">
            <a:xfrm>
              <a:off x="9552384" y="2861388"/>
              <a:ext cx="438349" cy="207572"/>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分级</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9" name="矩形 108"/>
            <p:cNvSpPr/>
            <p:nvPr/>
          </p:nvSpPr>
          <p:spPr bwMode="auto">
            <a:xfrm>
              <a:off x="9312948" y="3122243"/>
              <a:ext cx="655375" cy="234749"/>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异步复制</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0" name="矩形 109"/>
            <p:cNvSpPr/>
            <p:nvPr/>
          </p:nvSpPr>
          <p:spPr bwMode="auto">
            <a:xfrm>
              <a:off x="8683166" y="3127057"/>
              <a:ext cx="587488" cy="229935"/>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WORM</a:t>
              </a:r>
              <a:endParaRPr kumimoji="0" lang="zh-CN" altLang="en-US" sz="9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1" name="文本框 110"/>
            <p:cNvSpPr txBox="1"/>
            <p:nvPr/>
          </p:nvSpPr>
          <p:spPr bwMode="auto">
            <a:xfrm>
              <a:off x="5995674" y="3681076"/>
              <a:ext cx="4057547" cy="432000"/>
            </a:xfrm>
            <a:prstGeom prst="rect">
              <a:avLst/>
            </a:prstGeom>
            <a:solidFill>
              <a:srgbClr val="C6D9F1"/>
            </a:solid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2" name="文本框 111"/>
            <p:cNvSpPr txBox="1"/>
            <p:nvPr/>
          </p:nvSpPr>
          <p:spPr bwMode="auto">
            <a:xfrm>
              <a:off x="6096000" y="3407751"/>
              <a:ext cx="171525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Resource Pool Layer</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3" name="矩形 112"/>
            <p:cNvSpPr/>
            <p:nvPr/>
          </p:nvSpPr>
          <p:spPr bwMode="auto">
            <a:xfrm>
              <a:off x="8368826" y="3717208"/>
              <a:ext cx="764693" cy="377130"/>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Data Layout</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4" name="矩形 113"/>
            <p:cNvSpPr/>
            <p:nvPr/>
          </p:nvSpPr>
          <p:spPr bwMode="auto">
            <a:xfrm>
              <a:off x="9228347" y="3717032"/>
              <a:ext cx="764693" cy="377483"/>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Data Recovery</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5" name="矩形 114"/>
            <p:cNvSpPr/>
            <p:nvPr/>
          </p:nvSpPr>
          <p:spPr bwMode="auto">
            <a:xfrm>
              <a:off x="10142434" y="1350772"/>
              <a:ext cx="1194120" cy="2798308"/>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6" name="矩形 115"/>
            <p:cNvSpPr/>
            <p:nvPr/>
          </p:nvSpPr>
          <p:spPr bwMode="auto">
            <a:xfrm>
              <a:off x="10180734" y="1520788"/>
              <a:ext cx="1095246" cy="1354406"/>
            </a:xfrm>
            <a:prstGeom prst="rect">
              <a:avLst/>
            </a:prstGeom>
            <a:solidFill>
              <a:srgbClr val="C6D9F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3" name="文本框 122"/>
            <p:cNvSpPr txBox="1"/>
            <p:nvPr/>
          </p:nvSpPr>
          <p:spPr bwMode="auto">
            <a:xfrm>
              <a:off x="10165816" y="1553454"/>
              <a:ext cx="1547663"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FusionStorage Management</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5" name="矩形 124"/>
            <p:cNvSpPr/>
            <p:nvPr/>
          </p:nvSpPr>
          <p:spPr bwMode="auto">
            <a:xfrm>
              <a:off x="10265871" y="2001080"/>
              <a:ext cx="925734" cy="817177"/>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1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用户管理、告警、资产管理、业务配置</a:t>
              </a:r>
              <a:endParaRPr kumimoji="0" lang="zh-CN" altLang="en-US" sz="11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6" name="矩形 125"/>
            <p:cNvSpPr/>
            <p:nvPr/>
          </p:nvSpPr>
          <p:spPr bwMode="auto">
            <a:xfrm>
              <a:off x="10188206" y="2924944"/>
              <a:ext cx="1074367" cy="1149750"/>
            </a:xfrm>
            <a:prstGeom prst="rect">
              <a:avLst/>
            </a:prstGeom>
            <a:solidFill>
              <a:srgbClr val="C6D9F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7" name="文本框 126"/>
            <p:cNvSpPr txBox="1"/>
            <p:nvPr/>
          </p:nvSpPr>
          <p:spPr bwMode="auto">
            <a:xfrm>
              <a:off x="10355356" y="2925483"/>
              <a:ext cx="790545"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Toolkit</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8" name="矩形 127"/>
            <p:cNvSpPr/>
            <p:nvPr/>
          </p:nvSpPr>
          <p:spPr bwMode="auto">
            <a:xfrm>
              <a:off x="10279751" y="3154525"/>
              <a:ext cx="925734" cy="907160"/>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1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部署、扩容、升级、巡检、信息收集</a:t>
              </a:r>
              <a:endParaRPr kumimoji="0" lang="zh-CN" altLang="en-US" sz="11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矩形 128"/>
            <p:cNvSpPr/>
            <p:nvPr/>
          </p:nvSpPr>
          <p:spPr bwMode="auto">
            <a:xfrm>
              <a:off x="6024055" y="3721745"/>
              <a:ext cx="697883" cy="339940"/>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多副本</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0" name="矩形 129"/>
            <p:cNvSpPr/>
            <p:nvPr/>
          </p:nvSpPr>
          <p:spPr bwMode="auto">
            <a:xfrm>
              <a:off x="6816767" y="3718552"/>
              <a:ext cx="597708" cy="374442"/>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在线</a:t>
              </a: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EC</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1" name="矩形 130"/>
            <p:cNvSpPr/>
            <p:nvPr/>
          </p:nvSpPr>
          <p:spPr bwMode="auto">
            <a:xfrm>
              <a:off x="7509304" y="3720150"/>
              <a:ext cx="764693" cy="371247"/>
            </a:xfrm>
            <a:prstGeom prst="rect">
              <a:avLst/>
            </a:prstGeom>
            <a:solidFill>
              <a:srgbClr val="0070C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Load Balance</a:t>
              </a:r>
              <a:endParaRPr kumimoji="0" lang="zh-CN" altLang="en-US" sz="12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2" name="矩形 131"/>
            <p:cNvSpPr/>
            <p:nvPr/>
          </p:nvSpPr>
          <p:spPr bwMode="auto">
            <a:xfrm>
              <a:off x="6136176" y="2442471"/>
              <a:ext cx="1219964" cy="945198"/>
            </a:xfrm>
            <a:prstGeom prst="rect">
              <a:avLst/>
            </a:prstGeom>
            <a:noFill/>
            <a:ln w="9525" cap="flat" cmpd="sng" algn="ctr">
              <a:solidFill>
                <a:schemeClr val="tx1">
                  <a:lumMod val="65000"/>
                  <a:lumOff val="3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33" name="矩形 132"/>
            <p:cNvSpPr/>
            <p:nvPr/>
          </p:nvSpPr>
          <p:spPr bwMode="auto">
            <a:xfrm>
              <a:off x="7424056" y="2442471"/>
              <a:ext cx="1121229" cy="945198"/>
            </a:xfrm>
            <a:prstGeom prst="rect">
              <a:avLst/>
            </a:prstGeom>
            <a:noFill/>
            <a:ln w="9525" cap="flat" cmpd="sng" algn="ctr">
              <a:solidFill>
                <a:schemeClr val="tx1">
                  <a:lumMod val="65000"/>
                  <a:lumOff val="3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34" name="矩形 133"/>
            <p:cNvSpPr/>
            <p:nvPr/>
          </p:nvSpPr>
          <p:spPr bwMode="auto">
            <a:xfrm>
              <a:off x="8598288" y="2431337"/>
              <a:ext cx="1427474" cy="945198"/>
            </a:xfrm>
            <a:prstGeom prst="rect">
              <a:avLst/>
            </a:prstGeom>
            <a:noFill/>
            <a:ln w="9525" cap="flat" cmpd="sng" algn="ctr">
              <a:solidFill>
                <a:schemeClr val="tx1">
                  <a:lumMod val="65000"/>
                  <a:lumOff val="35000"/>
                </a:schemeClr>
              </a:solidFill>
              <a:prstDash val="dash"/>
              <a:round/>
              <a:headEnd type="none" w="med" len="med"/>
              <a:tailEnd type="none" w="med" len="med"/>
            </a:ln>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grpSp>
      <p:sp>
        <p:nvSpPr>
          <p:cNvPr id="2" name="矩形 1"/>
          <p:cNvSpPr/>
          <p:nvPr/>
        </p:nvSpPr>
        <p:spPr>
          <a:xfrm>
            <a:off x="6209761" y="1300366"/>
            <a:ext cx="1110369" cy="276999"/>
          </a:xfrm>
          <a:prstGeom prst="rect">
            <a:avLst/>
          </a:prstGeom>
        </p:spPr>
        <p:txBody>
          <a:bodyPr wrap="none">
            <a:spAutoFit/>
          </a:bodyPr>
          <a:lstStyle/>
          <a:p>
            <a:r>
              <a:rPr lang="en-US" altLang="zh-CN" sz="1200" dirty="0">
                <a:latin typeface="+mn-ea"/>
                <a:ea typeface="+mn-ea"/>
              </a:rPr>
              <a:t>Access Layer</a:t>
            </a:r>
          </a:p>
        </p:txBody>
      </p:sp>
    </p:spTree>
    <p:extLst>
      <p:ext uri="{BB962C8B-B14F-4D97-AF65-F5344CB8AC3E}">
        <p14:creationId xmlns:p14="http://schemas.microsoft.com/office/powerpoint/2010/main" val="3481896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Ceph</a:t>
            </a:r>
            <a:r>
              <a:rPr lang="zh-CN" altLang="en-US" dirty="0"/>
              <a:t>统一存储架构</a:t>
            </a:r>
          </a:p>
        </p:txBody>
      </p:sp>
      <p:sp>
        <p:nvSpPr>
          <p:cNvPr id="3" name="文本框 2"/>
          <p:cNvSpPr txBox="1"/>
          <p:nvPr/>
        </p:nvSpPr>
        <p:spPr>
          <a:xfrm>
            <a:off x="3229422" y="1635760"/>
            <a:ext cx="1021433" cy="369332"/>
          </a:xfrm>
          <a:prstGeom prst="rect">
            <a:avLst/>
          </a:prstGeom>
          <a:noFill/>
        </p:spPr>
        <p:txBody>
          <a:bodyPr wrap="none" rtlCol="0">
            <a:spAutoFit/>
          </a:bodyPr>
          <a:lstStyle/>
          <a:p>
            <a:pPr fontAlgn="base"/>
            <a:r>
              <a:rPr lang="en-US" sz="1800" dirty="0">
                <a:solidFill>
                  <a:prstClr val="black"/>
                </a:solidFill>
                <a:latin typeface="+mn-ea"/>
                <a:ea typeface="+mn-ea"/>
                <a:cs typeface="Arial" panose="020B0604020202020204" pitchFamily="34" charset="0"/>
              </a:rPr>
              <a:t>OBJECT</a:t>
            </a:r>
          </a:p>
        </p:txBody>
      </p:sp>
      <p:sp>
        <p:nvSpPr>
          <p:cNvPr id="4" name="文本框 3"/>
          <p:cNvSpPr txBox="1"/>
          <p:nvPr/>
        </p:nvSpPr>
        <p:spPr>
          <a:xfrm>
            <a:off x="5699787" y="1635760"/>
            <a:ext cx="926279" cy="369332"/>
          </a:xfrm>
          <a:prstGeom prst="rect">
            <a:avLst/>
          </a:prstGeom>
          <a:noFill/>
        </p:spPr>
        <p:txBody>
          <a:bodyPr wrap="none" rtlCol="0">
            <a:spAutoFit/>
          </a:bodyPr>
          <a:lstStyle/>
          <a:p>
            <a:pPr fontAlgn="base"/>
            <a:r>
              <a:rPr lang="en-US" sz="1800" dirty="0">
                <a:solidFill>
                  <a:prstClr val="black"/>
                </a:solidFill>
                <a:latin typeface="+mn-ea"/>
                <a:ea typeface="+mn-ea"/>
                <a:cs typeface="Arial" panose="020B0604020202020204" pitchFamily="34" charset="0"/>
              </a:rPr>
              <a:t>BLOCK</a:t>
            </a:r>
          </a:p>
        </p:txBody>
      </p:sp>
      <p:sp>
        <p:nvSpPr>
          <p:cNvPr id="5" name="文本框 4"/>
          <p:cNvSpPr txBox="1"/>
          <p:nvPr/>
        </p:nvSpPr>
        <p:spPr>
          <a:xfrm>
            <a:off x="8488863" y="1635760"/>
            <a:ext cx="620683" cy="369332"/>
          </a:xfrm>
          <a:prstGeom prst="rect">
            <a:avLst/>
          </a:prstGeom>
          <a:noFill/>
        </p:spPr>
        <p:txBody>
          <a:bodyPr wrap="none" rtlCol="0">
            <a:spAutoFit/>
          </a:bodyPr>
          <a:lstStyle/>
          <a:p>
            <a:pPr fontAlgn="base"/>
            <a:r>
              <a:rPr lang="en-US" sz="1800" dirty="0">
                <a:solidFill>
                  <a:prstClr val="black"/>
                </a:solidFill>
                <a:latin typeface="+mn-ea"/>
                <a:ea typeface="+mn-ea"/>
                <a:cs typeface="Arial" panose="020B0604020202020204" pitchFamily="34" charset="0"/>
              </a:rPr>
              <a:t>FILE</a:t>
            </a:r>
          </a:p>
        </p:txBody>
      </p:sp>
      <p:sp>
        <p:nvSpPr>
          <p:cNvPr id="6" name="矩形 5"/>
          <p:cNvSpPr/>
          <p:nvPr/>
        </p:nvSpPr>
        <p:spPr>
          <a:xfrm>
            <a:off x="2554941" y="2355835"/>
            <a:ext cx="2306320" cy="1259840"/>
          </a:xfrm>
          <a:prstGeom prst="rect">
            <a:avLst/>
          </a:prstGeom>
          <a:solidFill>
            <a:sysClr val="windowText" lastClr="000000">
              <a:lumMod val="50000"/>
              <a:lumOff val="50000"/>
            </a:sys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mn-ea"/>
                <a:ea typeface="+mn-ea"/>
                <a:cs typeface="+mn-cs"/>
              </a:rPr>
              <a:t>RGW</a:t>
            </a:r>
          </a:p>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mn-ea"/>
                <a:ea typeface="+mn-ea"/>
                <a:cs typeface="+mn-cs"/>
              </a:rPr>
              <a:t>S3 and Swift</a:t>
            </a:r>
          </a:p>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mn-ea"/>
                <a:ea typeface="+mn-ea"/>
                <a:cs typeface="+mn-cs"/>
              </a:rPr>
              <a:t>Object Storage</a:t>
            </a:r>
          </a:p>
        </p:txBody>
      </p:sp>
      <p:sp>
        <p:nvSpPr>
          <p:cNvPr id="7" name="矩形 6"/>
          <p:cNvSpPr/>
          <p:nvPr/>
        </p:nvSpPr>
        <p:spPr>
          <a:xfrm>
            <a:off x="5060090" y="2383393"/>
            <a:ext cx="2560320" cy="1259840"/>
          </a:xfrm>
          <a:prstGeom prst="rect">
            <a:avLst/>
          </a:prstGeom>
          <a:solidFill>
            <a:sysClr val="windowText" lastClr="000000">
              <a:lumMod val="50000"/>
              <a:lumOff val="50000"/>
            </a:sys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mn-ea"/>
                <a:ea typeface="+mn-ea"/>
                <a:cs typeface="+mn-cs"/>
              </a:rPr>
              <a:t>RBD</a:t>
            </a:r>
          </a:p>
          <a:p>
            <a:pPr marL="0" marR="0" lvl="0" indent="0" algn="ctr" defTabSz="914400" eaLnBrk="1" fontAlgn="base"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white"/>
                </a:solidFill>
                <a:effectLst/>
                <a:uLnTx/>
                <a:uFillTx/>
                <a:latin typeface="+mn-ea"/>
                <a:ea typeface="+mn-ea"/>
                <a:cs typeface="+mn-cs"/>
              </a:rPr>
              <a:t>Virtual block device without robust feature set</a:t>
            </a:r>
            <a:endParaRPr kumimoji="0" lang="en-US" sz="1400" b="0" i="0" u="none" strike="noStrike" kern="0" cap="none" spc="0" normalizeH="0" baseline="0" noProof="0" dirty="0">
              <a:ln>
                <a:noFill/>
              </a:ln>
              <a:solidFill>
                <a:prstClr val="white"/>
              </a:solidFill>
              <a:effectLst/>
              <a:uLnTx/>
              <a:uFillTx/>
              <a:latin typeface="+mn-ea"/>
              <a:ea typeface="+mn-ea"/>
              <a:cs typeface="+mn-cs"/>
            </a:endParaRPr>
          </a:p>
        </p:txBody>
      </p:sp>
      <p:sp>
        <p:nvSpPr>
          <p:cNvPr id="8" name="矩形 7"/>
          <p:cNvSpPr/>
          <p:nvPr/>
        </p:nvSpPr>
        <p:spPr>
          <a:xfrm>
            <a:off x="7912042" y="2383393"/>
            <a:ext cx="2296160" cy="1259840"/>
          </a:xfrm>
          <a:prstGeom prst="rect">
            <a:avLst/>
          </a:prstGeom>
          <a:solidFill>
            <a:sysClr val="windowText" lastClr="000000">
              <a:lumMod val="50000"/>
              <a:lumOff val="50000"/>
            </a:sys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mn-ea"/>
                <a:ea typeface="+mn-ea"/>
                <a:cs typeface="+mn-cs"/>
              </a:rPr>
              <a:t>CEPH FS</a:t>
            </a:r>
          </a:p>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mn-ea"/>
                <a:ea typeface="+mn-ea"/>
                <a:cs typeface="+mn-cs"/>
              </a:rPr>
              <a:t>Distributed network file system</a:t>
            </a:r>
          </a:p>
        </p:txBody>
      </p:sp>
      <p:sp>
        <p:nvSpPr>
          <p:cNvPr id="9" name="矩形 8"/>
          <p:cNvSpPr/>
          <p:nvPr/>
        </p:nvSpPr>
        <p:spPr>
          <a:xfrm>
            <a:off x="2158839" y="3799840"/>
            <a:ext cx="8301774" cy="924560"/>
          </a:xfrm>
          <a:prstGeom prst="rect">
            <a:avLst/>
          </a:prstGeom>
          <a:solidFill>
            <a:srgbClr val="4BACC6">
              <a:lumMod val="75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mn-ea"/>
                <a:ea typeface="+mn-ea"/>
                <a:cs typeface="+mn-cs"/>
              </a:rPr>
              <a:t>LIBRADOS</a:t>
            </a:r>
          </a:p>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mn-ea"/>
                <a:ea typeface="+mn-ea"/>
                <a:cs typeface="+mn-cs"/>
              </a:rPr>
              <a:t>Low-level Storage API</a:t>
            </a:r>
          </a:p>
        </p:txBody>
      </p:sp>
      <p:sp>
        <p:nvSpPr>
          <p:cNvPr id="10" name="矩形 9"/>
          <p:cNvSpPr/>
          <p:nvPr/>
        </p:nvSpPr>
        <p:spPr>
          <a:xfrm>
            <a:off x="1885573" y="4724400"/>
            <a:ext cx="8900159" cy="1276809"/>
          </a:xfrm>
          <a:prstGeom prst="rect">
            <a:avLst/>
          </a:prstGeom>
          <a:solidFill>
            <a:srgbClr val="C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mn-ea"/>
                <a:ea typeface="+mn-ea"/>
                <a:cs typeface="+mn-cs"/>
              </a:rPr>
              <a:t>RADOS</a:t>
            </a:r>
          </a:p>
          <a:p>
            <a:pPr marL="0" marR="0" lvl="0" indent="0" algn="ctr" defTabSz="914400" eaLnBrk="1" fontAlgn="base"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mn-ea"/>
                <a:ea typeface="+mn-ea"/>
                <a:cs typeface="+mn-cs"/>
              </a:rPr>
              <a:t>Reliable, elastic, distributed storage layer with replication and erasure coding</a:t>
            </a:r>
          </a:p>
        </p:txBody>
      </p:sp>
      <p:sp>
        <p:nvSpPr>
          <p:cNvPr id="11" name="上下箭头 10"/>
          <p:cNvSpPr/>
          <p:nvPr/>
        </p:nvSpPr>
        <p:spPr>
          <a:xfrm>
            <a:off x="3648333" y="2005092"/>
            <a:ext cx="274320" cy="453628"/>
          </a:xfrm>
          <a:prstGeom prst="upDownArrow">
            <a:avLst/>
          </a:prstGeom>
          <a:solidFill>
            <a:srgbClr val="C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n-ea"/>
              <a:ea typeface="+mn-ea"/>
              <a:cs typeface="+mn-cs"/>
            </a:endParaRPr>
          </a:p>
        </p:txBody>
      </p:sp>
      <p:sp>
        <p:nvSpPr>
          <p:cNvPr id="12" name="上下箭头 11"/>
          <p:cNvSpPr/>
          <p:nvPr/>
        </p:nvSpPr>
        <p:spPr>
          <a:xfrm>
            <a:off x="5995292" y="2005092"/>
            <a:ext cx="274320" cy="453628"/>
          </a:xfrm>
          <a:prstGeom prst="upDownArrow">
            <a:avLst/>
          </a:prstGeom>
          <a:solidFill>
            <a:srgbClr val="C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n-ea"/>
              <a:ea typeface="+mn-ea"/>
              <a:cs typeface="+mn-cs"/>
            </a:endParaRPr>
          </a:p>
        </p:txBody>
      </p:sp>
      <p:sp>
        <p:nvSpPr>
          <p:cNvPr id="13" name="上下箭头 12"/>
          <p:cNvSpPr/>
          <p:nvPr/>
        </p:nvSpPr>
        <p:spPr>
          <a:xfrm>
            <a:off x="8687692" y="2005092"/>
            <a:ext cx="274320" cy="453628"/>
          </a:xfrm>
          <a:prstGeom prst="upDownArrow">
            <a:avLst/>
          </a:prstGeom>
          <a:solidFill>
            <a:srgbClr val="C0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n-ea"/>
              <a:ea typeface="+mn-ea"/>
              <a:cs typeface="+mn-cs"/>
            </a:endParaRPr>
          </a:p>
        </p:txBody>
      </p:sp>
    </p:spTree>
    <p:extLst>
      <p:ext uri="{BB962C8B-B14F-4D97-AF65-F5344CB8AC3E}">
        <p14:creationId xmlns:p14="http://schemas.microsoft.com/office/powerpoint/2010/main" val="1812468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32ECC9-7F35-44C1-BE10-9D374E02B907}"/>
              </a:ext>
            </a:extLst>
          </p:cNvPr>
          <p:cNvSpPr>
            <a:spLocks noGrp="1"/>
          </p:cNvSpPr>
          <p:nvPr>
            <p:ph type="title"/>
          </p:nvPr>
        </p:nvSpPr>
        <p:spPr/>
        <p:txBody>
          <a:bodyPr/>
          <a:lstStyle/>
          <a:p>
            <a:r>
              <a:rPr lang="en-US" altLang="zh-CN" dirty="0"/>
              <a:t>Ceph</a:t>
            </a:r>
            <a:r>
              <a:rPr lang="zh-CN" altLang="en-US" dirty="0"/>
              <a:t>基本组件</a:t>
            </a:r>
          </a:p>
        </p:txBody>
      </p:sp>
      <p:pic>
        <p:nvPicPr>
          <p:cNvPr id="1026" name="Picture 2">
            <a:extLst>
              <a:ext uri="{FF2B5EF4-FFF2-40B4-BE49-F238E27FC236}">
                <a16:creationId xmlns:a16="http://schemas.microsoft.com/office/drawing/2014/main" id="{A14B17CD-B895-4536-9E64-220DF3660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636" y="1268760"/>
            <a:ext cx="5745485" cy="5064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926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Ceph</a:t>
            </a:r>
            <a:r>
              <a:rPr lang="zh-CN" altLang="en-US" dirty="0"/>
              <a:t>关键概念</a:t>
            </a:r>
          </a:p>
        </p:txBody>
      </p:sp>
      <p:sp>
        <p:nvSpPr>
          <p:cNvPr id="3" name="圆角矩形 2"/>
          <p:cNvSpPr/>
          <p:nvPr/>
        </p:nvSpPr>
        <p:spPr>
          <a:xfrm>
            <a:off x="4842802" y="1644254"/>
            <a:ext cx="5216877" cy="2389157"/>
          </a:xfrm>
          <a:prstGeom prst="roundRect">
            <a:avLst>
              <a:gd name="adj" fmla="val 10375"/>
            </a:avLst>
          </a:prstGeom>
          <a:solidFill>
            <a:sysClr val="window" lastClr="FFFFFF"/>
          </a:solidFill>
          <a:ln w="15875"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mn-ea"/>
                <a:ea typeface="+mn-ea"/>
                <a:cs typeface="+mn-cs"/>
              </a:rPr>
              <a:t>存储池</a:t>
            </a:r>
            <a:r>
              <a:rPr kumimoji="0" lang="en-US" altLang="zh-CN" sz="2000" b="0" i="0" u="none" strike="noStrike" kern="0" cap="none" spc="0" normalizeH="0" baseline="0" noProof="0" dirty="0">
                <a:ln>
                  <a:noFill/>
                </a:ln>
                <a:solidFill>
                  <a:prstClr val="black"/>
                </a:solidFill>
                <a:effectLst/>
                <a:uLnTx/>
                <a:uFillTx/>
                <a:latin typeface="+mn-ea"/>
                <a:ea typeface="+mn-ea"/>
                <a:cs typeface="+mn-cs"/>
              </a:rPr>
              <a:t>Pool</a:t>
            </a:r>
            <a:endParaRPr kumimoji="0" lang="zh-CN" altLang="en-US" sz="2000" b="0" i="0" u="none" strike="noStrike" kern="0" cap="none" spc="0" normalizeH="0" baseline="0" noProof="0" dirty="0">
              <a:ln>
                <a:noFill/>
              </a:ln>
              <a:solidFill>
                <a:prstClr val="black"/>
              </a:solidFill>
              <a:effectLst/>
              <a:uLnTx/>
              <a:uFillTx/>
              <a:latin typeface="+mn-ea"/>
              <a:ea typeface="+mn-ea"/>
              <a:cs typeface="+mn-cs"/>
            </a:endParaRPr>
          </a:p>
        </p:txBody>
      </p:sp>
      <p:sp>
        <p:nvSpPr>
          <p:cNvPr id="4" name="圆角矩形 3"/>
          <p:cNvSpPr/>
          <p:nvPr/>
        </p:nvSpPr>
        <p:spPr>
          <a:xfrm>
            <a:off x="6177891" y="2174146"/>
            <a:ext cx="3703908" cy="1753101"/>
          </a:xfrm>
          <a:prstGeom prst="roundRect">
            <a:avLst/>
          </a:prstGeom>
          <a:solidFill>
            <a:srgbClr val="D99C3F">
              <a:lumMod val="20000"/>
              <a:lumOff val="80000"/>
            </a:srgbClr>
          </a:solidFill>
          <a:ln w="15875"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Images</a:t>
            </a:r>
            <a:r>
              <a:rPr kumimoji="0" lang="zh-CN" altLang="en-US" sz="1800" b="0" i="0" u="none" strike="noStrike" kern="0" cap="none" spc="0" normalizeH="0" baseline="0" noProof="0" dirty="0">
                <a:ln>
                  <a:noFill/>
                </a:ln>
                <a:solidFill>
                  <a:prstClr val="black"/>
                </a:solidFill>
                <a:effectLst/>
                <a:uLnTx/>
                <a:uFillTx/>
                <a:latin typeface="+mn-ea"/>
                <a:ea typeface="+mn-ea"/>
                <a:cs typeface="+mn-cs"/>
              </a:rPr>
              <a:t>文件</a:t>
            </a:r>
          </a:p>
        </p:txBody>
      </p:sp>
      <p:grpSp>
        <p:nvGrpSpPr>
          <p:cNvPr id="5" name="组合 4"/>
          <p:cNvGrpSpPr/>
          <p:nvPr/>
        </p:nvGrpSpPr>
        <p:grpSpPr>
          <a:xfrm>
            <a:off x="6225151" y="2649050"/>
            <a:ext cx="949632" cy="1102964"/>
            <a:chOff x="5516413" y="4726320"/>
            <a:chExt cx="871271" cy="741443"/>
          </a:xfrm>
        </p:grpSpPr>
        <p:sp>
          <p:nvSpPr>
            <p:cNvPr id="6" name="矩形 5"/>
            <p:cNvSpPr/>
            <p:nvPr/>
          </p:nvSpPr>
          <p:spPr>
            <a:xfrm>
              <a:off x="5516413" y="4726320"/>
              <a:ext cx="871271" cy="741443"/>
            </a:xfrm>
            <a:prstGeom prst="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mn-ea"/>
                  <a:ea typeface="+mn-ea"/>
                  <a:cs typeface="+mn-cs"/>
                </a:rPr>
                <a:t>PG1</a:t>
              </a:r>
            </a:p>
          </p:txBody>
        </p:sp>
        <p:sp>
          <p:nvSpPr>
            <p:cNvPr id="7" name="矩形 6"/>
            <p:cNvSpPr/>
            <p:nvPr/>
          </p:nvSpPr>
          <p:spPr>
            <a:xfrm>
              <a:off x="5557400"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1</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8" name="矩形 7"/>
            <p:cNvSpPr/>
            <p:nvPr/>
          </p:nvSpPr>
          <p:spPr>
            <a:xfrm>
              <a:off x="5763300"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4</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9" name="矩形 8"/>
            <p:cNvSpPr/>
            <p:nvPr/>
          </p:nvSpPr>
          <p:spPr>
            <a:xfrm>
              <a:off x="5969201"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0" name="矩形 9"/>
            <p:cNvSpPr/>
            <p:nvPr/>
          </p:nvSpPr>
          <p:spPr>
            <a:xfrm>
              <a:off x="6175101"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1" name="矩形 10"/>
            <p:cNvSpPr/>
            <p:nvPr/>
          </p:nvSpPr>
          <p:spPr>
            <a:xfrm>
              <a:off x="5557507"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2" name="矩形 11"/>
            <p:cNvSpPr/>
            <p:nvPr/>
          </p:nvSpPr>
          <p:spPr>
            <a:xfrm>
              <a:off x="57634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3" name="矩形 12"/>
            <p:cNvSpPr/>
            <p:nvPr/>
          </p:nvSpPr>
          <p:spPr>
            <a:xfrm>
              <a:off x="59693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4" name="矩形 13"/>
            <p:cNvSpPr/>
            <p:nvPr/>
          </p:nvSpPr>
          <p:spPr>
            <a:xfrm>
              <a:off x="61752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grpSp>
      <p:sp>
        <p:nvSpPr>
          <p:cNvPr id="15" name="文本框 14"/>
          <p:cNvSpPr txBox="1"/>
          <p:nvPr/>
        </p:nvSpPr>
        <p:spPr>
          <a:xfrm>
            <a:off x="8203593" y="2913364"/>
            <a:ext cx="452867" cy="369332"/>
          </a:xfrm>
          <a:prstGeom prst="rect">
            <a:avLst/>
          </a:prstGeom>
          <a:noFill/>
        </p:spPr>
        <p:txBody>
          <a:bodyPr wrap="square" rtlCol="0">
            <a:spAutoFit/>
          </a:bodyPr>
          <a:lstStyle/>
          <a:p>
            <a:pPr fontAlgn="auto">
              <a:spcBef>
                <a:spcPts val="0"/>
              </a:spcBef>
              <a:spcAft>
                <a:spcPts val="0"/>
              </a:spcAft>
            </a:pPr>
            <a:r>
              <a:rPr lang="en-US" altLang="zh-CN" sz="1800" b="1" dirty="0">
                <a:solidFill>
                  <a:prstClr val="black"/>
                </a:solidFill>
                <a:latin typeface="+mn-ea"/>
                <a:ea typeface="+mn-ea"/>
              </a:rPr>
              <a:t>…</a:t>
            </a:r>
            <a:endParaRPr lang="zh-CN" altLang="en-US" sz="1800" b="1" dirty="0">
              <a:solidFill>
                <a:prstClr val="black"/>
              </a:solidFill>
              <a:latin typeface="+mn-ea"/>
              <a:ea typeface="+mn-ea"/>
            </a:endParaRPr>
          </a:p>
        </p:txBody>
      </p:sp>
      <p:sp>
        <p:nvSpPr>
          <p:cNvPr id="16" name="圆角矩形 15"/>
          <p:cNvSpPr/>
          <p:nvPr/>
        </p:nvSpPr>
        <p:spPr>
          <a:xfrm>
            <a:off x="6142083" y="4619486"/>
            <a:ext cx="960746" cy="914817"/>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OSD1</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7" name="圆角矩形 16"/>
          <p:cNvSpPr/>
          <p:nvPr/>
        </p:nvSpPr>
        <p:spPr>
          <a:xfrm>
            <a:off x="7150228" y="4633202"/>
            <a:ext cx="960746" cy="894413"/>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OSD2</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8" name="圆角矩形 17"/>
          <p:cNvSpPr/>
          <p:nvPr/>
        </p:nvSpPr>
        <p:spPr>
          <a:xfrm>
            <a:off x="8167142" y="4622460"/>
            <a:ext cx="960746" cy="910393"/>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OSD3</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19" name="圆角矩形 18"/>
          <p:cNvSpPr/>
          <p:nvPr/>
        </p:nvSpPr>
        <p:spPr>
          <a:xfrm>
            <a:off x="9462914" y="4619486"/>
            <a:ext cx="960746" cy="914817"/>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OSD*</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20" name="文本框 19"/>
          <p:cNvSpPr txBox="1"/>
          <p:nvPr/>
        </p:nvSpPr>
        <p:spPr>
          <a:xfrm>
            <a:off x="9119814" y="4857298"/>
            <a:ext cx="452867" cy="369332"/>
          </a:xfrm>
          <a:prstGeom prst="rect">
            <a:avLst/>
          </a:prstGeom>
          <a:noFill/>
        </p:spPr>
        <p:txBody>
          <a:bodyPr wrap="square" rtlCol="0">
            <a:spAutoFit/>
          </a:bodyPr>
          <a:lstStyle/>
          <a:p>
            <a:pPr fontAlgn="auto">
              <a:spcBef>
                <a:spcPts val="0"/>
              </a:spcBef>
              <a:spcAft>
                <a:spcPts val="0"/>
              </a:spcAft>
            </a:pPr>
            <a:r>
              <a:rPr lang="en-US" altLang="zh-CN" sz="1800" b="1" dirty="0">
                <a:solidFill>
                  <a:prstClr val="black"/>
                </a:solidFill>
                <a:latin typeface="+mn-ea"/>
                <a:ea typeface="+mn-ea"/>
              </a:rPr>
              <a:t>…</a:t>
            </a:r>
            <a:endParaRPr lang="zh-CN" altLang="en-US" sz="1800" b="1" dirty="0">
              <a:solidFill>
                <a:prstClr val="black"/>
              </a:solidFill>
              <a:latin typeface="+mn-ea"/>
              <a:ea typeface="+mn-ea"/>
            </a:endParaRPr>
          </a:p>
        </p:txBody>
      </p:sp>
      <p:cxnSp>
        <p:nvCxnSpPr>
          <p:cNvPr id="21" name="直接连接符 20"/>
          <p:cNvCxnSpPr>
            <a:endCxn id="16" idx="0"/>
          </p:cNvCxnSpPr>
          <p:nvPr/>
        </p:nvCxnSpPr>
        <p:spPr>
          <a:xfrm>
            <a:off x="6505965" y="4065045"/>
            <a:ext cx="116491" cy="554441"/>
          </a:xfrm>
          <a:prstGeom prst="line">
            <a:avLst/>
          </a:prstGeom>
          <a:noFill/>
          <a:ln w="38100" cap="flat" cmpd="sng" algn="ctr">
            <a:solidFill>
              <a:srgbClr val="FF0000"/>
            </a:solidFill>
            <a:prstDash val="solid"/>
          </a:ln>
          <a:effectLst/>
        </p:spPr>
      </p:cxnSp>
      <p:cxnSp>
        <p:nvCxnSpPr>
          <p:cNvPr id="22" name="直接连接符 21"/>
          <p:cNvCxnSpPr/>
          <p:nvPr/>
        </p:nvCxnSpPr>
        <p:spPr>
          <a:xfrm>
            <a:off x="6647836" y="4039077"/>
            <a:ext cx="818875" cy="596178"/>
          </a:xfrm>
          <a:prstGeom prst="line">
            <a:avLst/>
          </a:prstGeom>
          <a:noFill/>
          <a:ln w="38100" cap="flat" cmpd="sng" algn="ctr">
            <a:solidFill>
              <a:sysClr val="windowText" lastClr="000000"/>
            </a:solidFill>
            <a:prstDash val="solid"/>
          </a:ln>
          <a:effectLst/>
        </p:spPr>
      </p:cxnSp>
      <p:cxnSp>
        <p:nvCxnSpPr>
          <p:cNvPr id="23" name="直接连接符 22"/>
          <p:cNvCxnSpPr>
            <a:endCxn id="18" idx="0"/>
          </p:cNvCxnSpPr>
          <p:nvPr/>
        </p:nvCxnSpPr>
        <p:spPr>
          <a:xfrm>
            <a:off x="6917276" y="4066662"/>
            <a:ext cx="1730239" cy="555798"/>
          </a:xfrm>
          <a:prstGeom prst="line">
            <a:avLst/>
          </a:prstGeom>
          <a:noFill/>
          <a:ln w="38100" cap="flat" cmpd="sng" algn="ctr">
            <a:solidFill>
              <a:sysClr val="windowText" lastClr="000000"/>
            </a:solidFill>
            <a:prstDash val="solid"/>
          </a:ln>
          <a:effectLst/>
        </p:spPr>
      </p:cxnSp>
      <p:cxnSp>
        <p:nvCxnSpPr>
          <p:cNvPr id="24" name="直接连接符 23"/>
          <p:cNvCxnSpPr/>
          <p:nvPr/>
        </p:nvCxnSpPr>
        <p:spPr>
          <a:xfrm flipH="1">
            <a:off x="6786811" y="4043009"/>
            <a:ext cx="812597" cy="592246"/>
          </a:xfrm>
          <a:prstGeom prst="line">
            <a:avLst/>
          </a:prstGeom>
          <a:noFill/>
          <a:ln w="38100" cap="flat" cmpd="sng" algn="ctr">
            <a:solidFill>
              <a:sysClr val="windowText" lastClr="000000"/>
            </a:solidFill>
            <a:prstDash val="solid"/>
          </a:ln>
          <a:effectLst/>
        </p:spPr>
      </p:cxnSp>
      <p:cxnSp>
        <p:nvCxnSpPr>
          <p:cNvPr id="25" name="直接连接符 24"/>
          <p:cNvCxnSpPr>
            <a:endCxn id="17" idx="0"/>
          </p:cNvCxnSpPr>
          <p:nvPr/>
        </p:nvCxnSpPr>
        <p:spPr>
          <a:xfrm flipH="1">
            <a:off x="7630601" y="4015152"/>
            <a:ext cx="60934" cy="618050"/>
          </a:xfrm>
          <a:prstGeom prst="line">
            <a:avLst/>
          </a:prstGeom>
          <a:noFill/>
          <a:ln w="38100" cap="flat" cmpd="sng" algn="ctr">
            <a:solidFill>
              <a:srgbClr val="FF0000"/>
            </a:solidFill>
            <a:prstDash val="solid"/>
          </a:ln>
          <a:effectLst/>
        </p:spPr>
      </p:cxnSp>
      <p:cxnSp>
        <p:nvCxnSpPr>
          <p:cNvPr id="26" name="直接连接符 25"/>
          <p:cNvCxnSpPr>
            <a:endCxn id="19" idx="0"/>
          </p:cNvCxnSpPr>
          <p:nvPr/>
        </p:nvCxnSpPr>
        <p:spPr>
          <a:xfrm>
            <a:off x="7789393" y="4086862"/>
            <a:ext cx="2153894" cy="532624"/>
          </a:xfrm>
          <a:prstGeom prst="line">
            <a:avLst/>
          </a:prstGeom>
          <a:noFill/>
          <a:ln w="38100" cap="flat" cmpd="sng" algn="ctr">
            <a:solidFill>
              <a:sysClr val="windowText" lastClr="000000"/>
            </a:solidFill>
            <a:prstDash val="solid"/>
          </a:ln>
          <a:effectLst/>
        </p:spPr>
      </p:cxnSp>
      <p:cxnSp>
        <p:nvCxnSpPr>
          <p:cNvPr id="27" name="直接连接符 26"/>
          <p:cNvCxnSpPr/>
          <p:nvPr/>
        </p:nvCxnSpPr>
        <p:spPr>
          <a:xfrm>
            <a:off x="8884103" y="4026432"/>
            <a:ext cx="139580" cy="563357"/>
          </a:xfrm>
          <a:prstGeom prst="line">
            <a:avLst/>
          </a:prstGeom>
          <a:noFill/>
          <a:ln w="38100" cap="flat" cmpd="sng" algn="ctr">
            <a:solidFill>
              <a:sysClr val="windowText" lastClr="000000"/>
            </a:solidFill>
            <a:prstDash val="solid"/>
          </a:ln>
          <a:effectLst/>
        </p:spPr>
      </p:cxnSp>
      <p:cxnSp>
        <p:nvCxnSpPr>
          <p:cNvPr id="28" name="直接连接符 27"/>
          <p:cNvCxnSpPr/>
          <p:nvPr/>
        </p:nvCxnSpPr>
        <p:spPr>
          <a:xfrm flipH="1">
            <a:off x="7895278" y="4043009"/>
            <a:ext cx="944655" cy="562736"/>
          </a:xfrm>
          <a:prstGeom prst="line">
            <a:avLst/>
          </a:prstGeom>
          <a:noFill/>
          <a:ln w="38100" cap="flat" cmpd="sng" algn="ctr">
            <a:solidFill>
              <a:sysClr val="windowText" lastClr="000000"/>
            </a:solidFill>
            <a:prstDash val="solid"/>
          </a:ln>
          <a:effectLst/>
        </p:spPr>
      </p:cxnSp>
      <p:cxnSp>
        <p:nvCxnSpPr>
          <p:cNvPr id="29" name="直接连接符 28"/>
          <p:cNvCxnSpPr/>
          <p:nvPr/>
        </p:nvCxnSpPr>
        <p:spPr>
          <a:xfrm>
            <a:off x="9219948" y="4026432"/>
            <a:ext cx="743653" cy="593054"/>
          </a:xfrm>
          <a:prstGeom prst="line">
            <a:avLst/>
          </a:prstGeom>
          <a:noFill/>
          <a:ln w="38100" cap="flat" cmpd="sng" algn="ctr">
            <a:solidFill>
              <a:srgbClr val="FF0000"/>
            </a:solidFill>
            <a:prstDash val="solid"/>
          </a:ln>
          <a:effectLst/>
        </p:spPr>
      </p:cxnSp>
      <p:grpSp>
        <p:nvGrpSpPr>
          <p:cNvPr id="30" name="组合 29"/>
          <p:cNvGrpSpPr/>
          <p:nvPr/>
        </p:nvGrpSpPr>
        <p:grpSpPr>
          <a:xfrm>
            <a:off x="7281509" y="2643539"/>
            <a:ext cx="949632" cy="1102964"/>
            <a:chOff x="5516413" y="4726320"/>
            <a:chExt cx="871271" cy="741443"/>
          </a:xfrm>
        </p:grpSpPr>
        <p:sp>
          <p:nvSpPr>
            <p:cNvPr id="31" name="矩形 30"/>
            <p:cNvSpPr/>
            <p:nvPr/>
          </p:nvSpPr>
          <p:spPr>
            <a:xfrm>
              <a:off x="5516413" y="4726320"/>
              <a:ext cx="871271" cy="741443"/>
            </a:xfrm>
            <a:prstGeom prst="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mn-ea"/>
                  <a:ea typeface="+mn-ea"/>
                  <a:cs typeface="+mn-cs"/>
                </a:rPr>
                <a:t>PG2</a:t>
              </a:r>
            </a:p>
          </p:txBody>
        </p:sp>
        <p:sp>
          <p:nvSpPr>
            <p:cNvPr id="32" name="矩形 31"/>
            <p:cNvSpPr/>
            <p:nvPr/>
          </p:nvSpPr>
          <p:spPr>
            <a:xfrm>
              <a:off x="5557400"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2</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33" name="矩形 32"/>
            <p:cNvSpPr/>
            <p:nvPr/>
          </p:nvSpPr>
          <p:spPr>
            <a:xfrm>
              <a:off x="5763300"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5</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34" name="矩形 33"/>
            <p:cNvSpPr/>
            <p:nvPr/>
          </p:nvSpPr>
          <p:spPr>
            <a:xfrm>
              <a:off x="5969201"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35" name="矩形 34"/>
            <p:cNvSpPr/>
            <p:nvPr/>
          </p:nvSpPr>
          <p:spPr>
            <a:xfrm>
              <a:off x="6175101"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36" name="矩形 35"/>
            <p:cNvSpPr/>
            <p:nvPr/>
          </p:nvSpPr>
          <p:spPr>
            <a:xfrm>
              <a:off x="5557507"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37" name="矩形 36"/>
            <p:cNvSpPr/>
            <p:nvPr/>
          </p:nvSpPr>
          <p:spPr>
            <a:xfrm>
              <a:off x="57634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38" name="矩形 37"/>
            <p:cNvSpPr/>
            <p:nvPr/>
          </p:nvSpPr>
          <p:spPr>
            <a:xfrm>
              <a:off x="59693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39" name="矩形 38"/>
            <p:cNvSpPr/>
            <p:nvPr/>
          </p:nvSpPr>
          <p:spPr>
            <a:xfrm>
              <a:off x="61752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grpSp>
      <p:grpSp>
        <p:nvGrpSpPr>
          <p:cNvPr id="40" name="组合 39"/>
          <p:cNvGrpSpPr/>
          <p:nvPr/>
        </p:nvGrpSpPr>
        <p:grpSpPr>
          <a:xfrm>
            <a:off x="8557379" y="2654082"/>
            <a:ext cx="949632" cy="1102964"/>
            <a:chOff x="5516413" y="4726320"/>
            <a:chExt cx="871271" cy="741443"/>
          </a:xfrm>
        </p:grpSpPr>
        <p:sp>
          <p:nvSpPr>
            <p:cNvPr id="41" name="矩形 40"/>
            <p:cNvSpPr/>
            <p:nvPr/>
          </p:nvSpPr>
          <p:spPr>
            <a:xfrm>
              <a:off x="5516413" y="4726320"/>
              <a:ext cx="871271" cy="741443"/>
            </a:xfrm>
            <a:prstGeom prst="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mn-ea"/>
                  <a:ea typeface="+mn-ea"/>
                  <a:cs typeface="+mn-cs"/>
                </a:rPr>
                <a:t>PG*</a:t>
              </a:r>
            </a:p>
          </p:txBody>
        </p:sp>
        <p:sp>
          <p:nvSpPr>
            <p:cNvPr id="42" name="矩形 41"/>
            <p:cNvSpPr/>
            <p:nvPr/>
          </p:nvSpPr>
          <p:spPr>
            <a:xfrm>
              <a:off x="5557400"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3</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43" name="矩形 42"/>
            <p:cNvSpPr/>
            <p:nvPr/>
          </p:nvSpPr>
          <p:spPr>
            <a:xfrm>
              <a:off x="5763300"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6</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44" name="矩形 43"/>
            <p:cNvSpPr/>
            <p:nvPr/>
          </p:nvSpPr>
          <p:spPr>
            <a:xfrm>
              <a:off x="5969201"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45" name="矩形 44"/>
            <p:cNvSpPr/>
            <p:nvPr/>
          </p:nvSpPr>
          <p:spPr>
            <a:xfrm>
              <a:off x="6175101" y="4978435"/>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46" name="矩形 45"/>
            <p:cNvSpPr/>
            <p:nvPr/>
          </p:nvSpPr>
          <p:spPr>
            <a:xfrm>
              <a:off x="5557507"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47" name="矩形 46"/>
            <p:cNvSpPr/>
            <p:nvPr/>
          </p:nvSpPr>
          <p:spPr>
            <a:xfrm>
              <a:off x="57634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48" name="矩形 47"/>
            <p:cNvSpPr/>
            <p:nvPr/>
          </p:nvSpPr>
          <p:spPr>
            <a:xfrm>
              <a:off x="59693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49" name="矩形 48"/>
            <p:cNvSpPr/>
            <p:nvPr/>
          </p:nvSpPr>
          <p:spPr>
            <a:xfrm>
              <a:off x="6175208" y="5224536"/>
              <a:ext cx="162752" cy="19311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grpSp>
      <p:sp>
        <p:nvSpPr>
          <p:cNvPr id="50" name="矩形 49"/>
          <p:cNvSpPr/>
          <p:nvPr/>
        </p:nvSpPr>
        <p:spPr>
          <a:xfrm>
            <a:off x="6196521" y="495727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1</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1" name="矩形 50"/>
          <p:cNvSpPr/>
          <p:nvPr/>
        </p:nvSpPr>
        <p:spPr>
          <a:xfrm>
            <a:off x="6402421" y="495727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4</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2" name="矩形 51"/>
          <p:cNvSpPr/>
          <p:nvPr/>
        </p:nvSpPr>
        <p:spPr>
          <a:xfrm>
            <a:off x="6608322" y="495727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2</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3" name="矩形 52"/>
          <p:cNvSpPr/>
          <p:nvPr/>
        </p:nvSpPr>
        <p:spPr>
          <a:xfrm>
            <a:off x="7199650" y="4958466"/>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2</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4" name="矩形 53"/>
          <p:cNvSpPr/>
          <p:nvPr/>
        </p:nvSpPr>
        <p:spPr>
          <a:xfrm>
            <a:off x="7405550" y="4958466"/>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5</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5" name="矩形 54"/>
          <p:cNvSpPr/>
          <p:nvPr/>
        </p:nvSpPr>
        <p:spPr>
          <a:xfrm>
            <a:off x="7611451" y="4958466"/>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1</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6" name="矩形 55"/>
          <p:cNvSpPr/>
          <p:nvPr/>
        </p:nvSpPr>
        <p:spPr>
          <a:xfrm>
            <a:off x="6812977" y="49530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5</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7" name="矩形 56"/>
          <p:cNvSpPr/>
          <p:nvPr/>
        </p:nvSpPr>
        <p:spPr>
          <a:xfrm>
            <a:off x="7827351" y="4958466"/>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4</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8" name="矩形 57"/>
          <p:cNvSpPr/>
          <p:nvPr/>
        </p:nvSpPr>
        <p:spPr>
          <a:xfrm>
            <a:off x="8202719" y="49657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1</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59" name="矩形 58"/>
          <p:cNvSpPr/>
          <p:nvPr/>
        </p:nvSpPr>
        <p:spPr>
          <a:xfrm>
            <a:off x="8408619" y="49657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4</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60" name="矩形 59"/>
          <p:cNvSpPr/>
          <p:nvPr/>
        </p:nvSpPr>
        <p:spPr>
          <a:xfrm>
            <a:off x="8614520" y="49657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3</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61" name="矩形 60"/>
          <p:cNvSpPr/>
          <p:nvPr/>
        </p:nvSpPr>
        <p:spPr>
          <a:xfrm>
            <a:off x="8830420" y="49657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6</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62" name="矩形 61"/>
          <p:cNvSpPr/>
          <p:nvPr/>
        </p:nvSpPr>
        <p:spPr>
          <a:xfrm>
            <a:off x="9508796" y="49530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3</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63" name="矩形 62"/>
          <p:cNvSpPr/>
          <p:nvPr/>
        </p:nvSpPr>
        <p:spPr>
          <a:xfrm>
            <a:off x="9714696" y="49530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6</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64" name="矩形 63"/>
          <p:cNvSpPr/>
          <p:nvPr/>
        </p:nvSpPr>
        <p:spPr>
          <a:xfrm>
            <a:off x="9920597" y="49530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2</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65" name="矩形 64"/>
          <p:cNvSpPr/>
          <p:nvPr/>
        </p:nvSpPr>
        <p:spPr>
          <a:xfrm>
            <a:off x="10136497" y="4953052"/>
            <a:ext cx="177390" cy="287272"/>
          </a:xfrm>
          <a:prstGeom prst="rect">
            <a:avLst/>
          </a:prstGeom>
          <a:solidFill>
            <a:srgbClr val="4BCAAD">
              <a:tint val="69000"/>
              <a:satMod val="105000"/>
              <a:lumMod val="110000"/>
            </a:srgbClr>
          </a:solidFill>
          <a:ln w="9525" cap="flat" cmpd="sng" algn="ctr">
            <a:solidFill>
              <a:srgbClr val="4BCAAD">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mn-ea"/>
                <a:ea typeface="+mn-ea"/>
                <a:cs typeface="+mn-cs"/>
              </a:rPr>
              <a:t>5</a:t>
            </a:r>
            <a:endParaRPr kumimoji="0" lang="zh-CN" altLang="en-US" sz="1800" b="0" i="0" u="none" strike="noStrike" kern="0" cap="none" spc="0" normalizeH="0" baseline="0" noProof="0" dirty="0">
              <a:ln>
                <a:noFill/>
              </a:ln>
              <a:solidFill>
                <a:prstClr val="black"/>
              </a:solidFill>
              <a:effectLst/>
              <a:uLnTx/>
              <a:uFillTx/>
              <a:latin typeface="+mn-ea"/>
              <a:ea typeface="+mn-ea"/>
              <a:cs typeface="+mn-cs"/>
            </a:endParaRPr>
          </a:p>
        </p:txBody>
      </p:sp>
      <p:sp>
        <p:nvSpPr>
          <p:cNvPr id="66" name="圆角矩形 65"/>
          <p:cNvSpPr/>
          <p:nvPr/>
        </p:nvSpPr>
        <p:spPr>
          <a:xfrm>
            <a:off x="6161682" y="5605371"/>
            <a:ext cx="960746" cy="496210"/>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MON1</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67" name="圆角矩形 66"/>
          <p:cNvSpPr/>
          <p:nvPr/>
        </p:nvSpPr>
        <p:spPr>
          <a:xfrm>
            <a:off x="7172495" y="5618314"/>
            <a:ext cx="960746" cy="496210"/>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MON2</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68" name="圆角矩形 67"/>
          <p:cNvSpPr/>
          <p:nvPr/>
        </p:nvSpPr>
        <p:spPr>
          <a:xfrm>
            <a:off x="8189409" y="5628039"/>
            <a:ext cx="960746" cy="496210"/>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MON3</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70" name="圆角矩形 69"/>
          <p:cNvSpPr/>
          <p:nvPr/>
        </p:nvSpPr>
        <p:spPr>
          <a:xfrm>
            <a:off x="9485181" y="5616110"/>
            <a:ext cx="960746" cy="496210"/>
          </a:xfrm>
          <a:prstGeom prst="round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MDS1</a:t>
            </a:r>
            <a:endParaRPr kumimoji="0" lang="zh-CN" altLang="en-US" sz="1600" b="0" i="0" u="none" strike="noStrike" kern="0" cap="none" spc="0" normalizeH="0" baseline="0" noProof="0" dirty="0">
              <a:ln>
                <a:noFill/>
              </a:ln>
              <a:solidFill>
                <a:prstClr val="black"/>
              </a:solidFill>
              <a:effectLst/>
              <a:uLnTx/>
              <a:uFillTx/>
              <a:latin typeface="+mn-ea"/>
              <a:ea typeface="+mn-ea"/>
              <a:cs typeface="+mn-cs"/>
            </a:endParaRPr>
          </a:p>
        </p:txBody>
      </p:sp>
      <p:sp>
        <p:nvSpPr>
          <p:cNvPr id="71" name="圆角矩形 70"/>
          <p:cNvSpPr/>
          <p:nvPr/>
        </p:nvSpPr>
        <p:spPr>
          <a:xfrm>
            <a:off x="1363656" y="3927247"/>
            <a:ext cx="2222003" cy="989168"/>
          </a:xfrm>
          <a:prstGeom prst="roundRect">
            <a:avLst/>
          </a:prstGeom>
          <a:solidFill>
            <a:sysClr val="window" lastClr="FFFFFF"/>
          </a:solidFill>
          <a:ln w="15875"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mn-ea"/>
                <a:ea typeface="+mn-ea"/>
                <a:cs typeface="+mn-cs"/>
              </a:rPr>
              <a:t>客户端</a:t>
            </a:r>
            <a:r>
              <a:rPr kumimoji="0" lang="en-US" altLang="zh-CN" sz="2000" b="0" i="0" u="none" strike="noStrike" kern="0" cap="none" spc="0" normalizeH="0" baseline="0" noProof="0" dirty="0">
                <a:ln>
                  <a:noFill/>
                </a:ln>
                <a:solidFill>
                  <a:prstClr val="black"/>
                </a:solidFill>
                <a:effectLst/>
                <a:uLnTx/>
                <a:uFillTx/>
                <a:latin typeface="+mn-ea"/>
                <a:ea typeface="+mn-ea"/>
                <a:cs typeface="+mn-cs"/>
              </a:rPr>
              <a:t>Client</a:t>
            </a:r>
            <a:endParaRPr kumimoji="0" lang="zh-CN" altLang="en-US" sz="2000" b="0" i="0" u="none" strike="noStrike" kern="0" cap="none" spc="0" normalizeH="0" baseline="0" noProof="0" dirty="0">
              <a:ln>
                <a:noFill/>
              </a:ln>
              <a:solidFill>
                <a:prstClr val="black"/>
              </a:solidFill>
              <a:effectLst/>
              <a:uLnTx/>
              <a:uFillTx/>
              <a:latin typeface="+mn-ea"/>
              <a:ea typeface="+mn-ea"/>
              <a:cs typeface="+mn-cs"/>
            </a:endParaRPr>
          </a:p>
        </p:txBody>
      </p:sp>
      <p:sp>
        <p:nvSpPr>
          <p:cNvPr id="72" name="矩形 71"/>
          <p:cNvSpPr/>
          <p:nvPr/>
        </p:nvSpPr>
        <p:spPr>
          <a:xfrm>
            <a:off x="1485796" y="4348495"/>
            <a:ext cx="949632" cy="410800"/>
          </a:xfrm>
          <a:prstGeom prst="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Images</a:t>
            </a:r>
          </a:p>
        </p:txBody>
      </p:sp>
      <p:sp>
        <p:nvSpPr>
          <p:cNvPr id="73" name="矩形 72"/>
          <p:cNvSpPr/>
          <p:nvPr/>
        </p:nvSpPr>
        <p:spPr>
          <a:xfrm>
            <a:off x="2521555" y="4346359"/>
            <a:ext cx="949632" cy="415071"/>
          </a:xfrm>
          <a:prstGeom prst="rect">
            <a:avLst/>
          </a:prstGeom>
          <a:solidFill>
            <a:srgbClr val="2FA3EE">
              <a:tint val="69000"/>
              <a:satMod val="105000"/>
              <a:lumMod val="110000"/>
            </a:srgbClr>
          </a:solidFill>
          <a:ln w="9525" cap="flat" cmpd="sng" algn="ctr">
            <a:solidFill>
              <a:srgbClr val="2FA3EE">
                <a:shade val="60000"/>
              </a:srgbClr>
            </a:solid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Images</a:t>
            </a:r>
          </a:p>
        </p:txBody>
      </p:sp>
      <p:sp>
        <p:nvSpPr>
          <p:cNvPr id="74" name="圆角矩形 73"/>
          <p:cNvSpPr/>
          <p:nvPr/>
        </p:nvSpPr>
        <p:spPr>
          <a:xfrm>
            <a:off x="5083091" y="2174936"/>
            <a:ext cx="985115" cy="565525"/>
          </a:xfrm>
          <a:prstGeom prst="roundRect">
            <a:avLst/>
          </a:prstGeom>
          <a:solidFill>
            <a:srgbClr val="D99C3F">
              <a:lumMod val="20000"/>
              <a:lumOff val="80000"/>
            </a:srgbClr>
          </a:solidFill>
          <a:ln w="15875"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mn-ea"/>
                <a:ea typeface="+mn-ea"/>
                <a:cs typeface="+mn-cs"/>
              </a:rPr>
              <a:t>Images</a:t>
            </a:r>
            <a:r>
              <a:rPr kumimoji="0" lang="zh-CN" altLang="en-US" sz="1600" b="0" i="0" u="none" strike="noStrike" kern="0" cap="none" spc="0" normalizeH="0" baseline="0" noProof="0" dirty="0">
                <a:ln>
                  <a:noFill/>
                </a:ln>
                <a:solidFill>
                  <a:prstClr val="black"/>
                </a:solidFill>
                <a:effectLst/>
                <a:uLnTx/>
                <a:uFillTx/>
                <a:latin typeface="+mn-ea"/>
                <a:ea typeface="+mn-ea"/>
                <a:cs typeface="+mn-cs"/>
              </a:rPr>
              <a:t>文件</a:t>
            </a:r>
          </a:p>
        </p:txBody>
      </p:sp>
      <p:sp>
        <p:nvSpPr>
          <p:cNvPr id="75" name="流程图: 磁盘 74"/>
          <p:cNvSpPr/>
          <p:nvPr/>
        </p:nvSpPr>
        <p:spPr>
          <a:xfrm>
            <a:off x="1485796" y="3321250"/>
            <a:ext cx="754750" cy="465094"/>
          </a:xfrm>
          <a:prstGeom prst="flowChartMagneticDisk">
            <a:avLst/>
          </a:prstGeom>
          <a:solidFill>
            <a:srgbClr val="2FA3EE">
              <a:lumMod val="20000"/>
              <a:lumOff val="80000"/>
            </a:srgbClr>
          </a:solidFill>
          <a:ln w="15875" cap="flat" cmpd="sng" algn="ctr">
            <a:solidFill>
              <a:srgbClr val="2FA3EE">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n-ea"/>
              <a:ea typeface="+mn-ea"/>
              <a:cs typeface="+mn-cs"/>
            </a:endParaRPr>
          </a:p>
        </p:txBody>
      </p:sp>
      <p:sp>
        <p:nvSpPr>
          <p:cNvPr id="76" name="流程图: 磁盘 75"/>
          <p:cNvSpPr/>
          <p:nvPr/>
        </p:nvSpPr>
        <p:spPr>
          <a:xfrm>
            <a:off x="2599989" y="3321250"/>
            <a:ext cx="784060" cy="465094"/>
          </a:xfrm>
          <a:prstGeom prst="flowChartMagneticDisk">
            <a:avLst/>
          </a:prstGeom>
          <a:solidFill>
            <a:srgbClr val="2FA3EE">
              <a:lumMod val="20000"/>
              <a:lumOff val="80000"/>
            </a:srgbClr>
          </a:solidFill>
          <a:ln w="15875" cap="flat" cmpd="sng" algn="ctr">
            <a:solidFill>
              <a:srgbClr val="2FA3EE">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n-ea"/>
              <a:ea typeface="+mn-ea"/>
              <a:cs typeface="+mn-cs"/>
            </a:endParaRPr>
          </a:p>
        </p:txBody>
      </p:sp>
      <p:cxnSp>
        <p:nvCxnSpPr>
          <p:cNvPr id="77" name="肘形连接符 76"/>
          <p:cNvCxnSpPr>
            <a:stCxn id="71" idx="3"/>
            <a:endCxn id="3" idx="1"/>
          </p:cNvCxnSpPr>
          <p:nvPr/>
        </p:nvCxnSpPr>
        <p:spPr>
          <a:xfrm flipV="1">
            <a:off x="3585659" y="2838833"/>
            <a:ext cx="1257143" cy="1582998"/>
          </a:xfrm>
          <a:prstGeom prst="bentConnector3">
            <a:avLst>
              <a:gd name="adj1" fmla="val 50000"/>
            </a:avLst>
          </a:prstGeom>
          <a:noFill/>
          <a:ln w="38100" cap="flat" cmpd="sng" algn="ctr">
            <a:solidFill>
              <a:sysClr val="windowText" lastClr="000000"/>
            </a:solidFill>
            <a:prstDash val="solid"/>
          </a:ln>
          <a:effectLst/>
        </p:spPr>
      </p:cxnSp>
    </p:spTree>
    <p:extLst>
      <p:ext uri="{BB962C8B-B14F-4D97-AF65-F5344CB8AC3E}">
        <p14:creationId xmlns:p14="http://schemas.microsoft.com/office/powerpoint/2010/main" val="1105309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59F786-4521-4D3C-B77E-D7E7B24C4CC7}"/>
              </a:ext>
            </a:extLst>
          </p:cNvPr>
          <p:cNvSpPr>
            <a:spLocks noGrp="1"/>
          </p:cNvSpPr>
          <p:nvPr>
            <p:ph type="title"/>
          </p:nvPr>
        </p:nvSpPr>
        <p:spPr/>
        <p:txBody>
          <a:bodyPr/>
          <a:lstStyle/>
          <a:p>
            <a:r>
              <a:rPr lang="en-US" altLang="zh-CN" dirty="0"/>
              <a:t>Ceph</a:t>
            </a:r>
            <a:r>
              <a:rPr lang="zh-CN" altLang="en-US" dirty="0"/>
              <a:t>数据存储过程</a:t>
            </a:r>
          </a:p>
        </p:txBody>
      </p:sp>
      <p:pic>
        <p:nvPicPr>
          <p:cNvPr id="2050" name="Picture 2">
            <a:extLst>
              <a:ext uri="{FF2B5EF4-FFF2-40B4-BE49-F238E27FC236}">
                <a16:creationId xmlns:a16="http://schemas.microsoft.com/office/drawing/2014/main" id="{DDD84A65-EC91-4851-9B08-735217A39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492" y="1772816"/>
            <a:ext cx="8181975" cy="407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689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032600-2E68-4DA3-A7F4-16EA59CC465E}"/>
              </a:ext>
            </a:extLst>
          </p:cNvPr>
          <p:cNvSpPr>
            <a:spLocks noGrp="1"/>
          </p:cNvSpPr>
          <p:nvPr>
            <p:ph type="title"/>
          </p:nvPr>
        </p:nvSpPr>
        <p:spPr/>
        <p:txBody>
          <a:bodyPr/>
          <a:lstStyle/>
          <a:p>
            <a:r>
              <a:rPr lang="en-US" altLang="zh-CN" dirty="0"/>
              <a:t>PG</a:t>
            </a:r>
            <a:r>
              <a:rPr lang="zh-CN" altLang="en-US" dirty="0"/>
              <a:t>数量规划</a:t>
            </a:r>
          </a:p>
        </p:txBody>
      </p:sp>
      <p:sp>
        <p:nvSpPr>
          <p:cNvPr id="3" name="矩形 2">
            <a:extLst>
              <a:ext uri="{FF2B5EF4-FFF2-40B4-BE49-F238E27FC236}">
                <a16:creationId xmlns:a16="http://schemas.microsoft.com/office/drawing/2014/main" id="{9516AF0F-5858-4124-86BA-1380797E20BE}"/>
              </a:ext>
            </a:extLst>
          </p:cNvPr>
          <p:cNvSpPr/>
          <p:nvPr/>
        </p:nvSpPr>
        <p:spPr>
          <a:xfrm>
            <a:off x="875420" y="1536174"/>
            <a:ext cx="11053228" cy="3785652"/>
          </a:xfrm>
          <a:prstGeom prst="rect">
            <a:avLst/>
          </a:prstGeom>
        </p:spPr>
        <p:txBody>
          <a:bodyPr wrap="square">
            <a:spAutoFit/>
          </a:bodyPr>
          <a:lstStyle/>
          <a:p>
            <a:r>
              <a:rPr lang="zh-CN" altLang="en-US" sz="2400" dirty="0">
                <a:latin typeface="+mn-ea"/>
                <a:ea typeface="+mn-ea"/>
              </a:rPr>
              <a:t>Pool 对应 PG PGP数量的计算公式：  官方计算地址</a:t>
            </a:r>
            <a:endParaRPr lang="en-US" altLang="zh-CN" sz="2400" dirty="0">
              <a:latin typeface="+mn-ea"/>
              <a:ea typeface="+mn-ea"/>
            </a:endParaRPr>
          </a:p>
          <a:p>
            <a:endParaRPr lang="en-US" altLang="zh-CN" sz="2400" dirty="0">
              <a:latin typeface="+mn-ea"/>
              <a:ea typeface="+mn-ea"/>
            </a:endParaRPr>
          </a:p>
          <a:p>
            <a:r>
              <a:rPr lang="zh-CN" altLang="en-US" sz="2400" dirty="0">
                <a:latin typeface="+mn-ea"/>
                <a:ea typeface="+mn-ea"/>
              </a:rPr>
              <a:t>Total PGs = ((Total_number_of_OSD * Target PGs per OSD) / max_replication_count) / pool_count</a:t>
            </a:r>
            <a:endParaRPr lang="en-US" altLang="zh-CN" sz="2400" dirty="0">
              <a:latin typeface="+mn-ea"/>
              <a:ea typeface="+mn-ea"/>
            </a:endParaRPr>
          </a:p>
          <a:p>
            <a:endParaRPr lang="en-US" altLang="zh-CN" sz="2400" dirty="0">
              <a:latin typeface="+mn-ea"/>
              <a:ea typeface="+mn-ea"/>
            </a:endParaRPr>
          </a:p>
          <a:p>
            <a:endParaRPr lang="en-US" altLang="zh-CN" sz="2400" dirty="0">
              <a:latin typeface="+mn-ea"/>
              <a:ea typeface="+mn-ea"/>
            </a:endParaRPr>
          </a:p>
          <a:p>
            <a:r>
              <a:rPr lang="zh-CN" altLang="en-US" sz="2400" dirty="0">
                <a:latin typeface="+mn-ea"/>
                <a:ea typeface="+mn-ea"/>
              </a:rPr>
              <a:t>Target PGs per OSD 通常被设置为</a:t>
            </a:r>
            <a:r>
              <a:rPr lang="en-US" altLang="zh-CN" sz="2400" dirty="0">
                <a:latin typeface="+mn-ea"/>
                <a:ea typeface="+mn-ea"/>
              </a:rPr>
              <a:t>100  PG</a:t>
            </a:r>
            <a:r>
              <a:rPr lang="zh-CN" altLang="en-US" sz="2400" dirty="0">
                <a:latin typeface="+mn-ea"/>
                <a:ea typeface="+mn-ea"/>
              </a:rPr>
              <a:t>取值为</a:t>
            </a:r>
            <a:r>
              <a:rPr lang="en-US" altLang="zh-CN" sz="2400" dirty="0">
                <a:latin typeface="+mn-ea"/>
                <a:ea typeface="+mn-ea"/>
              </a:rPr>
              <a:t>2^N</a:t>
            </a:r>
            <a:r>
              <a:rPr lang="zh-CN" altLang="en-US" sz="2400" dirty="0">
                <a:latin typeface="+mn-ea"/>
                <a:ea typeface="+mn-ea"/>
              </a:rPr>
              <a:t>次方</a:t>
            </a:r>
            <a:endParaRPr lang="en-US" altLang="zh-CN" sz="2400" dirty="0">
              <a:latin typeface="+mn-ea"/>
              <a:ea typeface="+mn-ea"/>
            </a:endParaRPr>
          </a:p>
          <a:p>
            <a:endParaRPr lang="en-US" altLang="zh-CN" sz="2400" dirty="0">
              <a:latin typeface="+mn-ea"/>
              <a:ea typeface="+mn-ea"/>
            </a:endParaRPr>
          </a:p>
          <a:p>
            <a:endParaRPr lang="en-US" altLang="zh-CN" sz="2400" dirty="0">
              <a:latin typeface="+mn-ea"/>
              <a:ea typeface="+mn-ea"/>
            </a:endParaRPr>
          </a:p>
          <a:p>
            <a:r>
              <a:rPr lang="en-US" altLang="zh-CN" sz="2400" dirty="0">
                <a:latin typeface="+mn-ea"/>
                <a:ea typeface="+mn-ea"/>
              </a:rPr>
              <a:t>PG</a:t>
            </a:r>
            <a:r>
              <a:rPr lang="zh-CN" altLang="en-US" sz="2400" dirty="0">
                <a:latin typeface="+mn-ea"/>
                <a:ea typeface="+mn-ea"/>
              </a:rPr>
              <a:t>：</a:t>
            </a:r>
            <a:r>
              <a:rPr lang="en-US" altLang="zh-CN" sz="2400" dirty="0">
                <a:latin typeface="+mn-ea"/>
                <a:ea typeface="+mn-ea"/>
              </a:rPr>
              <a:t>Placement Group  </a:t>
            </a:r>
            <a:r>
              <a:rPr lang="zh-CN" altLang="en-US" sz="2400" dirty="0">
                <a:latin typeface="+mn-ea"/>
                <a:ea typeface="+mn-ea"/>
              </a:rPr>
              <a:t>归置组</a:t>
            </a:r>
          </a:p>
        </p:txBody>
      </p:sp>
    </p:spTree>
    <p:extLst>
      <p:ext uri="{BB962C8B-B14F-4D97-AF65-F5344CB8AC3E}">
        <p14:creationId xmlns:p14="http://schemas.microsoft.com/office/powerpoint/2010/main" val="3289003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191400-4A69-4611-A562-5EA01BEB13F4}"/>
              </a:ext>
            </a:extLst>
          </p:cNvPr>
          <p:cNvSpPr>
            <a:spLocks noGrp="1"/>
          </p:cNvSpPr>
          <p:nvPr>
            <p:ph type="title"/>
          </p:nvPr>
        </p:nvSpPr>
        <p:spPr/>
        <p:txBody>
          <a:bodyPr/>
          <a:lstStyle/>
          <a:p>
            <a:r>
              <a:rPr lang="en-US" altLang="zh-CN" dirty="0"/>
              <a:t>Ceph</a:t>
            </a:r>
            <a:r>
              <a:rPr lang="zh-CN" altLang="en-US" dirty="0"/>
              <a:t>数据流的存储过程</a:t>
            </a:r>
          </a:p>
        </p:txBody>
      </p:sp>
      <p:pic>
        <p:nvPicPr>
          <p:cNvPr id="4098" name="Picture 2">
            <a:extLst>
              <a:ext uri="{FF2B5EF4-FFF2-40B4-BE49-F238E27FC236}">
                <a16:creationId xmlns:a16="http://schemas.microsoft.com/office/drawing/2014/main" id="{41A2B4CE-8B9A-4612-9D86-B32C3B8BC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28" y="1259672"/>
            <a:ext cx="7987097" cy="5198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773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CCC864-FE9F-4F84-B902-76123F679952}"/>
              </a:ext>
            </a:extLst>
          </p:cNvPr>
          <p:cNvSpPr>
            <a:spLocks noGrp="1"/>
          </p:cNvSpPr>
          <p:nvPr>
            <p:ph type="title"/>
          </p:nvPr>
        </p:nvSpPr>
        <p:spPr/>
        <p:txBody>
          <a:bodyPr/>
          <a:lstStyle/>
          <a:p>
            <a:r>
              <a:rPr lang="en-US" altLang="zh-CN" dirty="0"/>
              <a:t>OSD</a:t>
            </a:r>
            <a:r>
              <a:rPr lang="zh-CN" altLang="en-US" dirty="0"/>
              <a:t>写流程</a:t>
            </a:r>
          </a:p>
        </p:txBody>
      </p:sp>
      <p:pic>
        <p:nvPicPr>
          <p:cNvPr id="5122" name="Picture 2">
            <a:extLst>
              <a:ext uri="{FF2B5EF4-FFF2-40B4-BE49-F238E27FC236}">
                <a16:creationId xmlns:a16="http://schemas.microsoft.com/office/drawing/2014/main" id="{0A3D2C5D-3BCD-45DA-A357-8695304FF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1340768"/>
            <a:ext cx="6438900" cy="4880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256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AEE9AF-CA5D-4157-941A-E101C14B6FF0}"/>
              </a:ext>
            </a:extLst>
          </p:cNvPr>
          <p:cNvSpPr>
            <a:spLocks noGrp="1"/>
          </p:cNvSpPr>
          <p:nvPr>
            <p:ph type="title"/>
          </p:nvPr>
        </p:nvSpPr>
        <p:spPr/>
        <p:txBody>
          <a:bodyPr/>
          <a:lstStyle/>
          <a:p>
            <a:r>
              <a:rPr lang="en-US" altLang="zh-CN" dirty="0"/>
              <a:t>Ceph</a:t>
            </a:r>
            <a:r>
              <a:rPr lang="zh-CN" altLang="en-US" dirty="0"/>
              <a:t>进程</a:t>
            </a:r>
          </a:p>
        </p:txBody>
      </p:sp>
      <p:pic>
        <p:nvPicPr>
          <p:cNvPr id="3" name="图片 2">
            <a:extLst>
              <a:ext uri="{FF2B5EF4-FFF2-40B4-BE49-F238E27FC236}">
                <a16:creationId xmlns:a16="http://schemas.microsoft.com/office/drawing/2014/main" id="{A484F0FA-FD36-4935-BDA2-E56D54E84DD5}"/>
              </a:ext>
            </a:extLst>
          </p:cNvPr>
          <p:cNvPicPr>
            <a:picLocks noChangeAspect="1"/>
          </p:cNvPicPr>
          <p:nvPr/>
        </p:nvPicPr>
        <p:blipFill>
          <a:blip r:embed="rId2"/>
          <a:stretch>
            <a:fillRect/>
          </a:stretch>
        </p:blipFill>
        <p:spPr>
          <a:xfrm>
            <a:off x="281354" y="1304764"/>
            <a:ext cx="11629292" cy="3565755"/>
          </a:xfrm>
          <a:prstGeom prst="rect">
            <a:avLst/>
          </a:prstGeom>
        </p:spPr>
      </p:pic>
      <p:sp>
        <p:nvSpPr>
          <p:cNvPr id="4" name="矩形 3">
            <a:extLst>
              <a:ext uri="{FF2B5EF4-FFF2-40B4-BE49-F238E27FC236}">
                <a16:creationId xmlns:a16="http://schemas.microsoft.com/office/drawing/2014/main" id="{33829412-D32C-4B21-936A-DB9CB20BE04B}"/>
              </a:ext>
            </a:extLst>
          </p:cNvPr>
          <p:cNvSpPr/>
          <p:nvPr/>
        </p:nvSpPr>
        <p:spPr>
          <a:xfrm>
            <a:off x="335360" y="4924028"/>
            <a:ext cx="10014280" cy="400110"/>
          </a:xfrm>
          <a:prstGeom prst="rect">
            <a:avLst/>
          </a:prstGeom>
        </p:spPr>
        <p:txBody>
          <a:bodyPr wrap="none">
            <a:spAutoFit/>
          </a:bodyPr>
          <a:lstStyle/>
          <a:p>
            <a:r>
              <a:rPr lang="zh-CN" altLang="en-US" sz="2000" dirty="0">
                <a:solidFill>
                  <a:srgbClr val="404040"/>
                </a:solidFill>
                <a:latin typeface="+mn-ea"/>
                <a:ea typeface="+mn-ea"/>
              </a:rPr>
              <a:t>每个</a:t>
            </a:r>
            <a:r>
              <a:rPr lang="en-US" altLang="zh-CN" sz="2000" dirty="0">
                <a:solidFill>
                  <a:srgbClr val="404040"/>
                </a:solidFill>
                <a:latin typeface="+mn-ea"/>
                <a:ea typeface="+mn-ea"/>
              </a:rPr>
              <a:t>osd</a:t>
            </a:r>
            <a:r>
              <a:rPr lang="zh-CN" altLang="en-US" sz="2000" dirty="0">
                <a:solidFill>
                  <a:srgbClr val="404040"/>
                </a:solidFill>
                <a:latin typeface="+mn-ea"/>
                <a:ea typeface="+mn-ea"/>
              </a:rPr>
              <a:t>监听</a:t>
            </a:r>
            <a:r>
              <a:rPr lang="en-US" altLang="zh-CN" sz="2000" dirty="0">
                <a:solidFill>
                  <a:srgbClr val="404040"/>
                </a:solidFill>
                <a:latin typeface="+mn-ea"/>
                <a:ea typeface="+mn-ea"/>
              </a:rPr>
              <a:t>4</a:t>
            </a:r>
            <a:r>
              <a:rPr lang="zh-CN" altLang="en-US" sz="2000" dirty="0">
                <a:solidFill>
                  <a:srgbClr val="404040"/>
                </a:solidFill>
                <a:latin typeface="+mn-ea"/>
                <a:ea typeface="+mn-ea"/>
              </a:rPr>
              <a:t>个端口，分别用于接收客户请求、传输数据、发送心跳、同步数据等操作</a:t>
            </a:r>
            <a:endParaRPr lang="zh-CN" altLang="en-US" sz="2000" dirty="0">
              <a:latin typeface="+mn-ea"/>
              <a:ea typeface="+mn-ea"/>
            </a:endParaRPr>
          </a:p>
        </p:txBody>
      </p:sp>
    </p:spTree>
    <p:extLst>
      <p:ext uri="{BB962C8B-B14F-4D97-AF65-F5344CB8AC3E}">
        <p14:creationId xmlns:p14="http://schemas.microsoft.com/office/powerpoint/2010/main" val="315411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微软雅黑" panose="020B0503020204020204" pitchFamily="34" charset="-122"/>
              </a:rPr>
              <a:t>多副本</a:t>
            </a:r>
          </a:p>
        </p:txBody>
      </p:sp>
      <p:sp>
        <p:nvSpPr>
          <p:cNvPr id="4" name="文本占位符 3"/>
          <p:cNvSpPr>
            <a:spLocks noGrp="1"/>
          </p:cNvSpPr>
          <p:nvPr>
            <p:ph type="body" sz="quarter" idx="10"/>
          </p:nvPr>
        </p:nvSpPr>
        <p:spPr/>
        <p:txBody>
          <a:bodyPr/>
          <a:lstStyle/>
          <a:p>
            <a:r>
              <a:rPr lang="en-US" altLang="zh-CN" sz="2400" dirty="0"/>
              <a:t>Ceph</a:t>
            </a:r>
            <a:r>
              <a:rPr lang="zh-CN" altLang="en-US" sz="2400" dirty="0"/>
              <a:t>分布式存储可采用数据多副本备份机制来保证数据的可靠性。</a:t>
            </a:r>
          </a:p>
          <a:p>
            <a:endParaRPr lang="zh-CN" altLang="en-US" dirty="0"/>
          </a:p>
        </p:txBody>
      </p:sp>
      <p:pic>
        <p:nvPicPr>
          <p:cNvPr id="5" name="图片 4"/>
          <p:cNvPicPr>
            <a:picLocks noChangeAspect="1"/>
          </p:cNvPicPr>
          <p:nvPr/>
        </p:nvPicPr>
        <p:blipFill>
          <a:blip r:embed="rId3"/>
          <a:stretch>
            <a:fillRect/>
          </a:stretch>
        </p:blipFill>
        <p:spPr>
          <a:xfrm>
            <a:off x="3105994" y="2377450"/>
            <a:ext cx="902322" cy="313851"/>
          </a:xfrm>
          <a:prstGeom prst="rect">
            <a:avLst/>
          </a:prstGeom>
        </p:spPr>
      </p:pic>
      <p:sp>
        <p:nvSpPr>
          <p:cNvPr id="6" name="右箭头 5"/>
          <p:cNvSpPr/>
          <p:nvPr/>
        </p:nvSpPr>
        <p:spPr bwMode="auto">
          <a:xfrm>
            <a:off x="4105546" y="2246879"/>
            <a:ext cx="679498" cy="658887"/>
          </a:xfrm>
          <a:prstGeom prst="right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rPr>
              <a:t>切割</a:t>
            </a:r>
          </a:p>
        </p:txBody>
      </p:sp>
      <p:sp>
        <p:nvSpPr>
          <p:cNvPr id="7" name="矩形 6"/>
          <p:cNvSpPr/>
          <p:nvPr/>
        </p:nvSpPr>
        <p:spPr bwMode="auto">
          <a:xfrm>
            <a:off x="5072898" y="2344872"/>
            <a:ext cx="144016" cy="174300"/>
          </a:xfrm>
          <a:prstGeom prst="rect">
            <a:avLst/>
          </a:prstGeom>
          <a:solidFill>
            <a:schemeClr val="accent6">
              <a:lumMod val="75000"/>
            </a:schemeClr>
          </a:solidFill>
          <a:ln w="9525" cap="flat" cmpd="sng" algn="ctr">
            <a:solidFill>
              <a:schemeClr val="accent2">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14" name="矩形 13"/>
          <p:cNvSpPr/>
          <p:nvPr/>
        </p:nvSpPr>
        <p:spPr bwMode="auto">
          <a:xfrm>
            <a:off x="5457691" y="2344872"/>
            <a:ext cx="144016" cy="1743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15" name="矩形 14"/>
          <p:cNvSpPr/>
          <p:nvPr/>
        </p:nvSpPr>
        <p:spPr bwMode="auto">
          <a:xfrm>
            <a:off x="5842484" y="2344872"/>
            <a:ext cx="144016" cy="174300"/>
          </a:xfrm>
          <a:prstGeom prst="rect">
            <a:avLst/>
          </a:prstGeom>
          <a:solidFill>
            <a:schemeClr val="tx2">
              <a:lumMod val="75000"/>
            </a:schemeClr>
          </a:solidFill>
          <a:ln w="952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16" name="矩形 15"/>
          <p:cNvSpPr/>
          <p:nvPr/>
        </p:nvSpPr>
        <p:spPr bwMode="auto">
          <a:xfrm>
            <a:off x="6227277" y="2344872"/>
            <a:ext cx="144016" cy="174300"/>
          </a:xfrm>
          <a:prstGeom prst="rect">
            <a:avLst/>
          </a:prstGeom>
          <a:solidFill>
            <a:schemeClr val="tx2">
              <a:lumMod val="20000"/>
              <a:lumOff val="80000"/>
            </a:schemeClr>
          </a:solidFill>
          <a:ln w="9525" cap="flat" cmpd="sng" algn="ctr">
            <a:solidFill>
              <a:schemeClr val="tx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18" name="矩形 17"/>
          <p:cNvSpPr/>
          <p:nvPr/>
        </p:nvSpPr>
        <p:spPr bwMode="auto">
          <a:xfrm>
            <a:off x="6612070" y="2344872"/>
            <a:ext cx="144016" cy="174300"/>
          </a:xfrm>
          <a:prstGeom prst="rect">
            <a:avLst/>
          </a:prstGeom>
          <a:solidFill>
            <a:srgbClr val="B2CB7F"/>
          </a:solidFill>
          <a:ln w="9525" cap="flat" cmpd="sng" algn="ctr">
            <a:solidFill>
              <a:srgbClr val="B2CB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19" name="矩形 18"/>
          <p:cNvSpPr/>
          <p:nvPr/>
        </p:nvSpPr>
        <p:spPr bwMode="auto">
          <a:xfrm>
            <a:off x="6996863" y="2344872"/>
            <a:ext cx="144016" cy="174300"/>
          </a:xfrm>
          <a:prstGeom prst="rect">
            <a:avLst/>
          </a:prstGeom>
          <a:solidFill>
            <a:srgbClr val="CCECFF"/>
          </a:solidFill>
          <a:ln w="9525" cap="flat" cmpd="sng" algn="ctr">
            <a:solidFill>
              <a:srgbClr val="CCEC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20" name="矩形 19"/>
          <p:cNvSpPr/>
          <p:nvPr/>
        </p:nvSpPr>
        <p:spPr bwMode="auto">
          <a:xfrm>
            <a:off x="7381656" y="2344872"/>
            <a:ext cx="144016" cy="174300"/>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21" name="矩形 20"/>
          <p:cNvSpPr/>
          <p:nvPr/>
        </p:nvSpPr>
        <p:spPr bwMode="auto">
          <a:xfrm>
            <a:off x="7766450" y="2344872"/>
            <a:ext cx="144016" cy="174300"/>
          </a:xfrm>
          <a:prstGeom prst="rect">
            <a:avLst/>
          </a:prstGeom>
          <a:solidFill>
            <a:srgbClr val="FFC0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8" name="椭圆 7"/>
          <p:cNvSpPr/>
          <p:nvPr/>
        </p:nvSpPr>
        <p:spPr bwMode="auto">
          <a:xfrm>
            <a:off x="5001519" y="2840308"/>
            <a:ext cx="719451" cy="696642"/>
          </a:xfrm>
          <a:prstGeom prst="ellipse">
            <a:avLst/>
          </a:prstGeom>
          <a:solidFill>
            <a:schemeClr val="bg1"/>
          </a:solidFill>
          <a:ln w="9525"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22" name="矩形 21"/>
          <p:cNvSpPr/>
          <p:nvPr/>
        </p:nvSpPr>
        <p:spPr bwMode="auto">
          <a:xfrm>
            <a:off x="5072898" y="3122341"/>
            <a:ext cx="144016" cy="174300"/>
          </a:xfrm>
          <a:prstGeom prst="rect">
            <a:avLst/>
          </a:prstGeom>
          <a:solidFill>
            <a:schemeClr val="accent6">
              <a:lumMod val="75000"/>
            </a:schemeClr>
          </a:solidFill>
          <a:ln w="9525" cap="flat" cmpd="sng" algn="ctr">
            <a:solidFill>
              <a:schemeClr val="accent2">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23" name="矩形 22"/>
          <p:cNvSpPr/>
          <p:nvPr/>
        </p:nvSpPr>
        <p:spPr bwMode="auto">
          <a:xfrm>
            <a:off x="5288922" y="3122341"/>
            <a:ext cx="144016" cy="174300"/>
          </a:xfrm>
          <a:prstGeom prst="rect">
            <a:avLst/>
          </a:prstGeom>
          <a:solidFill>
            <a:schemeClr val="tx2">
              <a:lumMod val="75000"/>
            </a:schemeClr>
          </a:solidFill>
          <a:ln w="952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24" name="矩形 23"/>
          <p:cNvSpPr/>
          <p:nvPr/>
        </p:nvSpPr>
        <p:spPr bwMode="auto">
          <a:xfrm>
            <a:off x="5504946" y="3122341"/>
            <a:ext cx="144016" cy="174300"/>
          </a:xfrm>
          <a:prstGeom prst="rect">
            <a:avLst/>
          </a:prstGeom>
          <a:solidFill>
            <a:srgbClr val="FFC0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cxnSp>
        <p:nvCxnSpPr>
          <p:cNvPr id="11" name="直接箭头连接符 10"/>
          <p:cNvCxnSpPr>
            <a:stCxn id="7" idx="2"/>
          </p:cNvCxnSpPr>
          <p:nvPr/>
        </p:nvCxnSpPr>
        <p:spPr bwMode="auto">
          <a:xfrm>
            <a:off x="5144906" y="2519172"/>
            <a:ext cx="72008" cy="6031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5" name="直接箭头连接符 24"/>
          <p:cNvCxnSpPr>
            <a:stCxn id="15" idx="2"/>
            <a:endCxn id="23" idx="0"/>
          </p:cNvCxnSpPr>
          <p:nvPr/>
        </p:nvCxnSpPr>
        <p:spPr bwMode="auto">
          <a:xfrm flipH="1">
            <a:off x="5360930" y="2519172"/>
            <a:ext cx="553562" cy="6031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0" name="椭圆 29"/>
          <p:cNvSpPr/>
          <p:nvPr/>
        </p:nvSpPr>
        <p:spPr bwMode="auto">
          <a:xfrm>
            <a:off x="5977743" y="2840308"/>
            <a:ext cx="719451" cy="696642"/>
          </a:xfrm>
          <a:prstGeom prst="ellipse">
            <a:avLst/>
          </a:prstGeom>
          <a:solidFill>
            <a:schemeClr val="bg1"/>
          </a:solidFill>
          <a:ln w="9525"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31" name="椭圆 30"/>
          <p:cNvSpPr/>
          <p:nvPr/>
        </p:nvSpPr>
        <p:spPr bwMode="auto">
          <a:xfrm>
            <a:off x="6953967" y="2840308"/>
            <a:ext cx="719451" cy="696642"/>
          </a:xfrm>
          <a:prstGeom prst="ellipse">
            <a:avLst/>
          </a:prstGeom>
          <a:solidFill>
            <a:schemeClr val="bg1"/>
          </a:solidFill>
          <a:ln w="9525"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32" name="矩形 31"/>
          <p:cNvSpPr/>
          <p:nvPr/>
        </p:nvSpPr>
        <p:spPr bwMode="auto">
          <a:xfrm>
            <a:off x="6045006" y="3122341"/>
            <a:ext cx="144016" cy="1743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33" name="矩形 32"/>
          <p:cNvSpPr/>
          <p:nvPr/>
        </p:nvSpPr>
        <p:spPr bwMode="auto">
          <a:xfrm>
            <a:off x="6261030" y="3122341"/>
            <a:ext cx="144016" cy="174300"/>
          </a:xfrm>
          <a:prstGeom prst="rect">
            <a:avLst/>
          </a:prstGeom>
          <a:solidFill>
            <a:srgbClr val="B2CB7F"/>
          </a:solidFill>
          <a:ln w="9525" cap="flat" cmpd="sng" algn="ctr">
            <a:solidFill>
              <a:srgbClr val="B2CB7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34" name="矩形 33"/>
          <p:cNvSpPr/>
          <p:nvPr/>
        </p:nvSpPr>
        <p:spPr bwMode="auto">
          <a:xfrm>
            <a:off x="6477054" y="3122341"/>
            <a:ext cx="144016" cy="174300"/>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35" name="矩形 34"/>
          <p:cNvSpPr/>
          <p:nvPr/>
        </p:nvSpPr>
        <p:spPr bwMode="auto">
          <a:xfrm>
            <a:off x="7089122" y="3122341"/>
            <a:ext cx="144016" cy="174300"/>
          </a:xfrm>
          <a:prstGeom prst="rect">
            <a:avLst/>
          </a:prstGeom>
          <a:solidFill>
            <a:schemeClr val="tx2">
              <a:lumMod val="20000"/>
              <a:lumOff val="80000"/>
            </a:schemeClr>
          </a:solidFill>
          <a:ln w="9525" cap="flat" cmpd="sng" algn="ctr">
            <a:solidFill>
              <a:schemeClr val="tx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36" name="矩形 35"/>
          <p:cNvSpPr/>
          <p:nvPr/>
        </p:nvSpPr>
        <p:spPr bwMode="auto">
          <a:xfrm>
            <a:off x="7313692" y="3121295"/>
            <a:ext cx="144016" cy="174300"/>
          </a:xfrm>
          <a:prstGeom prst="rect">
            <a:avLst/>
          </a:prstGeom>
          <a:solidFill>
            <a:srgbClr val="CCECFF"/>
          </a:solidFill>
          <a:ln w="9525" cap="flat" cmpd="sng" algn="ctr">
            <a:solidFill>
              <a:srgbClr val="CCEC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cxnSp>
        <p:nvCxnSpPr>
          <p:cNvPr id="29" name="直接箭头连接符 28"/>
          <p:cNvCxnSpPr>
            <a:stCxn id="14" idx="2"/>
          </p:cNvCxnSpPr>
          <p:nvPr/>
        </p:nvCxnSpPr>
        <p:spPr bwMode="auto">
          <a:xfrm>
            <a:off x="5529699" y="2519172"/>
            <a:ext cx="587315" cy="60212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直接箭头连接符 37"/>
          <p:cNvCxnSpPr>
            <a:stCxn id="18" idx="2"/>
          </p:cNvCxnSpPr>
          <p:nvPr/>
        </p:nvCxnSpPr>
        <p:spPr bwMode="auto">
          <a:xfrm flipH="1">
            <a:off x="6349276" y="2519172"/>
            <a:ext cx="334802" cy="5965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直接箭头连接符 39"/>
          <p:cNvCxnSpPr>
            <a:stCxn id="20" idx="2"/>
            <a:endCxn id="34" idx="0"/>
          </p:cNvCxnSpPr>
          <p:nvPr/>
        </p:nvCxnSpPr>
        <p:spPr bwMode="auto">
          <a:xfrm flipH="1">
            <a:off x="6549062" y="2519172"/>
            <a:ext cx="904602" cy="6031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直接箭头连接符 41"/>
          <p:cNvCxnSpPr>
            <a:stCxn id="16" idx="2"/>
            <a:endCxn id="35" idx="0"/>
          </p:cNvCxnSpPr>
          <p:nvPr/>
        </p:nvCxnSpPr>
        <p:spPr bwMode="auto">
          <a:xfrm>
            <a:off x="6299285" y="2519172"/>
            <a:ext cx="861845" cy="6031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4" name="直接箭头连接符 43"/>
          <p:cNvCxnSpPr>
            <a:stCxn id="21" idx="3"/>
          </p:cNvCxnSpPr>
          <p:nvPr/>
        </p:nvCxnSpPr>
        <p:spPr bwMode="auto">
          <a:xfrm flipH="1">
            <a:off x="5544448" y="2432022"/>
            <a:ext cx="2366018" cy="68371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直接箭头连接符 48"/>
          <p:cNvCxnSpPr>
            <a:stCxn id="19" idx="2"/>
          </p:cNvCxnSpPr>
          <p:nvPr/>
        </p:nvCxnSpPr>
        <p:spPr bwMode="auto">
          <a:xfrm>
            <a:off x="7068871" y="2519172"/>
            <a:ext cx="312785" cy="5965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1" name="文本框 50"/>
          <p:cNvSpPr txBox="1"/>
          <p:nvPr/>
        </p:nvSpPr>
        <p:spPr bwMode="auto">
          <a:xfrm>
            <a:off x="8040007" y="2230458"/>
            <a:ext cx="46805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a:t>
            </a:r>
            <a:endParaRPr lang="zh-CN" altLang="en-US" sz="1200" dirty="0">
              <a:latin typeface="+mn-ea"/>
              <a:ea typeface="+mn-ea"/>
              <a:sym typeface="微软雅黑" panose="020B0503020204020204" pitchFamily="34" charset="-122"/>
            </a:endParaRPr>
          </a:p>
        </p:txBody>
      </p:sp>
      <p:sp>
        <p:nvSpPr>
          <p:cNvPr id="54" name="文本框 53"/>
          <p:cNvSpPr txBox="1"/>
          <p:nvPr/>
        </p:nvSpPr>
        <p:spPr bwMode="auto">
          <a:xfrm>
            <a:off x="7891489" y="2987994"/>
            <a:ext cx="46805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a:t>
            </a:r>
            <a:endParaRPr lang="zh-CN" altLang="en-US" sz="1200" dirty="0">
              <a:latin typeface="+mn-ea"/>
              <a:ea typeface="+mn-ea"/>
              <a:sym typeface="微软雅黑" panose="020B0503020204020204" pitchFamily="34" charset="-122"/>
            </a:endParaRPr>
          </a:p>
        </p:txBody>
      </p:sp>
      <p:sp>
        <p:nvSpPr>
          <p:cNvPr id="55" name="文本框 54"/>
          <p:cNvSpPr txBox="1"/>
          <p:nvPr/>
        </p:nvSpPr>
        <p:spPr bwMode="auto">
          <a:xfrm>
            <a:off x="7408661" y="3002306"/>
            <a:ext cx="46805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a:t>
            </a:r>
            <a:endParaRPr lang="zh-CN" altLang="en-US" sz="1200" dirty="0">
              <a:latin typeface="+mn-ea"/>
              <a:ea typeface="+mn-ea"/>
              <a:sym typeface="微软雅黑" panose="020B0503020204020204" pitchFamily="34" charset="-122"/>
            </a:endParaRPr>
          </a:p>
        </p:txBody>
      </p:sp>
      <p:sp>
        <p:nvSpPr>
          <p:cNvPr id="52" name="圆角矩形 51"/>
          <p:cNvSpPr/>
          <p:nvPr/>
        </p:nvSpPr>
        <p:spPr bwMode="auto">
          <a:xfrm>
            <a:off x="2881277" y="3835795"/>
            <a:ext cx="1753804" cy="1728885"/>
          </a:xfrm>
          <a:prstGeom prst="round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53" name="矩形 52"/>
          <p:cNvSpPr/>
          <p:nvPr/>
        </p:nvSpPr>
        <p:spPr bwMode="auto">
          <a:xfrm>
            <a:off x="2969505" y="3979653"/>
            <a:ext cx="680663" cy="938813"/>
          </a:xfrm>
          <a:prstGeom prst="rect">
            <a:avLst/>
          </a:prstGeom>
          <a:solidFill>
            <a:srgbClr val="EBF1DE"/>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62" name="文本框 61"/>
          <p:cNvSpPr txBox="1"/>
          <p:nvPr/>
        </p:nvSpPr>
        <p:spPr bwMode="auto">
          <a:xfrm>
            <a:off x="4656995" y="4175655"/>
            <a:ext cx="46805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a:t>
            </a:r>
            <a:endParaRPr lang="zh-CN" altLang="en-US" sz="1200" dirty="0">
              <a:latin typeface="+mn-ea"/>
              <a:ea typeface="+mn-ea"/>
              <a:sym typeface="微软雅黑" panose="020B0503020204020204" pitchFamily="34" charset="-122"/>
            </a:endParaRPr>
          </a:p>
        </p:txBody>
      </p:sp>
      <p:sp>
        <p:nvSpPr>
          <p:cNvPr id="56" name="椭圆 55"/>
          <p:cNvSpPr/>
          <p:nvPr/>
        </p:nvSpPr>
        <p:spPr bwMode="auto">
          <a:xfrm>
            <a:off x="3003114" y="4071740"/>
            <a:ext cx="606614" cy="286774"/>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PG01</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65" name="椭圆 64"/>
          <p:cNvSpPr/>
          <p:nvPr/>
        </p:nvSpPr>
        <p:spPr bwMode="auto">
          <a:xfrm>
            <a:off x="3006799" y="4378331"/>
            <a:ext cx="606614" cy="286774"/>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60" name="文本框 59"/>
          <p:cNvSpPr txBox="1"/>
          <p:nvPr/>
        </p:nvSpPr>
        <p:spPr bwMode="auto">
          <a:xfrm>
            <a:off x="2953604" y="4678576"/>
            <a:ext cx="741130"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OSD 01</a:t>
            </a:r>
            <a:endParaRPr lang="zh-CN" altLang="en-US" sz="1200" dirty="0">
              <a:latin typeface="+mn-ea"/>
              <a:ea typeface="+mn-ea"/>
              <a:sym typeface="微软雅黑" panose="020B0503020204020204" pitchFamily="34" charset="-122"/>
            </a:endParaRPr>
          </a:p>
        </p:txBody>
      </p:sp>
      <p:sp>
        <p:nvSpPr>
          <p:cNvPr id="67" name="矩形 66"/>
          <p:cNvSpPr/>
          <p:nvPr/>
        </p:nvSpPr>
        <p:spPr bwMode="auto">
          <a:xfrm>
            <a:off x="3654384" y="3979811"/>
            <a:ext cx="680663" cy="938813"/>
          </a:xfrm>
          <a:prstGeom prst="rect">
            <a:avLst/>
          </a:prstGeom>
          <a:solidFill>
            <a:srgbClr val="EBF1DE"/>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68" name="椭圆 67"/>
          <p:cNvSpPr/>
          <p:nvPr/>
        </p:nvSpPr>
        <p:spPr bwMode="auto">
          <a:xfrm>
            <a:off x="3687993" y="4071898"/>
            <a:ext cx="606614" cy="286774"/>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PG02</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69" name="椭圆 68"/>
          <p:cNvSpPr/>
          <p:nvPr/>
        </p:nvSpPr>
        <p:spPr bwMode="auto">
          <a:xfrm>
            <a:off x="3691678" y="4378489"/>
            <a:ext cx="606614" cy="286774"/>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70" name="文本框 69"/>
          <p:cNvSpPr txBox="1"/>
          <p:nvPr/>
        </p:nvSpPr>
        <p:spPr bwMode="auto">
          <a:xfrm>
            <a:off x="3676931" y="4678576"/>
            <a:ext cx="741130"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OSD 02</a:t>
            </a:r>
            <a:endParaRPr lang="zh-CN" altLang="en-US" sz="1200" dirty="0">
              <a:latin typeface="+mn-ea"/>
              <a:ea typeface="+mn-ea"/>
              <a:sym typeface="微软雅黑" panose="020B0503020204020204" pitchFamily="34" charset="-122"/>
            </a:endParaRPr>
          </a:p>
        </p:txBody>
      </p:sp>
      <p:pic>
        <p:nvPicPr>
          <p:cNvPr id="64" name="图片 63"/>
          <p:cNvPicPr>
            <a:picLocks noChangeAspect="1"/>
          </p:cNvPicPr>
          <p:nvPr/>
        </p:nvPicPr>
        <p:blipFill>
          <a:blip r:embed="rId4"/>
          <a:stretch>
            <a:fillRect/>
          </a:stretch>
        </p:blipFill>
        <p:spPr>
          <a:xfrm>
            <a:off x="2963239" y="4974712"/>
            <a:ext cx="421796" cy="432341"/>
          </a:xfrm>
          <a:prstGeom prst="rect">
            <a:avLst/>
          </a:prstGeom>
        </p:spPr>
      </p:pic>
      <p:sp>
        <p:nvSpPr>
          <p:cNvPr id="66" name="文本框 65"/>
          <p:cNvSpPr txBox="1"/>
          <p:nvPr/>
        </p:nvSpPr>
        <p:spPr bwMode="auto">
          <a:xfrm>
            <a:off x="3327263" y="5103357"/>
            <a:ext cx="744293"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200" dirty="0">
                <a:latin typeface="+mn-ea"/>
                <a:ea typeface="+mn-ea"/>
                <a:sym typeface="微软雅黑" panose="020B0503020204020204" pitchFamily="34" charset="-122"/>
              </a:rPr>
              <a:t>节点</a:t>
            </a:r>
            <a:r>
              <a:rPr lang="en-US" altLang="zh-CN" sz="1200" dirty="0">
                <a:latin typeface="+mn-ea"/>
                <a:ea typeface="+mn-ea"/>
                <a:sym typeface="微软雅黑" panose="020B0503020204020204" pitchFamily="34" charset="-122"/>
              </a:rPr>
              <a:t>1</a:t>
            </a:r>
            <a:endParaRPr lang="zh-CN" altLang="en-US" sz="1200" dirty="0">
              <a:latin typeface="+mn-ea"/>
              <a:ea typeface="+mn-ea"/>
              <a:sym typeface="微软雅黑" panose="020B0503020204020204" pitchFamily="34" charset="-122"/>
            </a:endParaRPr>
          </a:p>
        </p:txBody>
      </p:sp>
      <p:pic>
        <p:nvPicPr>
          <p:cNvPr id="73" name="图片 72"/>
          <p:cNvPicPr>
            <a:picLocks noChangeAspect="1"/>
          </p:cNvPicPr>
          <p:nvPr/>
        </p:nvPicPr>
        <p:blipFill>
          <a:blip r:embed="rId4"/>
          <a:stretch>
            <a:fillRect/>
          </a:stretch>
        </p:blipFill>
        <p:spPr>
          <a:xfrm>
            <a:off x="3893986" y="4981685"/>
            <a:ext cx="421796" cy="432341"/>
          </a:xfrm>
          <a:prstGeom prst="rect">
            <a:avLst/>
          </a:prstGeom>
        </p:spPr>
      </p:pic>
      <p:sp>
        <p:nvSpPr>
          <p:cNvPr id="74" name="圆角矩形 73"/>
          <p:cNvSpPr/>
          <p:nvPr/>
        </p:nvSpPr>
        <p:spPr bwMode="auto">
          <a:xfrm>
            <a:off x="4969806" y="3876532"/>
            <a:ext cx="1819529" cy="1688148"/>
          </a:xfrm>
          <a:prstGeom prst="round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75" name="矩形 74"/>
          <p:cNvSpPr/>
          <p:nvPr/>
        </p:nvSpPr>
        <p:spPr bwMode="auto">
          <a:xfrm>
            <a:off x="5058035" y="4020390"/>
            <a:ext cx="706171" cy="916692"/>
          </a:xfrm>
          <a:prstGeom prst="rect">
            <a:avLst/>
          </a:prstGeom>
          <a:solidFill>
            <a:srgbClr val="EBF1DE"/>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76" name="文本框 75"/>
          <p:cNvSpPr txBox="1"/>
          <p:nvPr/>
        </p:nvSpPr>
        <p:spPr bwMode="auto">
          <a:xfrm>
            <a:off x="6549062" y="4077654"/>
            <a:ext cx="46805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a:t>
            </a:r>
            <a:endParaRPr lang="zh-CN" altLang="en-US" sz="1200" dirty="0">
              <a:latin typeface="+mn-ea"/>
              <a:ea typeface="+mn-ea"/>
              <a:sym typeface="微软雅黑" panose="020B0503020204020204" pitchFamily="34" charset="-122"/>
            </a:endParaRPr>
          </a:p>
        </p:txBody>
      </p:sp>
      <p:sp>
        <p:nvSpPr>
          <p:cNvPr id="77" name="椭圆 76"/>
          <p:cNvSpPr/>
          <p:nvPr/>
        </p:nvSpPr>
        <p:spPr bwMode="auto">
          <a:xfrm>
            <a:off x="5091643" y="4112476"/>
            <a:ext cx="629347" cy="280017"/>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PG01</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78" name="椭圆 77"/>
          <p:cNvSpPr/>
          <p:nvPr/>
        </p:nvSpPr>
        <p:spPr bwMode="auto">
          <a:xfrm>
            <a:off x="5095328" y="4419067"/>
            <a:ext cx="629347" cy="280017"/>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79" name="文本框 78"/>
          <p:cNvSpPr txBox="1"/>
          <p:nvPr/>
        </p:nvSpPr>
        <p:spPr bwMode="auto">
          <a:xfrm>
            <a:off x="5065407" y="4678576"/>
            <a:ext cx="768904"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OSD 03</a:t>
            </a:r>
            <a:endParaRPr lang="zh-CN" altLang="en-US" sz="1200" dirty="0">
              <a:latin typeface="+mn-ea"/>
              <a:ea typeface="+mn-ea"/>
              <a:sym typeface="微软雅黑" panose="020B0503020204020204" pitchFamily="34" charset="-122"/>
            </a:endParaRPr>
          </a:p>
        </p:txBody>
      </p:sp>
      <p:sp>
        <p:nvSpPr>
          <p:cNvPr id="80" name="矩形 79"/>
          <p:cNvSpPr/>
          <p:nvPr/>
        </p:nvSpPr>
        <p:spPr bwMode="auto">
          <a:xfrm>
            <a:off x="5742914" y="4020548"/>
            <a:ext cx="706171" cy="916692"/>
          </a:xfrm>
          <a:prstGeom prst="rect">
            <a:avLst/>
          </a:prstGeom>
          <a:solidFill>
            <a:srgbClr val="EBF1DE"/>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81" name="椭圆 80"/>
          <p:cNvSpPr/>
          <p:nvPr/>
        </p:nvSpPr>
        <p:spPr bwMode="auto">
          <a:xfrm>
            <a:off x="5776522" y="4112634"/>
            <a:ext cx="629347" cy="280017"/>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PG03</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82" name="椭圆 81"/>
          <p:cNvSpPr/>
          <p:nvPr/>
        </p:nvSpPr>
        <p:spPr bwMode="auto">
          <a:xfrm>
            <a:off x="5780207" y="4419225"/>
            <a:ext cx="629347" cy="280017"/>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83" name="文本框 82"/>
          <p:cNvSpPr txBox="1"/>
          <p:nvPr/>
        </p:nvSpPr>
        <p:spPr bwMode="auto">
          <a:xfrm>
            <a:off x="5727376" y="4678576"/>
            <a:ext cx="768904"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OSD 04</a:t>
            </a:r>
            <a:endParaRPr lang="zh-CN" altLang="en-US" sz="1200" dirty="0">
              <a:latin typeface="+mn-ea"/>
              <a:ea typeface="+mn-ea"/>
              <a:sym typeface="微软雅黑" panose="020B0503020204020204" pitchFamily="34" charset="-122"/>
            </a:endParaRPr>
          </a:p>
        </p:txBody>
      </p:sp>
      <p:pic>
        <p:nvPicPr>
          <p:cNvPr id="84" name="图片 83"/>
          <p:cNvPicPr>
            <a:picLocks noChangeAspect="1"/>
          </p:cNvPicPr>
          <p:nvPr/>
        </p:nvPicPr>
        <p:blipFill>
          <a:blip r:embed="rId4"/>
          <a:stretch>
            <a:fillRect/>
          </a:stretch>
        </p:blipFill>
        <p:spPr>
          <a:xfrm>
            <a:off x="5051768" y="5015448"/>
            <a:ext cx="437603" cy="448543"/>
          </a:xfrm>
          <a:prstGeom prst="rect">
            <a:avLst/>
          </a:prstGeom>
        </p:spPr>
      </p:pic>
      <p:sp>
        <p:nvSpPr>
          <p:cNvPr id="85" name="文本框 84"/>
          <p:cNvSpPr txBox="1"/>
          <p:nvPr/>
        </p:nvSpPr>
        <p:spPr bwMode="auto">
          <a:xfrm>
            <a:off x="5415793" y="5103357"/>
            <a:ext cx="772186" cy="27852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200" dirty="0">
                <a:latin typeface="+mn-ea"/>
                <a:ea typeface="+mn-ea"/>
                <a:sym typeface="微软雅黑" panose="020B0503020204020204" pitchFamily="34" charset="-122"/>
              </a:rPr>
              <a:t>节点</a:t>
            </a:r>
            <a:r>
              <a:rPr lang="en-US" altLang="zh-CN" sz="1200" dirty="0">
                <a:latin typeface="+mn-ea"/>
                <a:ea typeface="+mn-ea"/>
                <a:sym typeface="微软雅黑" panose="020B0503020204020204" pitchFamily="34" charset="-122"/>
              </a:rPr>
              <a:t>2</a:t>
            </a:r>
            <a:endParaRPr lang="zh-CN" altLang="en-US" sz="1200" dirty="0">
              <a:latin typeface="+mn-ea"/>
              <a:ea typeface="+mn-ea"/>
              <a:sym typeface="微软雅黑" panose="020B0503020204020204" pitchFamily="34" charset="-122"/>
            </a:endParaRPr>
          </a:p>
        </p:txBody>
      </p:sp>
      <p:pic>
        <p:nvPicPr>
          <p:cNvPr id="86" name="图片 85"/>
          <p:cNvPicPr>
            <a:picLocks noChangeAspect="1"/>
          </p:cNvPicPr>
          <p:nvPr/>
        </p:nvPicPr>
        <p:blipFill>
          <a:blip r:embed="rId4"/>
          <a:stretch>
            <a:fillRect/>
          </a:stretch>
        </p:blipFill>
        <p:spPr>
          <a:xfrm>
            <a:off x="5982515" y="5022421"/>
            <a:ext cx="437603" cy="448543"/>
          </a:xfrm>
          <a:prstGeom prst="rect">
            <a:avLst/>
          </a:prstGeom>
        </p:spPr>
      </p:pic>
      <p:sp>
        <p:nvSpPr>
          <p:cNvPr id="87" name="圆角矩形 86"/>
          <p:cNvSpPr/>
          <p:nvPr/>
        </p:nvSpPr>
        <p:spPr bwMode="auto">
          <a:xfrm>
            <a:off x="7346831" y="3927577"/>
            <a:ext cx="1714055" cy="1637103"/>
          </a:xfrm>
          <a:prstGeom prst="round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88" name="矩形 87"/>
          <p:cNvSpPr/>
          <p:nvPr/>
        </p:nvSpPr>
        <p:spPr bwMode="auto">
          <a:xfrm>
            <a:off x="7451304" y="4071434"/>
            <a:ext cx="636131" cy="903277"/>
          </a:xfrm>
          <a:prstGeom prst="rect">
            <a:avLst/>
          </a:prstGeom>
          <a:solidFill>
            <a:srgbClr val="EBF1DE"/>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89" name="文本框 88"/>
          <p:cNvSpPr txBox="1"/>
          <p:nvPr/>
        </p:nvSpPr>
        <p:spPr bwMode="auto">
          <a:xfrm>
            <a:off x="8678979" y="4350121"/>
            <a:ext cx="496635"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400" dirty="0">
                <a:latin typeface="+mn-ea"/>
                <a:ea typeface="+mn-ea"/>
                <a:sym typeface="微软雅黑" panose="020B0503020204020204" pitchFamily="34" charset="-122"/>
              </a:rPr>
              <a:t>…</a:t>
            </a:r>
            <a:endParaRPr lang="zh-CN" altLang="en-US" sz="1400" dirty="0">
              <a:latin typeface="+mn-ea"/>
              <a:ea typeface="+mn-ea"/>
              <a:sym typeface="微软雅黑" panose="020B0503020204020204" pitchFamily="34" charset="-122"/>
            </a:endParaRPr>
          </a:p>
        </p:txBody>
      </p:sp>
      <p:sp>
        <p:nvSpPr>
          <p:cNvPr id="90" name="椭圆 89"/>
          <p:cNvSpPr/>
          <p:nvPr/>
        </p:nvSpPr>
        <p:spPr bwMode="auto">
          <a:xfrm>
            <a:off x="7468668" y="4163522"/>
            <a:ext cx="581403" cy="240366"/>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PG02</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91" name="椭圆 90"/>
          <p:cNvSpPr/>
          <p:nvPr/>
        </p:nvSpPr>
        <p:spPr bwMode="auto">
          <a:xfrm>
            <a:off x="7472353" y="4470113"/>
            <a:ext cx="581403" cy="240366"/>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92" name="文本框 91"/>
          <p:cNvSpPr txBox="1"/>
          <p:nvPr/>
        </p:nvSpPr>
        <p:spPr bwMode="auto">
          <a:xfrm>
            <a:off x="7416876" y="4678576"/>
            <a:ext cx="803168"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OSD 05</a:t>
            </a:r>
            <a:endParaRPr lang="zh-CN" altLang="en-US" sz="1200" dirty="0">
              <a:latin typeface="+mn-ea"/>
              <a:ea typeface="+mn-ea"/>
              <a:sym typeface="微软雅黑" panose="020B0503020204020204" pitchFamily="34" charset="-122"/>
            </a:endParaRPr>
          </a:p>
        </p:txBody>
      </p:sp>
      <p:sp>
        <p:nvSpPr>
          <p:cNvPr id="93" name="矩形 92"/>
          <p:cNvSpPr/>
          <p:nvPr/>
        </p:nvSpPr>
        <p:spPr bwMode="auto">
          <a:xfrm>
            <a:off x="8119939" y="4071592"/>
            <a:ext cx="688255" cy="889151"/>
          </a:xfrm>
          <a:prstGeom prst="rect">
            <a:avLst/>
          </a:prstGeom>
          <a:solidFill>
            <a:srgbClr val="EBF1DE"/>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200" b="0" i="0" u="none" strike="noStrike" cap="none" normalizeH="0" baseline="0">
              <a:ln>
                <a:noFill/>
              </a:ln>
              <a:solidFill>
                <a:schemeClr val="tx1"/>
              </a:solidFill>
              <a:effectLst/>
              <a:latin typeface="+mn-ea"/>
              <a:ea typeface="+mn-ea"/>
              <a:sym typeface="微软雅黑" panose="020B0503020204020204" pitchFamily="34" charset="-122"/>
            </a:endParaRPr>
          </a:p>
        </p:txBody>
      </p:sp>
      <p:sp>
        <p:nvSpPr>
          <p:cNvPr id="94" name="椭圆 93"/>
          <p:cNvSpPr/>
          <p:nvPr/>
        </p:nvSpPr>
        <p:spPr bwMode="auto">
          <a:xfrm>
            <a:off x="8153547" y="4163680"/>
            <a:ext cx="581403" cy="240366"/>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PG03</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95" name="椭圆 94"/>
          <p:cNvSpPr/>
          <p:nvPr/>
        </p:nvSpPr>
        <p:spPr bwMode="auto">
          <a:xfrm>
            <a:off x="8157232" y="4470271"/>
            <a:ext cx="581403" cy="240366"/>
          </a:xfrm>
          <a:prstGeom prst="ellipse">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bg1"/>
                </a:solidFill>
                <a:effectLst/>
                <a:latin typeface="+mn-ea"/>
                <a:ea typeface="+mn-ea"/>
                <a:sym typeface="微软雅黑" panose="020B0503020204020204" pitchFamily="34" charset="-122"/>
              </a:rPr>
              <a:t>PG</a:t>
            </a:r>
            <a:endParaRPr kumimoji="0" lang="zh-CN" altLang="en-US" sz="1200" b="0" i="0" u="none" strike="noStrike" cap="none" normalizeH="0" baseline="0" dirty="0">
              <a:ln>
                <a:noFill/>
              </a:ln>
              <a:solidFill>
                <a:schemeClr val="bg1"/>
              </a:solidFill>
              <a:effectLst/>
              <a:latin typeface="+mn-ea"/>
              <a:ea typeface="+mn-ea"/>
              <a:sym typeface="微软雅黑" panose="020B0503020204020204" pitchFamily="34" charset="-122"/>
            </a:endParaRPr>
          </a:p>
        </p:txBody>
      </p:sp>
      <p:sp>
        <p:nvSpPr>
          <p:cNvPr id="96" name="文本框 95"/>
          <p:cNvSpPr txBox="1"/>
          <p:nvPr/>
        </p:nvSpPr>
        <p:spPr bwMode="auto">
          <a:xfrm>
            <a:off x="8143817" y="4678576"/>
            <a:ext cx="993296"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OSD 06</a:t>
            </a:r>
            <a:endParaRPr lang="zh-CN" altLang="en-US" sz="1200" dirty="0">
              <a:latin typeface="+mn-ea"/>
              <a:ea typeface="+mn-ea"/>
              <a:sym typeface="微软雅黑" panose="020B0503020204020204" pitchFamily="34" charset="-122"/>
            </a:endParaRPr>
          </a:p>
        </p:txBody>
      </p:sp>
      <p:pic>
        <p:nvPicPr>
          <p:cNvPr id="97" name="图片 96"/>
          <p:cNvPicPr>
            <a:picLocks noChangeAspect="1"/>
          </p:cNvPicPr>
          <p:nvPr/>
        </p:nvPicPr>
        <p:blipFill>
          <a:blip r:embed="rId4"/>
          <a:stretch>
            <a:fillRect/>
          </a:stretch>
        </p:blipFill>
        <p:spPr>
          <a:xfrm>
            <a:off x="7428793" y="5066493"/>
            <a:ext cx="404267" cy="414374"/>
          </a:xfrm>
          <a:prstGeom prst="rect">
            <a:avLst/>
          </a:prstGeom>
        </p:spPr>
      </p:pic>
      <p:sp>
        <p:nvSpPr>
          <p:cNvPr id="98" name="文本框 97"/>
          <p:cNvSpPr txBox="1"/>
          <p:nvPr/>
        </p:nvSpPr>
        <p:spPr bwMode="auto">
          <a:xfrm>
            <a:off x="7792818" y="5103357"/>
            <a:ext cx="713361"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200" dirty="0">
                <a:latin typeface="+mn-ea"/>
                <a:ea typeface="+mn-ea"/>
                <a:sym typeface="微软雅黑" panose="020B0503020204020204" pitchFamily="34" charset="-122"/>
              </a:rPr>
              <a:t>节点</a:t>
            </a:r>
            <a:r>
              <a:rPr lang="en-US" altLang="zh-CN" sz="1200" dirty="0">
                <a:latin typeface="+mn-ea"/>
                <a:ea typeface="+mn-ea"/>
                <a:sym typeface="微软雅黑" panose="020B0503020204020204" pitchFamily="34" charset="-122"/>
              </a:rPr>
              <a:t>3</a:t>
            </a:r>
            <a:endParaRPr lang="zh-CN" altLang="en-US" sz="1200" dirty="0">
              <a:latin typeface="+mn-ea"/>
              <a:ea typeface="+mn-ea"/>
              <a:sym typeface="微软雅黑" panose="020B0503020204020204" pitchFamily="34" charset="-122"/>
            </a:endParaRPr>
          </a:p>
        </p:txBody>
      </p:sp>
      <p:pic>
        <p:nvPicPr>
          <p:cNvPr id="99" name="图片 98"/>
          <p:cNvPicPr>
            <a:picLocks noChangeAspect="1"/>
          </p:cNvPicPr>
          <p:nvPr/>
        </p:nvPicPr>
        <p:blipFill>
          <a:blip r:embed="rId4"/>
          <a:stretch>
            <a:fillRect/>
          </a:stretch>
        </p:blipFill>
        <p:spPr>
          <a:xfrm>
            <a:off x="8359540" y="5073466"/>
            <a:ext cx="404267" cy="414374"/>
          </a:xfrm>
          <a:prstGeom prst="rect">
            <a:avLst/>
          </a:prstGeom>
        </p:spPr>
      </p:pic>
      <p:sp>
        <p:nvSpPr>
          <p:cNvPr id="71" name="文本框 70"/>
          <p:cNvSpPr txBox="1"/>
          <p:nvPr/>
        </p:nvSpPr>
        <p:spPr bwMode="auto">
          <a:xfrm>
            <a:off x="4562117" y="3281253"/>
            <a:ext cx="654797"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PG 01</a:t>
            </a:r>
            <a:endParaRPr lang="zh-CN" altLang="en-US" sz="1200" dirty="0">
              <a:latin typeface="+mn-ea"/>
              <a:ea typeface="+mn-ea"/>
              <a:sym typeface="微软雅黑" panose="020B0503020204020204" pitchFamily="34" charset="-122"/>
            </a:endParaRPr>
          </a:p>
        </p:txBody>
      </p:sp>
      <p:sp>
        <p:nvSpPr>
          <p:cNvPr id="101" name="文本框 100"/>
          <p:cNvSpPr txBox="1"/>
          <p:nvPr/>
        </p:nvSpPr>
        <p:spPr bwMode="auto">
          <a:xfrm>
            <a:off x="6439966" y="3389612"/>
            <a:ext cx="654797"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PG 02</a:t>
            </a:r>
            <a:endParaRPr lang="zh-CN" altLang="en-US" sz="1200" dirty="0">
              <a:latin typeface="+mn-ea"/>
              <a:ea typeface="+mn-ea"/>
              <a:sym typeface="微软雅黑" panose="020B0503020204020204" pitchFamily="34" charset="-122"/>
            </a:endParaRPr>
          </a:p>
        </p:txBody>
      </p:sp>
      <p:sp>
        <p:nvSpPr>
          <p:cNvPr id="102" name="文本框 101"/>
          <p:cNvSpPr txBox="1"/>
          <p:nvPr/>
        </p:nvSpPr>
        <p:spPr bwMode="auto">
          <a:xfrm>
            <a:off x="7566160" y="3302932"/>
            <a:ext cx="654797"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PG 03</a:t>
            </a:r>
            <a:endParaRPr lang="zh-CN" altLang="en-US" sz="1200" dirty="0">
              <a:latin typeface="+mn-ea"/>
              <a:ea typeface="+mn-ea"/>
              <a:sym typeface="微软雅黑" panose="020B0503020204020204" pitchFamily="34" charset="-122"/>
            </a:endParaRPr>
          </a:p>
        </p:txBody>
      </p:sp>
      <p:cxnSp>
        <p:nvCxnSpPr>
          <p:cNvPr id="104" name="直接箭头连接符 103"/>
          <p:cNvCxnSpPr>
            <a:stCxn id="8" idx="4"/>
            <a:endCxn id="75" idx="0"/>
          </p:cNvCxnSpPr>
          <p:nvPr/>
        </p:nvCxnSpPr>
        <p:spPr bwMode="auto">
          <a:xfrm>
            <a:off x="5361245" y="3536950"/>
            <a:ext cx="49876" cy="48344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6" name="直接箭头连接符 105"/>
          <p:cNvCxnSpPr>
            <a:stCxn id="30" idx="4"/>
          </p:cNvCxnSpPr>
          <p:nvPr/>
        </p:nvCxnSpPr>
        <p:spPr bwMode="auto">
          <a:xfrm flipH="1">
            <a:off x="4202392" y="3536950"/>
            <a:ext cx="2135077" cy="27975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8" name="直接箭头连接符 107"/>
          <p:cNvCxnSpPr>
            <a:stCxn id="30" idx="4"/>
            <a:endCxn id="87" idx="0"/>
          </p:cNvCxnSpPr>
          <p:nvPr/>
        </p:nvCxnSpPr>
        <p:spPr bwMode="auto">
          <a:xfrm>
            <a:off x="6337469" y="3536950"/>
            <a:ext cx="1866390" cy="3906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0" name="直接箭头连接符 109"/>
          <p:cNvCxnSpPr>
            <a:stCxn id="31" idx="4"/>
            <a:endCxn id="80" idx="0"/>
          </p:cNvCxnSpPr>
          <p:nvPr/>
        </p:nvCxnSpPr>
        <p:spPr bwMode="auto">
          <a:xfrm flipH="1">
            <a:off x="6096000" y="3536950"/>
            <a:ext cx="1217693" cy="48359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2" name="直接箭头连接符 111"/>
          <p:cNvCxnSpPr>
            <a:stCxn id="31" idx="4"/>
          </p:cNvCxnSpPr>
          <p:nvPr/>
        </p:nvCxnSpPr>
        <p:spPr bwMode="auto">
          <a:xfrm>
            <a:off x="7313693" y="3536950"/>
            <a:ext cx="1126194" cy="3311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4" name="直接箭头连接符 113"/>
          <p:cNvCxnSpPr>
            <a:stCxn id="8" idx="4"/>
            <a:endCxn id="52" idx="0"/>
          </p:cNvCxnSpPr>
          <p:nvPr/>
        </p:nvCxnSpPr>
        <p:spPr bwMode="auto">
          <a:xfrm flipH="1">
            <a:off x="3758179" y="3536950"/>
            <a:ext cx="1603066" cy="29884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5" name="文本框 114"/>
          <p:cNvSpPr txBox="1"/>
          <p:nvPr/>
        </p:nvSpPr>
        <p:spPr bwMode="auto">
          <a:xfrm>
            <a:off x="4969806" y="1999611"/>
            <a:ext cx="3389733"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sym typeface="微软雅黑" panose="020B0503020204020204" pitchFamily="34" charset="-122"/>
              </a:rPr>
              <a:t>01     02     03     04    05     06    07     08</a:t>
            </a:r>
            <a:endParaRPr lang="zh-CN" altLang="en-US" sz="1200" dirty="0">
              <a:latin typeface="+mn-ea"/>
              <a:ea typeface="+mn-ea"/>
              <a:sym typeface="微软雅黑" panose="020B0503020204020204" pitchFamily="34" charset="-122"/>
            </a:endParaRPr>
          </a:p>
        </p:txBody>
      </p:sp>
      <p:sp>
        <p:nvSpPr>
          <p:cNvPr id="46" name="文本框 45"/>
          <p:cNvSpPr txBox="1"/>
          <p:nvPr/>
        </p:nvSpPr>
        <p:spPr bwMode="auto">
          <a:xfrm>
            <a:off x="4407814" y="1997602"/>
            <a:ext cx="685737"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mn-ea"/>
                <a:ea typeface="+mn-ea"/>
              </a:rPr>
              <a:t>object</a:t>
            </a:r>
            <a:endParaRPr lang="zh-CN" altLang="en-US" sz="1200" dirty="0">
              <a:latin typeface="+mn-ea"/>
              <a:ea typeface="+mn-ea"/>
            </a:endParaRPr>
          </a:p>
        </p:txBody>
      </p:sp>
    </p:spTree>
    <p:extLst>
      <p:ext uri="{BB962C8B-B14F-4D97-AF65-F5344CB8AC3E}">
        <p14:creationId xmlns:p14="http://schemas.microsoft.com/office/powerpoint/2010/main" val="536851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EC</a:t>
            </a:r>
            <a:r>
              <a:rPr lang="zh-CN" altLang="en-US" dirty="0"/>
              <a:t>纠删码</a:t>
            </a:r>
          </a:p>
        </p:txBody>
      </p:sp>
      <p:graphicFrame>
        <p:nvGraphicFramePr>
          <p:cNvPr id="3" name="表格 2"/>
          <p:cNvGraphicFramePr>
            <a:graphicFrameLocks noGrp="1"/>
          </p:cNvGraphicFramePr>
          <p:nvPr>
            <p:extLst>
              <p:ext uri="{D42A27DB-BD31-4B8C-83A1-F6EECF244321}">
                <p14:modId xmlns:p14="http://schemas.microsoft.com/office/powerpoint/2010/main" val="3666576245"/>
              </p:ext>
            </p:extLst>
          </p:nvPr>
        </p:nvGraphicFramePr>
        <p:xfrm>
          <a:off x="947428" y="1232251"/>
          <a:ext cx="9541059" cy="2680532"/>
        </p:xfrm>
        <a:graphic>
          <a:graphicData uri="http://schemas.openxmlformats.org/drawingml/2006/table">
            <a:tbl>
              <a:tblPr firstRow="1" bandRow="1">
                <a:tableStyleId>{5C22544A-7EE6-4342-B048-85BDC9FD1C3A}</a:tableStyleId>
              </a:tblPr>
              <a:tblGrid>
                <a:gridCol w="4421525">
                  <a:extLst>
                    <a:ext uri="{9D8B030D-6E8A-4147-A177-3AD203B41FA5}">
                      <a16:colId xmlns:a16="http://schemas.microsoft.com/office/drawing/2014/main" val="20000"/>
                    </a:ext>
                  </a:extLst>
                </a:gridCol>
                <a:gridCol w="5119534">
                  <a:extLst>
                    <a:ext uri="{9D8B030D-6E8A-4147-A177-3AD203B41FA5}">
                      <a16:colId xmlns:a16="http://schemas.microsoft.com/office/drawing/2014/main" val="20001"/>
                    </a:ext>
                  </a:extLst>
                </a:gridCol>
              </a:tblGrid>
              <a:tr h="302578">
                <a:tc>
                  <a:txBody>
                    <a:bodyPr/>
                    <a:lstStyle/>
                    <a:p>
                      <a:pPr marL="0" marR="0" lvl="0" indent="0" algn="l" defTabSz="1219545"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latin typeface="+mn-ea"/>
                          <a:ea typeface="+mn-ea"/>
                          <a:cs typeface="Arial" panose="020B0604020202020204" pitchFamily="34" charset="0"/>
                        </a:rPr>
                        <a:t>副本</a:t>
                      </a:r>
                      <a:endParaRPr lang="en-US" sz="1600" dirty="0">
                        <a:solidFill>
                          <a:schemeClr val="tx1"/>
                        </a:solidFill>
                        <a:latin typeface="+mn-ea"/>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0"/>
                  </a:ext>
                </a:extLst>
              </a:tr>
              <a:tr h="1027745">
                <a:tc>
                  <a:txBody>
                    <a:bodyPr/>
                    <a:lstStyle/>
                    <a:p>
                      <a:r>
                        <a:rPr lang="zh-CN" altLang="en-US" sz="1600" baseline="0" dirty="0">
                          <a:solidFill>
                            <a:schemeClr val="tx1"/>
                          </a:solidFill>
                          <a:latin typeface="+mn-ea"/>
                          <a:ea typeface="+mn-ea"/>
                        </a:rPr>
                        <a:t>裸容量</a:t>
                      </a:r>
                      <a:r>
                        <a:rPr lang="en-US" sz="1600" baseline="0" dirty="0">
                          <a:solidFill>
                            <a:schemeClr val="tx1"/>
                          </a:solidFill>
                          <a:latin typeface="+mn-ea"/>
                          <a:ea typeface="+mn-ea"/>
                        </a:rPr>
                        <a:t>: </a:t>
                      </a:r>
                    </a:p>
                    <a:p>
                      <a:r>
                        <a:rPr lang="zh-CN" altLang="en-US" sz="1600" baseline="0" dirty="0">
                          <a:solidFill>
                            <a:schemeClr val="tx1"/>
                          </a:solidFill>
                          <a:latin typeface="+mn-ea"/>
                          <a:ea typeface="+mn-ea"/>
                        </a:rPr>
                        <a:t>典型 </a:t>
                      </a:r>
                      <a:r>
                        <a:rPr lang="en-US" sz="2000" b="1" baseline="0" dirty="0">
                          <a:solidFill>
                            <a:srgbClr val="C00000"/>
                          </a:solidFill>
                          <a:latin typeface="+mn-ea"/>
                          <a:ea typeface="+mn-ea"/>
                        </a:rPr>
                        <a:t>3x </a:t>
                      </a:r>
                      <a:r>
                        <a:rPr lang="zh-CN" altLang="en-US" sz="1600" baseline="0" dirty="0">
                          <a:solidFill>
                            <a:schemeClr val="tx1"/>
                          </a:solidFill>
                          <a:latin typeface="+mn-ea"/>
                          <a:ea typeface="+mn-ea"/>
                        </a:rPr>
                        <a:t>实际可用容量</a:t>
                      </a:r>
                      <a:endParaRPr lang="en-US" sz="1600" dirty="0">
                        <a:solidFill>
                          <a:schemeClr val="tx1"/>
                        </a:solidFill>
                        <a:latin typeface="+mn-ea"/>
                        <a:ea typeface="+mn-ea"/>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r h="341994">
                <a:tc>
                  <a:txBody>
                    <a:bodyPr/>
                    <a:lstStyle/>
                    <a:p>
                      <a:r>
                        <a:rPr lang="zh-CN" altLang="en-US" sz="1600" dirty="0">
                          <a:solidFill>
                            <a:schemeClr val="tx1"/>
                          </a:solidFill>
                          <a:latin typeface="+mn-ea"/>
                          <a:ea typeface="+mn-ea"/>
                        </a:rPr>
                        <a:t>冗余度：</a:t>
                      </a:r>
                      <a:endParaRPr lang="en-US" sz="1600" dirty="0">
                        <a:solidFill>
                          <a:schemeClr val="tx1"/>
                        </a:solidFill>
                        <a:latin typeface="+mn-ea"/>
                        <a:ea typeface="+mn-ea"/>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83315">
                <a:tc>
                  <a:txBody>
                    <a:bodyPr/>
                    <a:lstStyle/>
                    <a:p>
                      <a:pPr marL="0" marR="0" lvl="0" indent="0" algn="l" defTabSz="1219545"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latin typeface="+mn-ea"/>
                          <a:ea typeface="+mn-ea"/>
                        </a:rPr>
                        <a:t>能够容忍</a:t>
                      </a:r>
                      <a:r>
                        <a:rPr lang="en-US" altLang="zh-CN" sz="1600" dirty="0">
                          <a:solidFill>
                            <a:schemeClr val="tx1"/>
                          </a:solidFill>
                          <a:latin typeface="+mn-ea"/>
                          <a:ea typeface="+mn-ea"/>
                        </a:rPr>
                        <a:t>2</a:t>
                      </a:r>
                      <a:r>
                        <a:rPr lang="zh-CN" altLang="en-US" sz="1600" dirty="0">
                          <a:solidFill>
                            <a:schemeClr val="tx1"/>
                          </a:solidFill>
                          <a:latin typeface="+mn-ea"/>
                          <a:ea typeface="+mn-ea"/>
                        </a:rPr>
                        <a:t>个数据块故障</a:t>
                      </a:r>
                      <a:endParaRPr lang="en-US" sz="1600" dirty="0">
                        <a:solidFill>
                          <a:schemeClr val="tx1"/>
                        </a:solidFill>
                        <a:latin typeface="+mn-ea"/>
                        <a:ea typeface="+mn-ea"/>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3"/>
                  </a:ext>
                </a:extLst>
              </a:tr>
              <a:tr h="337952">
                <a:tc>
                  <a:txBody>
                    <a:bodyPr/>
                    <a:lstStyle/>
                    <a:p>
                      <a:endParaRPr lang="en-US" sz="1600" dirty="0">
                        <a:solidFill>
                          <a:schemeClr val="tx1"/>
                        </a:solidFill>
                        <a:latin typeface="+mn-ea"/>
                        <a:ea typeface="+mn-ea"/>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1600" dirty="0">
                        <a:solidFill>
                          <a:schemeClr val="tx1"/>
                        </a:solidFill>
                        <a:latin typeface="+mn-ea"/>
                        <a:ea typeface="+mn-ea"/>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4" name="组合 3"/>
          <p:cNvGrpSpPr/>
          <p:nvPr/>
        </p:nvGrpSpPr>
        <p:grpSpPr>
          <a:xfrm>
            <a:off x="3935760" y="1379651"/>
            <a:ext cx="6711696" cy="5066263"/>
            <a:chOff x="1424922" y="1117733"/>
            <a:chExt cx="6711696" cy="5066263"/>
          </a:xfrm>
        </p:grpSpPr>
        <p:sp>
          <p:nvSpPr>
            <p:cNvPr id="5" name="矩形 4"/>
            <p:cNvSpPr/>
            <p:nvPr/>
          </p:nvSpPr>
          <p:spPr>
            <a:xfrm>
              <a:off x="3716020" y="1272775"/>
              <a:ext cx="2062480" cy="609600"/>
            </a:xfrm>
            <a:prstGeom prst="rect">
              <a:avLst/>
            </a:prstGeom>
            <a:solidFill>
              <a:srgbClr val="CC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ea"/>
              </a:endParaRPr>
            </a:p>
          </p:txBody>
        </p:sp>
        <p:sp>
          <p:nvSpPr>
            <p:cNvPr id="6" name="矩形 5"/>
            <p:cNvSpPr/>
            <p:nvPr/>
          </p:nvSpPr>
          <p:spPr>
            <a:xfrm>
              <a:off x="3716020" y="1669015"/>
              <a:ext cx="2062480" cy="42672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7" name="矩形 6"/>
            <p:cNvSpPr/>
            <p:nvPr/>
          </p:nvSpPr>
          <p:spPr>
            <a:xfrm>
              <a:off x="3716020" y="2270995"/>
              <a:ext cx="2062480" cy="426720"/>
            </a:xfrm>
            <a:prstGeom prst="rect">
              <a:avLst/>
            </a:prstGeom>
            <a:solidFill>
              <a:srgbClr val="DBE5F1"/>
            </a:solid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n-ea"/>
                </a:rPr>
                <a:t>Encode (4,2)</a:t>
              </a:r>
            </a:p>
          </p:txBody>
        </p:sp>
        <p:sp>
          <p:nvSpPr>
            <p:cNvPr id="8" name="矩形 7"/>
            <p:cNvSpPr/>
            <p:nvPr/>
          </p:nvSpPr>
          <p:spPr>
            <a:xfrm>
              <a:off x="2171700" y="3349107"/>
              <a:ext cx="670560" cy="5892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9" name="矩形 8"/>
            <p:cNvSpPr/>
            <p:nvPr/>
          </p:nvSpPr>
          <p:spPr>
            <a:xfrm>
              <a:off x="2171700" y="3765667"/>
              <a:ext cx="670560" cy="426720"/>
            </a:xfrm>
            <a:prstGeom prst="rect">
              <a:avLst/>
            </a:prstGeom>
            <a:solidFill>
              <a:srgbClr val="DBE5F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0" name="矩形 9"/>
            <p:cNvSpPr/>
            <p:nvPr/>
          </p:nvSpPr>
          <p:spPr>
            <a:xfrm>
              <a:off x="2171700" y="4039987"/>
              <a:ext cx="670560" cy="426720"/>
            </a:xfrm>
            <a:prstGeom prst="rect">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n-ea"/>
                </a:rPr>
                <a:t>ABC</a:t>
              </a:r>
            </a:p>
          </p:txBody>
        </p:sp>
        <p:sp>
          <p:nvSpPr>
            <p:cNvPr id="11" name="矩形 10"/>
            <p:cNvSpPr/>
            <p:nvPr/>
          </p:nvSpPr>
          <p:spPr>
            <a:xfrm>
              <a:off x="3086100" y="3349107"/>
              <a:ext cx="670560" cy="5892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2" name="矩形 11"/>
            <p:cNvSpPr/>
            <p:nvPr/>
          </p:nvSpPr>
          <p:spPr>
            <a:xfrm>
              <a:off x="3086100" y="3765667"/>
              <a:ext cx="670560" cy="426720"/>
            </a:xfrm>
            <a:prstGeom prst="rect">
              <a:avLst/>
            </a:prstGeom>
            <a:solidFill>
              <a:srgbClr val="DBE5F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3" name="矩形 12"/>
            <p:cNvSpPr/>
            <p:nvPr/>
          </p:nvSpPr>
          <p:spPr>
            <a:xfrm>
              <a:off x="3086100" y="4039987"/>
              <a:ext cx="670560" cy="426720"/>
            </a:xfrm>
            <a:prstGeom prst="rect">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n-ea"/>
                </a:rPr>
                <a:t>DEF</a:t>
              </a:r>
            </a:p>
          </p:txBody>
        </p:sp>
        <p:sp>
          <p:nvSpPr>
            <p:cNvPr id="14" name="矩形 13"/>
            <p:cNvSpPr/>
            <p:nvPr/>
          </p:nvSpPr>
          <p:spPr>
            <a:xfrm>
              <a:off x="4000500" y="3349107"/>
              <a:ext cx="670560" cy="5892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5" name="矩形 14"/>
            <p:cNvSpPr/>
            <p:nvPr/>
          </p:nvSpPr>
          <p:spPr>
            <a:xfrm>
              <a:off x="4000500" y="3765667"/>
              <a:ext cx="670560" cy="426720"/>
            </a:xfrm>
            <a:prstGeom prst="rect">
              <a:avLst/>
            </a:prstGeom>
            <a:solidFill>
              <a:srgbClr val="DBE5F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6" name="矩形 15"/>
            <p:cNvSpPr/>
            <p:nvPr/>
          </p:nvSpPr>
          <p:spPr>
            <a:xfrm>
              <a:off x="4000500" y="4039987"/>
              <a:ext cx="670560" cy="426720"/>
            </a:xfrm>
            <a:prstGeom prst="rect">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n-ea"/>
                </a:rPr>
                <a:t>GHI</a:t>
              </a:r>
            </a:p>
          </p:txBody>
        </p:sp>
        <p:sp>
          <p:nvSpPr>
            <p:cNvPr id="17" name="矩形 16"/>
            <p:cNvSpPr/>
            <p:nvPr/>
          </p:nvSpPr>
          <p:spPr>
            <a:xfrm>
              <a:off x="4914900" y="3349107"/>
              <a:ext cx="670560" cy="5892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8" name="矩形 17"/>
            <p:cNvSpPr/>
            <p:nvPr/>
          </p:nvSpPr>
          <p:spPr>
            <a:xfrm>
              <a:off x="4914900" y="3765667"/>
              <a:ext cx="670560" cy="426720"/>
            </a:xfrm>
            <a:prstGeom prst="rect">
              <a:avLst/>
            </a:prstGeom>
            <a:solidFill>
              <a:srgbClr val="DBE5F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9" name="矩形 18"/>
            <p:cNvSpPr/>
            <p:nvPr/>
          </p:nvSpPr>
          <p:spPr>
            <a:xfrm>
              <a:off x="4914900" y="4039987"/>
              <a:ext cx="670560" cy="426720"/>
            </a:xfrm>
            <a:prstGeom prst="rect">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n-ea"/>
                </a:rPr>
                <a:t>JKL</a:t>
              </a:r>
            </a:p>
          </p:txBody>
        </p:sp>
        <p:sp>
          <p:nvSpPr>
            <p:cNvPr id="20" name="矩形 19"/>
            <p:cNvSpPr/>
            <p:nvPr/>
          </p:nvSpPr>
          <p:spPr>
            <a:xfrm>
              <a:off x="5829300" y="3349107"/>
              <a:ext cx="670560" cy="5892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21" name="矩形 20"/>
            <p:cNvSpPr/>
            <p:nvPr/>
          </p:nvSpPr>
          <p:spPr>
            <a:xfrm>
              <a:off x="5829300" y="3765667"/>
              <a:ext cx="670560" cy="426720"/>
            </a:xfrm>
            <a:prstGeom prst="rect">
              <a:avLst/>
            </a:prstGeom>
            <a:solidFill>
              <a:srgbClr val="DBE5F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22" name="矩形 21"/>
            <p:cNvSpPr/>
            <p:nvPr/>
          </p:nvSpPr>
          <p:spPr>
            <a:xfrm>
              <a:off x="5829300" y="4039987"/>
              <a:ext cx="670560" cy="426720"/>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n-ea"/>
                </a:rPr>
                <a:t>YXY</a:t>
              </a:r>
            </a:p>
          </p:txBody>
        </p:sp>
        <p:sp>
          <p:nvSpPr>
            <p:cNvPr id="23" name="矩形 22"/>
            <p:cNvSpPr/>
            <p:nvPr/>
          </p:nvSpPr>
          <p:spPr>
            <a:xfrm>
              <a:off x="6743700" y="3349107"/>
              <a:ext cx="670560" cy="58928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24" name="矩形 23"/>
            <p:cNvSpPr/>
            <p:nvPr/>
          </p:nvSpPr>
          <p:spPr>
            <a:xfrm>
              <a:off x="6743700" y="3765667"/>
              <a:ext cx="670560" cy="426720"/>
            </a:xfrm>
            <a:prstGeom prst="rect">
              <a:avLst/>
            </a:prstGeom>
            <a:solidFill>
              <a:srgbClr val="DBE5F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25" name="矩形 24"/>
            <p:cNvSpPr/>
            <p:nvPr/>
          </p:nvSpPr>
          <p:spPr>
            <a:xfrm>
              <a:off x="6743700" y="4039987"/>
              <a:ext cx="670560" cy="426720"/>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n-ea"/>
                </a:rPr>
                <a:t>QGC</a:t>
              </a:r>
            </a:p>
          </p:txBody>
        </p:sp>
        <p:sp>
          <p:nvSpPr>
            <p:cNvPr id="26" name="矩形 25"/>
            <p:cNvSpPr/>
            <p:nvPr/>
          </p:nvSpPr>
          <p:spPr>
            <a:xfrm>
              <a:off x="5758180" y="3643747"/>
              <a:ext cx="1737360" cy="904240"/>
            </a:xfrm>
            <a:prstGeom prst="rect">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27" name="圆柱形 26"/>
            <p:cNvSpPr/>
            <p:nvPr/>
          </p:nvSpPr>
          <p:spPr>
            <a:xfrm>
              <a:off x="5057140" y="5449452"/>
              <a:ext cx="528320" cy="314960"/>
            </a:xfrm>
            <a:prstGeom prst="can">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28" name="圆柱形 27"/>
            <p:cNvSpPr/>
            <p:nvPr/>
          </p:nvSpPr>
          <p:spPr>
            <a:xfrm>
              <a:off x="5971540" y="5449452"/>
              <a:ext cx="528320" cy="314960"/>
            </a:xfrm>
            <a:prstGeom prst="can">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grpSp>
          <p:nvGrpSpPr>
            <p:cNvPr id="29" name="组合 28"/>
            <p:cNvGrpSpPr/>
            <p:nvPr/>
          </p:nvGrpSpPr>
          <p:grpSpPr>
            <a:xfrm>
              <a:off x="2125149" y="5449452"/>
              <a:ext cx="742511" cy="734544"/>
              <a:chOff x="1629849" y="5449452"/>
              <a:chExt cx="742511" cy="734544"/>
            </a:xfrm>
          </p:grpSpPr>
          <p:sp>
            <p:nvSpPr>
              <p:cNvPr id="78" name="圆柱形 77"/>
              <p:cNvSpPr/>
              <p:nvPr/>
            </p:nvSpPr>
            <p:spPr>
              <a:xfrm>
                <a:off x="1747520" y="5449452"/>
                <a:ext cx="528320" cy="314960"/>
              </a:xfrm>
              <a:prstGeom prst="can">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79" name="文本框 78"/>
              <p:cNvSpPr txBox="1"/>
              <p:nvPr/>
            </p:nvSpPr>
            <p:spPr>
              <a:xfrm>
                <a:off x="1629849" y="5845442"/>
                <a:ext cx="742511" cy="338554"/>
              </a:xfrm>
              <a:prstGeom prst="rect">
                <a:avLst/>
              </a:prstGeom>
              <a:noFill/>
            </p:spPr>
            <p:txBody>
              <a:bodyPr wrap="none" rtlCol="0">
                <a:spAutoFit/>
              </a:bodyPr>
              <a:lstStyle/>
              <a:p>
                <a:r>
                  <a:rPr lang="en-US" sz="1600" dirty="0">
                    <a:latin typeface="+mn-ea"/>
                    <a:ea typeface="+mn-ea"/>
                    <a:cs typeface="Arial" panose="020B0604020202020204" pitchFamily="34" charset="0"/>
                  </a:rPr>
                  <a:t>OSD1</a:t>
                </a:r>
              </a:p>
            </p:txBody>
          </p:sp>
        </p:grpSp>
        <p:grpSp>
          <p:nvGrpSpPr>
            <p:cNvPr id="30" name="组合 29"/>
            <p:cNvGrpSpPr/>
            <p:nvPr/>
          </p:nvGrpSpPr>
          <p:grpSpPr>
            <a:xfrm>
              <a:off x="3057744" y="5449452"/>
              <a:ext cx="742511" cy="734544"/>
              <a:chOff x="2625944" y="5449452"/>
              <a:chExt cx="742511" cy="734544"/>
            </a:xfrm>
          </p:grpSpPr>
          <p:sp>
            <p:nvSpPr>
              <p:cNvPr id="76" name="圆柱形 75"/>
              <p:cNvSpPr/>
              <p:nvPr/>
            </p:nvSpPr>
            <p:spPr>
              <a:xfrm>
                <a:off x="2733040" y="5449452"/>
                <a:ext cx="528320" cy="314960"/>
              </a:xfrm>
              <a:prstGeom prst="can">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77" name="文本框 76"/>
              <p:cNvSpPr txBox="1"/>
              <p:nvPr/>
            </p:nvSpPr>
            <p:spPr>
              <a:xfrm>
                <a:off x="2625944" y="5845442"/>
                <a:ext cx="742511" cy="338554"/>
              </a:xfrm>
              <a:prstGeom prst="rect">
                <a:avLst/>
              </a:prstGeom>
              <a:noFill/>
            </p:spPr>
            <p:txBody>
              <a:bodyPr wrap="none" rtlCol="0">
                <a:spAutoFit/>
              </a:bodyPr>
              <a:lstStyle/>
              <a:p>
                <a:r>
                  <a:rPr lang="en-US" sz="1600" dirty="0">
                    <a:latin typeface="+mn-ea"/>
                    <a:ea typeface="+mn-ea"/>
                    <a:cs typeface="Arial" panose="020B0604020202020204" pitchFamily="34" charset="0"/>
                  </a:rPr>
                  <a:t>OSD2</a:t>
                </a:r>
              </a:p>
            </p:txBody>
          </p:sp>
        </p:grpSp>
        <p:grpSp>
          <p:nvGrpSpPr>
            <p:cNvPr id="31" name="组合 30"/>
            <p:cNvGrpSpPr/>
            <p:nvPr/>
          </p:nvGrpSpPr>
          <p:grpSpPr>
            <a:xfrm>
              <a:off x="4030979" y="5449452"/>
              <a:ext cx="742511" cy="734544"/>
              <a:chOff x="3535679" y="5449452"/>
              <a:chExt cx="742511" cy="734544"/>
            </a:xfrm>
          </p:grpSpPr>
          <p:sp>
            <p:nvSpPr>
              <p:cNvPr id="74" name="圆柱形 73"/>
              <p:cNvSpPr/>
              <p:nvPr/>
            </p:nvSpPr>
            <p:spPr>
              <a:xfrm>
                <a:off x="3647440" y="5449452"/>
                <a:ext cx="528320" cy="314960"/>
              </a:xfrm>
              <a:prstGeom prst="can">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75" name="文本框 74"/>
              <p:cNvSpPr txBox="1"/>
              <p:nvPr/>
            </p:nvSpPr>
            <p:spPr>
              <a:xfrm>
                <a:off x="3535679" y="5845442"/>
                <a:ext cx="742511" cy="338554"/>
              </a:xfrm>
              <a:prstGeom prst="rect">
                <a:avLst/>
              </a:prstGeom>
              <a:noFill/>
            </p:spPr>
            <p:txBody>
              <a:bodyPr wrap="none" rtlCol="0">
                <a:spAutoFit/>
              </a:bodyPr>
              <a:lstStyle/>
              <a:p>
                <a:r>
                  <a:rPr lang="en-US" sz="1600" dirty="0">
                    <a:latin typeface="+mn-ea"/>
                    <a:ea typeface="+mn-ea"/>
                    <a:cs typeface="Arial" panose="020B0604020202020204" pitchFamily="34" charset="0"/>
                  </a:rPr>
                  <a:t>OSD3</a:t>
                </a:r>
              </a:p>
            </p:txBody>
          </p:sp>
        </p:grpSp>
        <p:sp>
          <p:nvSpPr>
            <p:cNvPr id="32" name="文本框 31"/>
            <p:cNvSpPr txBox="1"/>
            <p:nvPr/>
          </p:nvSpPr>
          <p:spPr>
            <a:xfrm>
              <a:off x="4878924" y="5845442"/>
              <a:ext cx="742511" cy="338554"/>
            </a:xfrm>
            <a:prstGeom prst="rect">
              <a:avLst/>
            </a:prstGeom>
            <a:noFill/>
          </p:spPr>
          <p:txBody>
            <a:bodyPr wrap="none" rtlCol="0">
              <a:spAutoFit/>
            </a:bodyPr>
            <a:lstStyle/>
            <a:p>
              <a:r>
                <a:rPr lang="en-US" sz="1600" dirty="0">
                  <a:latin typeface="+mn-ea"/>
                  <a:ea typeface="+mn-ea"/>
                  <a:cs typeface="Arial" panose="020B0604020202020204" pitchFamily="34" charset="0"/>
                </a:rPr>
                <a:t>OSD4</a:t>
              </a:r>
            </a:p>
          </p:txBody>
        </p:sp>
        <p:sp>
          <p:nvSpPr>
            <p:cNvPr id="33" name="文本框 32"/>
            <p:cNvSpPr txBox="1"/>
            <p:nvPr/>
          </p:nvSpPr>
          <p:spPr>
            <a:xfrm>
              <a:off x="5869939" y="5835281"/>
              <a:ext cx="742511" cy="338554"/>
            </a:xfrm>
            <a:prstGeom prst="rect">
              <a:avLst/>
            </a:prstGeom>
            <a:noFill/>
          </p:spPr>
          <p:txBody>
            <a:bodyPr wrap="none" rtlCol="0">
              <a:spAutoFit/>
            </a:bodyPr>
            <a:lstStyle/>
            <a:p>
              <a:r>
                <a:rPr lang="en-US" sz="1600" dirty="0">
                  <a:latin typeface="+mn-ea"/>
                  <a:ea typeface="+mn-ea"/>
                  <a:cs typeface="Arial" panose="020B0604020202020204" pitchFamily="34" charset="0"/>
                </a:rPr>
                <a:t>OSD5</a:t>
              </a:r>
            </a:p>
          </p:txBody>
        </p:sp>
        <p:grpSp>
          <p:nvGrpSpPr>
            <p:cNvPr id="34" name="组合 33"/>
            <p:cNvGrpSpPr/>
            <p:nvPr/>
          </p:nvGrpSpPr>
          <p:grpSpPr>
            <a:xfrm>
              <a:off x="6753444" y="5449452"/>
              <a:ext cx="742511" cy="724383"/>
              <a:chOff x="6283544" y="5449452"/>
              <a:chExt cx="742511" cy="724383"/>
            </a:xfrm>
          </p:grpSpPr>
          <p:sp>
            <p:nvSpPr>
              <p:cNvPr id="72" name="圆柱形 71"/>
              <p:cNvSpPr/>
              <p:nvPr/>
            </p:nvSpPr>
            <p:spPr>
              <a:xfrm>
                <a:off x="6390640" y="5449452"/>
                <a:ext cx="528320" cy="314960"/>
              </a:xfrm>
              <a:prstGeom prst="can">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73" name="文本框 72"/>
              <p:cNvSpPr txBox="1"/>
              <p:nvPr/>
            </p:nvSpPr>
            <p:spPr>
              <a:xfrm>
                <a:off x="6283544" y="5835281"/>
                <a:ext cx="742511" cy="338554"/>
              </a:xfrm>
              <a:prstGeom prst="rect">
                <a:avLst/>
              </a:prstGeom>
              <a:noFill/>
            </p:spPr>
            <p:txBody>
              <a:bodyPr wrap="none" rtlCol="0">
                <a:spAutoFit/>
              </a:bodyPr>
              <a:lstStyle/>
              <a:p>
                <a:r>
                  <a:rPr lang="en-US" sz="1600" dirty="0">
                    <a:latin typeface="+mn-ea"/>
                    <a:ea typeface="+mn-ea"/>
                    <a:cs typeface="Arial" panose="020B0604020202020204" pitchFamily="34" charset="0"/>
                  </a:rPr>
                  <a:t>OSD6</a:t>
                </a:r>
              </a:p>
            </p:txBody>
          </p:sp>
        </p:grpSp>
        <p:sp>
          <p:nvSpPr>
            <p:cNvPr id="35" name="文本框 34"/>
            <p:cNvSpPr txBox="1"/>
            <p:nvPr/>
          </p:nvSpPr>
          <p:spPr>
            <a:xfrm>
              <a:off x="4354256" y="1301618"/>
              <a:ext cx="768672" cy="338554"/>
            </a:xfrm>
            <a:prstGeom prst="rect">
              <a:avLst/>
            </a:prstGeom>
            <a:noFill/>
          </p:spPr>
          <p:txBody>
            <a:bodyPr wrap="none" rtlCol="0">
              <a:spAutoFit/>
            </a:bodyPr>
            <a:lstStyle/>
            <a:p>
              <a:r>
                <a:rPr lang="en-US" altLang="zh-CN" sz="1600" dirty="0">
                  <a:latin typeface="+mn-ea"/>
                  <a:ea typeface="+mn-ea"/>
                  <a:cs typeface="Arial" panose="020B0604020202020204" pitchFamily="34" charset="0"/>
                </a:rPr>
                <a:t>NYAN</a:t>
              </a:r>
              <a:endParaRPr lang="en-US" sz="1600" dirty="0">
                <a:latin typeface="+mn-ea"/>
                <a:ea typeface="+mn-ea"/>
                <a:cs typeface="Arial" panose="020B0604020202020204" pitchFamily="34" charset="0"/>
              </a:endParaRPr>
            </a:p>
          </p:txBody>
        </p:sp>
        <p:sp>
          <p:nvSpPr>
            <p:cNvPr id="36" name="文本框 35"/>
            <p:cNvSpPr txBox="1"/>
            <p:nvPr/>
          </p:nvSpPr>
          <p:spPr>
            <a:xfrm>
              <a:off x="3889871" y="1713098"/>
              <a:ext cx="1662635" cy="338554"/>
            </a:xfrm>
            <a:prstGeom prst="rect">
              <a:avLst/>
            </a:prstGeom>
            <a:noFill/>
          </p:spPr>
          <p:txBody>
            <a:bodyPr wrap="none" rtlCol="0">
              <a:spAutoFit/>
            </a:bodyPr>
            <a:lstStyle/>
            <a:p>
              <a:r>
                <a:rPr lang="en-US" sz="1600" dirty="0">
                  <a:latin typeface="+mn-ea"/>
                  <a:ea typeface="+mn-ea"/>
                  <a:cs typeface="Arial" panose="020B0604020202020204" pitchFamily="34" charset="0"/>
                </a:rPr>
                <a:t>ABCDEFGHIJKL</a:t>
              </a:r>
            </a:p>
          </p:txBody>
        </p:sp>
        <p:sp>
          <p:nvSpPr>
            <p:cNvPr id="37" name="文本框 36"/>
            <p:cNvSpPr txBox="1"/>
            <p:nvPr/>
          </p:nvSpPr>
          <p:spPr>
            <a:xfrm>
              <a:off x="1424922" y="4482877"/>
              <a:ext cx="814647" cy="338554"/>
            </a:xfrm>
            <a:prstGeom prst="rect">
              <a:avLst/>
            </a:prstGeom>
            <a:noFill/>
          </p:spPr>
          <p:txBody>
            <a:bodyPr wrap="none" rtlCol="0">
              <a:spAutoFit/>
            </a:bodyPr>
            <a:lstStyle/>
            <a:p>
              <a:r>
                <a:rPr lang="en-US" sz="1600" dirty="0">
                  <a:latin typeface="+mn-ea"/>
                  <a:ea typeface="+mn-ea"/>
                  <a:cs typeface="Arial" panose="020B0604020202020204" pitchFamily="34" charset="0"/>
                </a:rPr>
                <a:t>Chunk</a:t>
              </a:r>
            </a:p>
          </p:txBody>
        </p:sp>
        <p:sp>
          <p:nvSpPr>
            <p:cNvPr id="38" name="文本框 37"/>
            <p:cNvSpPr txBox="1"/>
            <p:nvPr/>
          </p:nvSpPr>
          <p:spPr>
            <a:xfrm>
              <a:off x="7100757" y="2847584"/>
              <a:ext cx="1035861" cy="338554"/>
            </a:xfrm>
            <a:prstGeom prst="rect">
              <a:avLst/>
            </a:prstGeom>
            <a:noFill/>
          </p:spPr>
          <p:txBody>
            <a:bodyPr wrap="none" rtlCol="0">
              <a:spAutoFit/>
            </a:bodyPr>
            <a:lstStyle/>
            <a:p>
              <a:r>
                <a:rPr lang="en-US" sz="1600" dirty="0">
                  <a:latin typeface="+mn-ea"/>
                  <a:ea typeface="+mn-ea"/>
                  <a:cs typeface="Arial" panose="020B0604020202020204" pitchFamily="34" charset="0"/>
                </a:rPr>
                <a:t>Encoded</a:t>
              </a:r>
            </a:p>
          </p:txBody>
        </p:sp>
        <p:sp>
          <p:nvSpPr>
            <p:cNvPr id="39" name="文本框 38"/>
            <p:cNvSpPr txBox="1"/>
            <p:nvPr/>
          </p:nvSpPr>
          <p:spPr>
            <a:xfrm>
              <a:off x="2170794" y="3403499"/>
              <a:ext cx="697050" cy="307777"/>
            </a:xfrm>
            <a:prstGeom prst="rect">
              <a:avLst/>
            </a:prstGeom>
            <a:noFill/>
          </p:spPr>
          <p:txBody>
            <a:bodyPr wrap="none" rtlCol="0">
              <a:spAutoFit/>
            </a:bodyPr>
            <a:lstStyle/>
            <a:p>
              <a:r>
                <a:rPr lang="en-US" sz="1400" dirty="0">
                  <a:latin typeface="+mn-ea"/>
                  <a:ea typeface="+mn-ea"/>
                  <a:cs typeface="Arial" panose="020B0604020202020204" pitchFamily="34" charset="0"/>
                </a:rPr>
                <a:t>NYAN</a:t>
              </a:r>
            </a:p>
          </p:txBody>
        </p:sp>
        <p:sp>
          <p:nvSpPr>
            <p:cNvPr id="40" name="文本框 39"/>
            <p:cNvSpPr txBox="1"/>
            <p:nvPr/>
          </p:nvSpPr>
          <p:spPr>
            <a:xfrm>
              <a:off x="3100018" y="3394726"/>
              <a:ext cx="697050" cy="307777"/>
            </a:xfrm>
            <a:prstGeom prst="rect">
              <a:avLst/>
            </a:prstGeom>
            <a:noFill/>
          </p:spPr>
          <p:txBody>
            <a:bodyPr wrap="none" rtlCol="0">
              <a:spAutoFit/>
            </a:bodyPr>
            <a:lstStyle/>
            <a:p>
              <a:r>
                <a:rPr lang="en-US" sz="1400" dirty="0">
                  <a:latin typeface="+mn-ea"/>
                  <a:ea typeface="+mn-ea"/>
                  <a:cs typeface="Arial" panose="020B0604020202020204" pitchFamily="34" charset="0"/>
                </a:rPr>
                <a:t>NYAN</a:t>
              </a:r>
            </a:p>
          </p:txBody>
        </p:sp>
        <p:sp>
          <p:nvSpPr>
            <p:cNvPr id="41" name="文本框 40"/>
            <p:cNvSpPr txBox="1"/>
            <p:nvPr/>
          </p:nvSpPr>
          <p:spPr>
            <a:xfrm>
              <a:off x="3980179" y="3394726"/>
              <a:ext cx="697050" cy="307777"/>
            </a:xfrm>
            <a:prstGeom prst="rect">
              <a:avLst/>
            </a:prstGeom>
            <a:noFill/>
          </p:spPr>
          <p:txBody>
            <a:bodyPr wrap="none" rtlCol="0">
              <a:spAutoFit/>
            </a:bodyPr>
            <a:lstStyle/>
            <a:p>
              <a:r>
                <a:rPr lang="en-US" sz="1400" dirty="0">
                  <a:latin typeface="+mn-ea"/>
                  <a:ea typeface="+mn-ea"/>
                  <a:cs typeface="Arial" panose="020B0604020202020204" pitchFamily="34" charset="0"/>
                </a:rPr>
                <a:t>NYAN</a:t>
              </a:r>
            </a:p>
          </p:txBody>
        </p:sp>
        <p:sp>
          <p:nvSpPr>
            <p:cNvPr id="42" name="文本框 41"/>
            <p:cNvSpPr txBox="1"/>
            <p:nvPr/>
          </p:nvSpPr>
          <p:spPr>
            <a:xfrm>
              <a:off x="4911534" y="3403499"/>
              <a:ext cx="697050" cy="307777"/>
            </a:xfrm>
            <a:prstGeom prst="rect">
              <a:avLst/>
            </a:prstGeom>
            <a:noFill/>
          </p:spPr>
          <p:txBody>
            <a:bodyPr wrap="none" rtlCol="0">
              <a:spAutoFit/>
            </a:bodyPr>
            <a:lstStyle/>
            <a:p>
              <a:r>
                <a:rPr lang="en-US" sz="1400" dirty="0">
                  <a:latin typeface="+mn-ea"/>
                  <a:ea typeface="+mn-ea"/>
                  <a:cs typeface="Arial" panose="020B0604020202020204" pitchFamily="34" charset="0"/>
                </a:rPr>
                <a:t>NYAN</a:t>
              </a:r>
            </a:p>
          </p:txBody>
        </p:sp>
        <p:sp>
          <p:nvSpPr>
            <p:cNvPr id="43" name="文本框 42"/>
            <p:cNvSpPr txBox="1"/>
            <p:nvPr/>
          </p:nvSpPr>
          <p:spPr>
            <a:xfrm>
              <a:off x="5808564" y="3403499"/>
              <a:ext cx="697050" cy="307777"/>
            </a:xfrm>
            <a:prstGeom prst="rect">
              <a:avLst/>
            </a:prstGeom>
            <a:noFill/>
          </p:spPr>
          <p:txBody>
            <a:bodyPr wrap="none" rtlCol="0">
              <a:spAutoFit/>
            </a:bodyPr>
            <a:lstStyle/>
            <a:p>
              <a:r>
                <a:rPr lang="en-US" sz="1400" dirty="0">
                  <a:latin typeface="+mn-ea"/>
                  <a:ea typeface="+mn-ea"/>
                  <a:cs typeface="Arial" panose="020B0604020202020204" pitchFamily="34" charset="0"/>
                </a:rPr>
                <a:t>NYAN</a:t>
              </a:r>
            </a:p>
          </p:txBody>
        </p:sp>
        <p:sp>
          <p:nvSpPr>
            <p:cNvPr id="44" name="文本框 43"/>
            <p:cNvSpPr txBox="1"/>
            <p:nvPr/>
          </p:nvSpPr>
          <p:spPr>
            <a:xfrm>
              <a:off x="6743247" y="3403296"/>
              <a:ext cx="697050" cy="307777"/>
            </a:xfrm>
            <a:prstGeom prst="rect">
              <a:avLst/>
            </a:prstGeom>
            <a:noFill/>
          </p:spPr>
          <p:txBody>
            <a:bodyPr wrap="none" rtlCol="0">
              <a:spAutoFit/>
            </a:bodyPr>
            <a:lstStyle/>
            <a:p>
              <a:r>
                <a:rPr lang="en-US" sz="1400" dirty="0">
                  <a:latin typeface="+mn-ea"/>
                  <a:ea typeface="+mn-ea"/>
                  <a:cs typeface="Arial" panose="020B0604020202020204" pitchFamily="34" charset="0"/>
                </a:rPr>
                <a:t>NYAN</a:t>
              </a:r>
            </a:p>
          </p:txBody>
        </p:sp>
        <p:sp>
          <p:nvSpPr>
            <p:cNvPr id="45" name="文本框 44"/>
            <p:cNvSpPr txBox="1"/>
            <p:nvPr/>
          </p:nvSpPr>
          <p:spPr>
            <a:xfrm>
              <a:off x="2364501" y="3739619"/>
              <a:ext cx="290464" cy="307777"/>
            </a:xfrm>
            <a:prstGeom prst="rect">
              <a:avLst/>
            </a:prstGeom>
            <a:noFill/>
          </p:spPr>
          <p:txBody>
            <a:bodyPr wrap="none" rtlCol="0">
              <a:spAutoFit/>
            </a:bodyPr>
            <a:lstStyle/>
            <a:p>
              <a:r>
                <a:rPr lang="en-US" sz="1400" dirty="0">
                  <a:latin typeface="+mn-ea"/>
                  <a:ea typeface="+mn-ea"/>
                  <a:cs typeface="Arial" panose="020B0604020202020204" pitchFamily="34" charset="0"/>
                </a:rPr>
                <a:t>1</a:t>
              </a:r>
            </a:p>
          </p:txBody>
        </p:sp>
        <p:sp>
          <p:nvSpPr>
            <p:cNvPr id="46" name="文本框 45"/>
            <p:cNvSpPr txBox="1"/>
            <p:nvPr/>
          </p:nvSpPr>
          <p:spPr>
            <a:xfrm>
              <a:off x="3293725" y="3739619"/>
              <a:ext cx="290464" cy="307777"/>
            </a:xfrm>
            <a:prstGeom prst="rect">
              <a:avLst/>
            </a:prstGeom>
            <a:noFill/>
          </p:spPr>
          <p:txBody>
            <a:bodyPr wrap="none" rtlCol="0">
              <a:spAutoFit/>
            </a:bodyPr>
            <a:lstStyle/>
            <a:p>
              <a:r>
                <a:rPr lang="en-US" sz="1400" dirty="0">
                  <a:latin typeface="+mn-ea"/>
                  <a:ea typeface="+mn-ea"/>
                  <a:cs typeface="Arial" panose="020B0604020202020204" pitchFamily="34" charset="0"/>
                </a:rPr>
                <a:t>2</a:t>
              </a:r>
            </a:p>
          </p:txBody>
        </p:sp>
        <p:sp>
          <p:nvSpPr>
            <p:cNvPr id="47" name="文本框 46"/>
            <p:cNvSpPr txBox="1"/>
            <p:nvPr/>
          </p:nvSpPr>
          <p:spPr>
            <a:xfrm>
              <a:off x="4147367" y="3739619"/>
              <a:ext cx="290464" cy="307777"/>
            </a:xfrm>
            <a:prstGeom prst="rect">
              <a:avLst/>
            </a:prstGeom>
            <a:noFill/>
          </p:spPr>
          <p:txBody>
            <a:bodyPr wrap="none" rtlCol="0">
              <a:spAutoFit/>
            </a:bodyPr>
            <a:lstStyle/>
            <a:p>
              <a:r>
                <a:rPr lang="en-US" sz="1400" dirty="0">
                  <a:latin typeface="+mn-ea"/>
                  <a:ea typeface="+mn-ea"/>
                  <a:cs typeface="Arial" panose="020B0604020202020204" pitchFamily="34" charset="0"/>
                </a:rPr>
                <a:t>3</a:t>
              </a:r>
            </a:p>
          </p:txBody>
        </p:sp>
        <p:sp>
          <p:nvSpPr>
            <p:cNvPr id="48" name="文本框 47"/>
            <p:cNvSpPr txBox="1"/>
            <p:nvPr/>
          </p:nvSpPr>
          <p:spPr>
            <a:xfrm>
              <a:off x="5105241" y="3739619"/>
              <a:ext cx="290464" cy="307777"/>
            </a:xfrm>
            <a:prstGeom prst="rect">
              <a:avLst/>
            </a:prstGeom>
            <a:noFill/>
          </p:spPr>
          <p:txBody>
            <a:bodyPr wrap="none" rtlCol="0">
              <a:spAutoFit/>
            </a:bodyPr>
            <a:lstStyle/>
            <a:p>
              <a:r>
                <a:rPr lang="en-US" sz="1400" dirty="0">
                  <a:latin typeface="+mn-ea"/>
                  <a:ea typeface="+mn-ea"/>
                  <a:cs typeface="Arial" panose="020B0604020202020204" pitchFamily="34" charset="0"/>
                </a:rPr>
                <a:t>4</a:t>
              </a:r>
            </a:p>
          </p:txBody>
        </p:sp>
        <p:sp>
          <p:nvSpPr>
            <p:cNvPr id="49" name="文本框 48"/>
            <p:cNvSpPr txBox="1"/>
            <p:nvPr/>
          </p:nvSpPr>
          <p:spPr>
            <a:xfrm>
              <a:off x="6022554" y="3739619"/>
              <a:ext cx="290464" cy="307777"/>
            </a:xfrm>
            <a:prstGeom prst="rect">
              <a:avLst/>
            </a:prstGeom>
            <a:noFill/>
          </p:spPr>
          <p:txBody>
            <a:bodyPr wrap="none" rtlCol="0">
              <a:spAutoFit/>
            </a:bodyPr>
            <a:lstStyle/>
            <a:p>
              <a:r>
                <a:rPr lang="en-US" sz="1400" dirty="0">
                  <a:latin typeface="+mn-ea"/>
                  <a:ea typeface="+mn-ea"/>
                  <a:cs typeface="Arial" panose="020B0604020202020204" pitchFamily="34" charset="0"/>
                </a:rPr>
                <a:t>5</a:t>
              </a:r>
            </a:p>
          </p:txBody>
        </p:sp>
        <p:sp>
          <p:nvSpPr>
            <p:cNvPr id="50" name="文本框 49"/>
            <p:cNvSpPr txBox="1"/>
            <p:nvPr/>
          </p:nvSpPr>
          <p:spPr>
            <a:xfrm>
              <a:off x="6927600" y="3739619"/>
              <a:ext cx="290464" cy="307777"/>
            </a:xfrm>
            <a:prstGeom prst="rect">
              <a:avLst/>
            </a:prstGeom>
            <a:noFill/>
          </p:spPr>
          <p:txBody>
            <a:bodyPr wrap="none" rtlCol="0">
              <a:spAutoFit/>
            </a:bodyPr>
            <a:lstStyle/>
            <a:p>
              <a:r>
                <a:rPr lang="en-US" sz="1400" dirty="0">
                  <a:latin typeface="+mn-ea"/>
                  <a:ea typeface="+mn-ea"/>
                  <a:cs typeface="Arial" panose="020B0604020202020204" pitchFamily="34" charset="0"/>
                </a:rPr>
                <a:t>6</a:t>
              </a:r>
            </a:p>
          </p:txBody>
        </p:sp>
        <p:cxnSp>
          <p:nvCxnSpPr>
            <p:cNvPr id="51" name="直接连接符 50"/>
            <p:cNvCxnSpPr>
              <a:stCxn id="23" idx="3"/>
              <a:endCxn id="38" idx="2"/>
            </p:cNvCxnSpPr>
            <p:nvPr/>
          </p:nvCxnSpPr>
          <p:spPr>
            <a:xfrm flipV="1">
              <a:off x="7414260" y="3186138"/>
              <a:ext cx="204428" cy="457609"/>
            </a:xfrm>
            <a:prstGeom prst="line">
              <a:avLst/>
            </a:prstGeom>
            <a:ln w="38100">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cxnSp>
          <p:nvCxnSpPr>
            <p:cNvPr id="52" name="直接连接符 51"/>
            <p:cNvCxnSpPr>
              <a:stCxn id="37" idx="0"/>
            </p:cNvCxnSpPr>
            <p:nvPr/>
          </p:nvCxnSpPr>
          <p:spPr>
            <a:xfrm flipV="1">
              <a:off x="1832246" y="3914833"/>
              <a:ext cx="445895" cy="568044"/>
            </a:xfrm>
            <a:prstGeom prst="line">
              <a:avLst/>
            </a:prstGeom>
            <a:ln w="38100">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cxnSp>
          <p:nvCxnSpPr>
            <p:cNvPr id="53" name="直接连接符 52"/>
            <p:cNvCxnSpPr/>
            <p:nvPr/>
          </p:nvCxnSpPr>
          <p:spPr>
            <a:xfrm flipV="1">
              <a:off x="2506527" y="2494515"/>
              <a:ext cx="1209493" cy="9826"/>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5768830" y="2479510"/>
              <a:ext cx="1327295"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8" idx="0"/>
            </p:cNvCxnSpPr>
            <p:nvPr/>
          </p:nvCxnSpPr>
          <p:spPr>
            <a:xfrm flipV="1">
              <a:off x="2506980" y="2504341"/>
              <a:ext cx="0" cy="844766"/>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7081361" y="2479510"/>
              <a:ext cx="0" cy="869597"/>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3421380" y="2499545"/>
              <a:ext cx="0" cy="844766"/>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6144297" y="2485860"/>
              <a:ext cx="0" cy="844766"/>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14" idx="0"/>
            </p:cNvCxnSpPr>
            <p:nvPr/>
          </p:nvCxnSpPr>
          <p:spPr>
            <a:xfrm flipV="1">
              <a:off x="4335780" y="2697715"/>
              <a:ext cx="0" cy="651392"/>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5247267" y="2708803"/>
              <a:ext cx="0" cy="651392"/>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13" idx="2"/>
              <a:endCxn id="76" idx="1"/>
            </p:cNvCxnSpPr>
            <p:nvPr/>
          </p:nvCxnSpPr>
          <p:spPr>
            <a:xfrm>
              <a:off x="3421380" y="4466707"/>
              <a:ext cx="7620" cy="982745"/>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肘形连接符 61"/>
            <p:cNvCxnSpPr>
              <a:stCxn id="16" idx="2"/>
              <a:endCxn id="78" idx="1"/>
            </p:cNvCxnSpPr>
            <p:nvPr/>
          </p:nvCxnSpPr>
          <p:spPr>
            <a:xfrm rot="5400000">
              <a:off x="2930008" y="4043679"/>
              <a:ext cx="982745" cy="1828800"/>
            </a:xfrm>
            <a:prstGeom prst="bentConnector3">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肘形连接符 62"/>
            <p:cNvCxnSpPr>
              <a:stCxn id="19" idx="2"/>
              <a:endCxn id="74" idx="1"/>
            </p:cNvCxnSpPr>
            <p:nvPr/>
          </p:nvCxnSpPr>
          <p:spPr>
            <a:xfrm rot="5400000">
              <a:off x="4337168" y="4536439"/>
              <a:ext cx="982745" cy="843280"/>
            </a:xfrm>
            <a:prstGeom prst="bentConnector3">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肘形连接符 63"/>
            <p:cNvCxnSpPr>
              <a:stCxn id="22" idx="2"/>
              <a:endCxn id="27" idx="1"/>
            </p:cNvCxnSpPr>
            <p:nvPr/>
          </p:nvCxnSpPr>
          <p:spPr>
            <a:xfrm rot="5400000">
              <a:off x="5251568" y="4536439"/>
              <a:ext cx="982745" cy="843280"/>
            </a:xfrm>
            <a:prstGeom prst="bentConnector3">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肘形连接符 64"/>
            <p:cNvCxnSpPr>
              <a:stCxn id="10" idx="2"/>
              <a:endCxn id="28" idx="1"/>
            </p:cNvCxnSpPr>
            <p:nvPr/>
          </p:nvCxnSpPr>
          <p:spPr>
            <a:xfrm rot="16200000" flipH="1">
              <a:off x="3879968" y="3093719"/>
              <a:ext cx="982745" cy="3728720"/>
            </a:xfrm>
            <a:prstGeom prst="bentConnector3">
              <a:avLst>
                <a:gd name="adj1" fmla="val 29323"/>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7100757" y="4466707"/>
              <a:ext cx="7620" cy="982745"/>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4721860" y="2032235"/>
              <a:ext cx="0" cy="273897"/>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3491206" y="1323955"/>
              <a:ext cx="309049" cy="177509"/>
            </a:xfrm>
            <a:prstGeom prst="line">
              <a:avLst/>
            </a:prstGeom>
            <a:ln w="38100">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cxnSp>
          <p:nvCxnSpPr>
            <p:cNvPr id="69" name="直接连接符 68"/>
            <p:cNvCxnSpPr/>
            <p:nvPr/>
          </p:nvCxnSpPr>
          <p:spPr>
            <a:xfrm>
              <a:off x="3491206" y="1755666"/>
              <a:ext cx="309049" cy="177509"/>
            </a:xfrm>
            <a:prstGeom prst="line">
              <a:avLst/>
            </a:prstGeom>
            <a:ln w="38100">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
          <p:nvSpPr>
            <p:cNvPr id="70" name="文本框 69"/>
            <p:cNvSpPr txBox="1"/>
            <p:nvPr/>
          </p:nvSpPr>
          <p:spPr>
            <a:xfrm>
              <a:off x="2046580" y="1117733"/>
              <a:ext cx="1444626" cy="338554"/>
            </a:xfrm>
            <a:prstGeom prst="rect">
              <a:avLst/>
            </a:prstGeom>
            <a:noFill/>
          </p:spPr>
          <p:txBody>
            <a:bodyPr wrap="none" rtlCol="0">
              <a:spAutoFit/>
            </a:bodyPr>
            <a:lstStyle/>
            <a:p>
              <a:r>
                <a:rPr lang="en-US" altLang="zh-CN" sz="1600" dirty="0">
                  <a:latin typeface="+mn-ea"/>
                  <a:ea typeface="+mn-ea"/>
                  <a:cs typeface="Arial" panose="020B0604020202020204" pitchFamily="34" charset="0"/>
                </a:rPr>
                <a:t>Object name</a:t>
              </a:r>
              <a:endParaRPr lang="en-US" sz="1600" dirty="0">
                <a:latin typeface="+mn-ea"/>
                <a:ea typeface="+mn-ea"/>
                <a:cs typeface="Arial" panose="020B0604020202020204" pitchFamily="34" charset="0"/>
              </a:endParaRPr>
            </a:p>
          </p:txBody>
        </p:sp>
        <p:sp>
          <p:nvSpPr>
            <p:cNvPr id="71" name="文本框 70"/>
            <p:cNvSpPr txBox="1"/>
            <p:nvPr/>
          </p:nvSpPr>
          <p:spPr>
            <a:xfrm>
              <a:off x="2570334" y="1589614"/>
              <a:ext cx="974819" cy="338554"/>
            </a:xfrm>
            <a:prstGeom prst="rect">
              <a:avLst/>
            </a:prstGeom>
            <a:noFill/>
          </p:spPr>
          <p:txBody>
            <a:bodyPr wrap="none" rtlCol="0">
              <a:spAutoFit/>
            </a:bodyPr>
            <a:lstStyle/>
            <a:p>
              <a:r>
                <a:rPr lang="en-US" sz="1600" dirty="0">
                  <a:latin typeface="+mn-ea"/>
                  <a:ea typeface="+mn-ea"/>
                  <a:cs typeface="Arial" panose="020B0604020202020204" pitchFamily="34" charset="0"/>
                </a:rPr>
                <a:t>Content</a:t>
              </a:r>
            </a:p>
          </p:txBody>
        </p:sp>
      </p:grpSp>
      <p:cxnSp>
        <p:nvCxnSpPr>
          <p:cNvPr id="80" name="直接连接符 79"/>
          <p:cNvCxnSpPr/>
          <p:nvPr/>
        </p:nvCxnSpPr>
        <p:spPr>
          <a:xfrm flipH="1">
            <a:off x="1008064" y="3905665"/>
            <a:ext cx="2459644"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bwMode="auto">
          <a:xfrm>
            <a:off x="995208" y="4118309"/>
            <a:ext cx="3451024" cy="205842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auto"/>
            <a:r>
              <a:rPr lang="zh-CN" altLang="zh-CN" sz="1600" b="1" dirty="0">
                <a:latin typeface="+mn-ea"/>
                <a:ea typeface="+mn-ea"/>
              </a:rPr>
              <a:t>纠删码</a:t>
            </a:r>
            <a:endParaRPr lang="zh-CN" altLang="zh-CN" sz="1600" dirty="0">
              <a:latin typeface="+mn-ea"/>
              <a:ea typeface="+mn-ea"/>
            </a:endParaRPr>
          </a:p>
          <a:p>
            <a:pPr fontAlgn="auto"/>
            <a:r>
              <a:rPr lang="zh-CN" altLang="zh-CN" sz="1600" dirty="0">
                <a:latin typeface="+mn-ea"/>
                <a:ea typeface="+mn-ea"/>
              </a:rPr>
              <a:t>裸容量</a:t>
            </a:r>
            <a:r>
              <a:rPr lang="en-US" altLang="zh-CN" sz="1600" dirty="0">
                <a:latin typeface="+mn-ea"/>
                <a:ea typeface="+mn-ea"/>
              </a:rPr>
              <a:t>: </a:t>
            </a:r>
            <a:endParaRPr lang="zh-CN" altLang="zh-CN" sz="1600" dirty="0">
              <a:latin typeface="+mn-ea"/>
              <a:ea typeface="+mn-ea"/>
            </a:endParaRPr>
          </a:p>
          <a:p>
            <a:pPr fontAlgn="auto"/>
            <a:r>
              <a:rPr lang="zh-CN" altLang="zh-CN" sz="1600" dirty="0">
                <a:latin typeface="+mn-ea"/>
                <a:ea typeface="+mn-ea"/>
              </a:rPr>
              <a:t>典型 </a:t>
            </a:r>
            <a:r>
              <a:rPr lang="en-US" altLang="zh-CN" sz="1600" b="1" dirty="0">
                <a:solidFill>
                  <a:srgbClr val="C00000"/>
                </a:solidFill>
                <a:latin typeface="+mn-ea"/>
              </a:rPr>
              <a:t>1.5x</a:t>
            </a:r>
            <a:r>
              <a:rPr lang="zh-CN" altLang="zh-CN" sz="1600" dirty="0">
                <a:latin typeface="+mn-ea"/>
                <a:ea typeface="+mn-ea"/>
              </a:rPr>
              <a:t>实际可用容量</a:t>
            </a:r>
          </a:p>
          <a:p>
            <a:pPr fontAlgn="auto"/>
            <a:r>
              <a:rPr lang="en-US" altLang="zh-CN" sz="1600" dirty="0">
                <a:latin typeface="+mn-ea"/>
                <a:ea typeface="+mn-ea"/>
              </a:rPr>
              <a:t>e.g. 4+2 EC</a:t>
            </a:r>
            <a:endParaRPr lang="zh-CN" altLang="zh-CN" sz="1600" dirty="0">
              <a:latin typeface="+mn-ea"/>
              <a:ea typeface="+mn-ea"/>
            </a:endParaRPr>
          </a:p>
          <a:p>
            <a:pPr fontAlgn="auto"/>
            <a:r>
              <a:rPr lang="en-US" altLang="zh-CN" sz="1600" dirty="0">
                <a:latin typeface="+mn-ea"/>
                <a:ea typeface="+mn-ea"/>
              </a:rPr>
              <a:t> </a:t>
            </a:r>
            <a:endParaRPr lang="zh-CN" altLang="zh-CN" sz="1600" dirty="0">
              <a:latin typeface="+mn-ea"/>
              <a:ea typeface="+mn-ea"/>
            </a:endParaRPr>
          </a:p>
          <a:p>
            <a:r>
              <a:rPr lang="zh-CN" altLang="zh-CN" sz="1600" dirty="0">
                <a:latin typeface="+mn-ea"/>
                <a:ea typeface="+mn-ea"/>
              </a:rPr>
              <a:t>更高的冗余度：</a:t>
            </a:r>
          </a:p>
          <a:p>
            <a:r>
              <a:rPr lang="en-US" altLang="zh-CN" sz="1600" dirty="0">
                <a:latin typeface="+mn-ea"/>
                <a:ea typeface="+mn-ea"/>
              </a:rPr>
              <a:t>e.g. 8+3 EC  </a:t>
            </a:r>
            <a:r>
              <a:rPr lang="en-US" altLang="zh-CN" sz="1600" b="1" dirty="0">
                <a:solidFill>
                  <a:srgbClr val="C00000"/>
                </a:solidFill>
                <a:latin typeface="+mn-ea"/>
                <a:ea typeface="+mn-ea"/>
              </a:rPr>
              <a:t>1.37x</a:t>
            </a:r>
            <a:r>
              <a:rPr lang="en-US" altLang="zh-CN" sz="1600" dirty="0">
                <a:solidFill>
                  <a:srgbClr val="C00000"/>
                </a:solidFill>
                <a:latin typeface="+mn-ea"/>
                <a:ea typeface="+mn-ea"/>
              </a:rPr>
              <a:t> </a:t>
            </a:r>
            <a:r>
              <a:rPr lang="zh-CN" altLang="zh-CN" sz="1600" dirty="0">
                <a:latin typeface="+mn-ea"/>
                <a:ea typeface="+mn-ea"/>
              </a:rPr>
              <a:t>实际可用容量</a:t>
            </a:r>
            <a:r>
              <a:rPr lang="en-US" altLang="zh-CN" sz="1600" dirty="0">
                <a:latin typeface="+mn-ea"/>
                <a:ea typeface="+mn-ea"/>
              </a:rPr>
              <a:t>, </a:t>
            </a:r>
            <a:r>
              <a:rPr lang="zh-CN" altLang="zh-CN" sz="1600" dirty="0">
                <a:latin typeface="+mn-ea"/>
                <a:ea typeface="+mn-ea"/>
              </a:rPr>
              <a:t>同时容忍</a:t>
            </a:r>
            <a:r>
              <a:rPr lang="en-US" altLang="zh-CN" sz="1600" b="1" dirty="0">
                <a:solidFill>
                  <a:srgbClr val="C00000"/>
                </a:solidFill>
                <a:latin typeface="+mn-ea"/>
                <a:ea typeface="+mn-ea"/>
              </a:rPr>
              <a:t>3</a:t>
            </a:r>
            <a:r>
              <a:rPr lang="zh-CN" altLang="zh-CN" sz="1600" dirty="0">
                <a:latin typeface="+mn-ea"/>
                <a:ea typeface="+mn-ea"/>
              </a:rPr>
              <a:t>个数据块故障</a:t>
            </a:r>
          </a:p>
        </p:txBody>
      </p:sp>
    </p:spTree>
    <p:extLst>
      <p:ext uri="{BB962C8B-B14F-4D97-AF65-F5344CB8AC3E}">
        <p14:creationId xmlns:p14="http://schemas.microsoft.com/office/powerpoint/2010/main" val="640742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9A4FF1-25B2-46C2-A337-CA526A91490E}"/>
              </a:ext>
            </a:extLst>
          </p:cNvPr>
          <p:cNvSpPr>
            <a:spLocks noGrp="1"/>
          </p:cNvSpPr>
          <p:nvPr>
            <p:ph type="title"/>
          </p:nvPr>
        </p:nvSpPr>
        <p:spPr/>
        <p:txBody>
          <a:bodyPr/>
          <a:lstStyle/>
          <a:p>
            <a:r>
              <a:rPr lang="en-US" altLang="zh-CN" dirty="0"/>
              <a:t>monitor</a:t>
            </a:r>
            <a:r>
              <a:rPr lang="zh-CN" altLang="en-US" dirty="0"/>
              <a:t>节点管理</a:t>
            </a:r>
          </a:p>
        </p:txBody>
      </p:sp>
      <p:sp>
        <p:nvSpPr>
          <p:cNvPr id="3" name="文本框 2">
            <a:extLst>
              <a:ext uri="{FF2B5EF4-FFF2-40B4-BE49-F238E27FC236}">
                <a16:creationId xmlns:a16="http://schemas.microsoft.com/office/drawing/2014/main" id="{31241259-6404-44D1-B54E-FABE26F50D62}"/>
              </a:ext>
            </a:extLst>
          </p:cNvPr>
          <p:cNvSpPr txBox="1"/>
          <p:nvPr/>
        </p:nvSpPr>
        <p:spPr bwMode="auto">
          <a:xfrm>
            <a:off x="1235460" y="1033283"/>
            <a:ext cx="9721080" cy="535163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buFont typeface="Arial" panose="020B0604020202020204" pitchFamily="34" charset="0"/>
              <a:buChar char="•"/>
            </a:pPr>
            <a:r>
              <a:rPr lang="en-US" altLang="zh-CN" sz="1800" dirty="0">
                <a:latin typeface="+mn-ea"/>
                <a:ea typeface="+mn-ea"/>
              </a:rPr>
              <a:t>Mon</a:t>
            </a:r>
            <a:r>
              <a:rPr lang="zh-CN" altLang="en-US" sz="1800" dirty="0">
                <a:latin typeface="+mn-ea"/>
                <a:ea typeface="+mn-ea"/>
              </a:rPr>
              <a:t>节点监控着整个</a:t>
            </a:r>
            <a:r>
              <a:rPr lang="en-US" altLang="zh-CN" sz="1800" dirty="0">
                <a:latin typeface="+mn-ea"/>
                <a:ea typeface="+mn-ea"/>
              </a:rPr>
              <a:t>ceph</a:t>
            </a:r>
            <a:r>
              <a:rPr lang="zh-CN" altLang="en-US" sz="1800" dirty="0">
                <a:latin typeface="+mn-ea"/>
                <a:ea typeface="+mn-ea"/>
              </a:rPr>
              <a:t>集群的状态信息，监听于</a:t>
            </a:r>
            <a:r>
              <a:rPr lang="en-US" altLang="zh-CN" sz="1800" dirty="0" err="1">
                <a:latin typeface="+mn-ea"/>
                <a:ea typeface="+mn-ea"/>
              </a:rPr>
              <a:t>tcp</a:t>
            </a:r>
            <a:r>
              <a:rPr lang="zh-CN" altLang="en-US" sz="1800" dirty="0">
                <a:latin typeface="+mn-ea"/>
                <a:ea typeface="+mn-ea"/>
              </a:rPr>
              <a:t>的</a:t>
            </a:r>
            <a:r>
              <a:rPr lang="en-US" altLang="zh-CN" sz="1800" dirty="0">
                <a:latin typeface="+mn-ea"/>
                <a:ea typeface="+mn-ea"/>
              </a:rPr>
              <a:t>6789</a:t>
            </a:r>
            <a:r>
              <a:rPr lang="zh-CN" altLang="en-US" sz="1800" dirty="0">
                <a:latin typeface="+mn-ea"/>
                <a:ea typeface="+mn-ea"/>
              </a:rPr>
              <a:t>端口</a:t>
            </a:r>
            <a:endParaRPr lang="en-US" altLang="zh-CN" sz="1800" dirty="0">
              <a:latin typeface="+mn-ea"/>
              <a:ea typeface="+mn-ea"/>
            </a:endParaRPr>
          </a:p>
          <a:p>
            <a:endParaRPr lang="en-US" altLang="zh-CN" sz="1800" dirty="0">
              <a:latin typeface="+mn-ea"/>
              <a:ea typeface="+mn-ea"/>
            </a:endParaRPr>
          </a:p>
          <a:p>
            <a:r>
              <a:rPr lang="en-US" altLang="zh-CN" sz="1800" dirty="0">
                <a:latin typeface="+mn-ea"/>
                <a:ea typeface="+mn-ea"/>
              </a:rPr>
              <a:t>      [root@ceph_node2 ~]# netstat -</a:t>
            </a:r>
            <a:r>
              <a:rPr lang="en-US" altLang="zh-CN" sz="1800" dirty="0" err="1">
                <a:latin typeface="+mn-ea"/>
                <a:ea typeface="+mn-ea"/>
              </a:rPr>
              <a:t>tulnp</a:t>
            </a:r>
            <a:r>
              <a:rPr lang="en-US" altLang="zh-CN" sz="1800" dirty="0">
                <a:latin typeface="+mn-ea"/>
                <a:ea typeface="+mn-ea"/>
              </a:rPr>
              <a:t> |grep :6789</a:t>
            </a:r>
          </a:p>
          <a:p>
            <a:endParaRPr lang="en-US" altLang="zh-CN" sz="1800" dirty="0">
              <a:latin typeface="+mn-ea"/>
              <a:ea typeface="+mn-ea"/>
            </a:endParaRPr>
          </a:p>
          <a:p>
            <a:r>
              <a:rPr lang="en-US" altLang="zh-CN" sz="1800" dirty="0">
                <a:latin typeface="+mn-ea"/>
                <a:ea typeface="+mn-ea"/>
              </a:rPr>
              <a:t>      </a:t>
            </a:r>
            <a:r>
              <a:rPr lang="en-US" altLang="zh-CN" sz="1800" dirty="0" err="1">
                <a:latin typeface="+mn-ea"/>
                <a:ea typeface="+mn-ea"/>
              </a:rPr>
              <a:t>tcp</a:t>
            </a:r>
            <a:r>
              <a:rPr lang="en-US" altLang="zh-CN" sz="1800" dirty="0">
                <a:latin typeface="+mn-ea"/>
                <a:ea typeface="+mn-ea"/>
              </a:rPr>
              <a:t>      0      0 192.168.9.22:6789       0.0.0.0:*          LISTEN      1229/ceph-mon</a:t>
            </a:r>
          </a:p>
          <a:p>
            <a:endParaRPr lang="en-US" altLang="zh-CN" sz="1800" dirty="0">
              <a:latin typeface="+mn-ea"/>
              <a:ea typeface="+mn-ea"/>
            </a:endParaRPr>
          </a:p>
          <a:p>
            <a:endParaRPr lang="en-US" altLang="zh-CN" sz="1800" dirty="0">
              <a:latin typeface="+mn-ea"/>
              <a:ea typeface="+mn-ea"/>
            </a:endParaRPr>
          </a:p>
          <a:p>
            <a:pPr marL="285750" indent="-285750">
              <a:buFont typeface="Arial" panose="020B0604020202020204" pitchFamily="34" charset="0"/>
              <a:buChar char="•"/>
            </a:pPr>
            <a:r>
              <a:rPr lang="zh-CN" altLang="en-US" sz="1800" dirty="0">
                <a:latin typeface="+mn-ea"/>
                <a:ea typeface="+mn-ea"/>
              </a:rPr>
              <a:t>每一个</a:t>
            </a:r>
            <a:r>
              <a:rPr lang="en-US" altLang="zh-CN" sz="1800" dirty="0">
                <a:latin typeface="+mn-ea"/>
                <a:ea typeface="+mn-ea"/>
              </a:rPr>
              <a:t>ceph</a:t>
            </a:r>
            <a:r>
              <a:rPr lang="zh-CN" altLang="en-US" sz="1800" dirty="0">
                <a:latin typeface="+mn-ea"/>
                <a:ea typeface="+mn-ea"/>
              </a:rPr>
              <a:t>集群中至少要有一个</a:t>
            </a:r>
            <a:r>
              <a:rPr lang="en-US" altLang="zh-CN" sz="1800" dirty="0">
                <a:latin typeface="+mn-ea"/>
                <a:ea typeface="+mn-ea"/>
              </a:rPr>
              <a:t>Mon</a:t>
            </a:r>
            <a:r>
              <a:rPr lang="zh-CN" altLang="en-US" sz="1800" dirty="0">
                <a:latin typeface="+mn-ea"/>
                <a:ea typeface="+mn-ea"/>
              </a:rPr>
              <a:t>节点，官方推荐每个集群至少部署三台</a:t>
            </a:r>
            <a:endParaRPr lang="en-US" altLang="zh-CN" sz="1800" dirty="0">
              <a:latin typeface="+mn-ea"/>
              <a:ea typeface="+mn-ea"/>
            </a:endParaRPr>
          </a:p>
          <a:p>
            <a:pPr marL="285750" indent="-285750">
              <a:buFont typeface="Arial" panose="020B0604020202020204" pitchFamily="34" charset="0"/>
              <a:buChar char="•"/>
            </a:pPr>
            <a:endParaRPr lang="en-US" altLang="zh-CN" sz="1800" dirty="0">
              <a:latin typeface="+mn-ea"/>
              <a:ea typeface="+mn-ea"/>
            </a:endParaRPr>
          </a:p>
          <a:p>
            <a:pPr marL="285750" indent="-285750">
              <a:buFont typeface="Arial" panose="020B0604020202020204" pitchFamily="34" charset="0"/>
              <a:buChar char="•"/>
            </a:pPr>
            <a:r>
              <a:rPr lang="en-US" altLang="zh-CN" sz="1800" dirty="0">
                <a:latin typeface="+mn-ea"/>
                <a:ea typeface="+mn-ea"/>
              </a:rPr>
              <a:t>Mon</a:t>
            </a:r>
            <a:r>
              <a:rPr lang="zh-CN" altLang="en-US" sz="1800" dirty="0">
                <a:latin typeface="+mn-ea"/>
                <a:ea typeface="+mn-ea"/>
              </a:rPr>
              <a:t>节点中保存了最新的版本集群数据分布图（</a:t>
            </a:r>
            <a:r>
              <a:rPr lang="en-US" altLang="zh-CN" sz="1800" dirty="0">
                <a:latin typeface="+mn-ea"/>
                <a:ea typeface="+mn-ea"/>
              </a:rPr>
              <a:t>cluster map</a:t>
            </a:r>
            <a:r>
              <a:rPr lang="zh-CN" altLang="en-US" sz="1800" dirty="0">
                <a:latin typeface="+mn-ea"/>
                <a:ea typeface="+mn-ea"/>
              </a:rPr>
              <a:t>）的主副本。</a:t>
            </a:r>
            <a:endParaRPr lang="en-US" altLang="zh-CN" sz="1800" dirty="0">
              <a:latin typeface="+mn-ea"/>
              <a:ea typeface="+mn-ea"/>
            </a:endParaRPr>
          </a:p>
          <a:p>
            <a:pPr marL="285750" indent="-285750">
              <a:buFont typeface="Arial" panose="020B0604020202020204" pitchFamily="34" charset="0"/>
              <a:buChar char="•"/>
            </a:pPr>
            <a:endParaRPr lang="en-US" altLang="zh-CN" sz="1800" dirty="0">
              <a:latin typeface="+mn-ea"/>
              <a:ea typeface="+mn-ea"/>
            </a:endParaRPr>
          </a:p>
          <a:p>
            <a:pPr marL="285750" indent="-285750">
              <a:buFont typeface="Arial" panose="020B0604020202020204" pitchFamily="34" charset="0"/>
              <a:buChar char="•"/>
            </a:pPr>
            <a:r>
              <a:rPr lang="zh-CN" altLang="en-US" sz="1800" dirty="0">
                <a:latin typeface="+mn-ea"/>
                <a:ea typeface="+mn-ea"/>
              </a:rPr>
              <a:t>客户端在使用时，需要挂载</a:t>
            </a:r>
            <a:r>
              <a:rPr lang="en-US" altLang="zh-CN" sz="1800" dirty="0">
                <a:latin typeface="+mn-ea"/>
                <a:ea typeface="+mn-ea"/>
              </a:rPr>
              <a:t>mon</a:t>
            </a:r>
            <a:r>
              <a:rPr lang="zh-CN" altLang="en-US" sz="1800" dirty="0">
                <a:latin typeface="+mn-ea"/>
                <a:ea typeface="+mn-ea"/>
              </a:rPr>
              <a:t>节点的</a:t>
            </a:r>
            <a:r>
              <a:rPr lang="en-US" altLang="zh-CN" sz="1800" dirty="0">
                <a:latin typeface="+mn-ea"/>
                <a:ea typeface="+mn-ea"/>
              </a:rPr>
              <a:t>6789</a:t>
            </a:r>
            <a:r>
              <a:rPr lang="zh-CN" altLang="en-US" sz="1800" dirty="0">
                <a:latin typeface="+mn-ea"/>
                <a:ea typeface="+mn-ea"/>
              </a:rPr>
              <a:t>端口，下载最新的</a:t>
            </a:r>
            <a:r>
              <a:rPr lang="en-US" altLang="zh-CN" sz="1800" dirty="0">
                <a:latin typeface="+mn-ea"/>
                <a:ea typeface="+mn-ea"/>
              </a:rPr>
              <a:t>cluster map</a:t>
            </a:r>
            <a:r>
              <a:rPr lang="zh-CN" altLang="en-US" sz="1800" dirty="0">
                <a:latin typeface="+mn-ea"/>
                <a:ea typeface="+mn-ea"/>
              </a:rPr>
              <a:t>，通过</a:t>
            </a:r>
            <a:r>
              <a:rPr lang="en-US" altLang="zh-CN" sz="1800" dirty="0">
                <a:latin typeface="+mn-ea"/>
                <a:ea typeface="+mn-ea"/>
              </a:rPr>
              <a:t>crush</a:t>
            </a:r>
            <a:r>
              <a:rPr lang="zh-CN" altLang="en-US" sz="1800" dirty="0">
                <a:latin typeface="+mn-ea"/>
                <a:ea typeface="+mn-ea"/>
              </a:rPr>
              <a:t>算法获得集群中各</a:t>
            </a:r>
            <a:r>
              <a:rPr lang="en-US" altLang="zh-CN" sz="1800" dirty="0">
                <a:latin typeface="+mn-ea"/>
                <a:ea typeface="+mn-ea"/>
              </a:rPr>
              <a:t>osd</a:t>
            </a:r>
            <a:r>
              <a:rPr lang="zh-CN" altLang="en-US" sz="1800" dirty="0">
                <a:latin typeface="+mn-ea"/>
                <a:ea typeface="+mn-ea"/>
              </a:rPr>
              <a:t>的</a:t>
            </a:r>
            <a:r>
              <a:rPr lang="en-US" altLang="zh-CN" sz="1800" dirty="0">
                <a:latin typeface="+mn-ea"/>
                <a:ea typeface="+mn-ea"/>
              </a:rPr>
              <a:t>IP</a:t>
            </a:r>
            <a:r>
              <a:rPr lang="zh-CN" altLang="en-US" sz="1800" dirty="0">
                <a:latin typeface="+mn-ea"/>
                <a:ea typeface="+mn-ea"/>
              </a:rPr>
              <a:t>地址，然后再与</a:t>
            </a:r>
            <a:r>
              <a:rPr lang="en-US" altLang="zh-CN" sz="1800" dirty="0">
                <a:latin typeface="+mn-ea"/>
                <a:ea typeface="+mn-ea"/>
              </a:rPr>
              <a:t>osd</a:t>
            </a:r>
            <a:r>
              <a:rPr lang="zh-CN" altLang="en-US" sz="1800" dirty="0">
                <a:latin typeface="+mn-ea"/>
                <a:ea typeface="+mn-ea"/>
              </a:rPr>
              <a:t>节点直接建立连接来传输数据。</a:t>
            </a:r>
            <a:endParaRPr lang="en-US" altLang="zh-CN" sz="1800" dirty="0">
              <a:latin typeface="+mn-ea"/>
              <a:ea typeface="+mn-ea"/>
            </a:endParaRPr>
          </a:p>
          <a:p>
            <a:pPr marL="285750" indent="-285750">
              <a:buFont typeface="Arial" panose="020B0604020202020204" pitchFamily="34" charset="0"/>
              <a:buChar char="•"/>
            </a:pPr>
            <a:endParaRPr lang="en-US" altLang="zh-CN" sz="1800" dirty="0">
              <a:latin typeface="+mn-ea"/>
              <a:ea typeface="+mn-ea"/>
            </a:endParaRPr>
          </a:p>
          <a:p>
            <a:pPr marL="285750" indent="-285750">
              <a:buFont typeface="Arial" panose="020B0604020202020204" pitchFamily="34" charset="0"/>
              <a:buChar char="•"/>
            </a:pPr>
            <a:endParaRPr lang="en-US" altLang="zh-CN" sz="1800" dirty="0">
              <a:latin typeface="+mn-ea"/>
              <a:ea typeface="+mn-ea"/>
            </a:endParaRPr>
          </a:p>
          <a:p>
            <a:pPr marL="285750" indent="-285750">
              <a:buFont typeface="Arial" panose="020B0604020202020204" pitchFamily="34" charset="0"/>
              <a:buChar char="•"/>
            </a:pPr>
            <a:r>
              <a:rPr lang="zh-CN" altLang="en-US" sz="1800" dirty="0">
                <a:latin typeface="+mn-ea"/>
                <a:ea typeface="+mn-ea"/>
              </a:rPr>
              <a:t>所以对于</a:t>
            </a:r>
            <a:r>
              <a:rPr lang="en-US" altLang="zh-CN" sz="1800" dirty="0">
                <a:latin typeface="+mn-ea"/>
                <a:ea typeface="+mn-ea"/>
              </a:rPr>
              <a:t>ceph</a:t>
            </a:r>
            <a:r>
              <a:rPr lang="zh-CN" altLang="en-US" sz="1800" dirty="0">
                <a:latin typeface="+mn-ea"/>
                <a:ea typeface="+mn-ea"/>
              </a:rPr>
              <a:t>来说，并不需要有集中式的主节点用于计算与寻址，客户端分摊了这部分工作。而且客户端也可以直接和</a:t>
            </a:r>
            <a:r>
              <a:rPr lang="en-US" altLang="zh-CN" sz="1800" dirty="0">
                <a:latin typeface="+mn-ea"/>
                <a:ea typeface="+mn-ea"/>
              </a:rPr>
              <a:t>osd</a:t>
            </a:r>
            <a:r>
              <a:rPr lang="zh-CN" altLang="en-US" sz="1800" dirty="0">
                <a:latin typeface="+mn-ea"/>
                <a:ea typeface="+mn-ea"/>
              </a:rPr>
              <a:t>通信，省去了中间代理服务器的额外开销。</a:t>
            </a:r>
          </a:p>
          <a:p>
            <a:endParaRPr lang="en-US" altLang="zh-CN" sz="1800" dirty="0">
              <a:latin typeface="+mn-ea"/>
              <a:ea typeface="+mn-ea"/>
            </a:endParaRPr>
          </a:p>
          <a:p>
            <a:endParaRPr lang="zh-CN" altLang="en-US" sz="1800" dirty="0">
              <a:latin typeface="+mn-ea"/>
              <a:ea typeface="+mn-ea"/>
            </a:endParaRPr>
          </a:p>
        </p:txBody>
      </p:sp>
    </p:spTree>
    <p:extLst>
      <p:ext uri="{BB962C8B-B14F-4D97-AF65-F5344CB8AC3E}">
        <p14:creationId xmlns:p14="http://schemas.microsoft.com/office/powerpoint/2010/main" val="996037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65043A-3D4C-4F92-AC09-38534098EC15}"/>
              </a:ext>
            </a:extLst>
          </p:cNvPr>
          <p:cNvSpPr>
            <a:spLocks noGrp="1"/>
          </p:cNvSpPr>
          <p:nvPr>
            <p:ph type="title"/>
          </p:nvPr>
        </p:nvSpPr>
        <p:spPr/>
        <p:txBody>
          <a:bodyPr/>
          <a:lstStyle/>
          <a:p>
            <a:r>
              <a:rPr lang="en-US" altLang="zh-CN" dirty="0"/>
              <a:t>monitor</a:t>
            </a:r>
            <a:r>
              <a:rPr lang="zh-CN" altLang="en-US" dirty="0"/>
              <a:t>节点</a:t>
            </a:r>
            <a:r>
              <a:rPr lang="en-US" altLang="zh-CN" dirty="0" err="1"/>
              <a:t>clustermap</a:t>
            </a:r>
            <a:br>
              <a:rPr lang="en-US" altLang="zh-CN" dirty="0"/>
            </a:br>
            <a:endParaRPr lang="zh-CN" altLang="en-US" dirty="0"/>
          </a:p>
        </p:txBody>
      </p:sp>
      <p:sp>
        <p:nvSpPr>
          <p:cNvPr id="3" name="矩形 2">
            <a:extLst>
              <a:ext uri="{FF2B5EF4-FFF2-40B4-BE49-F238E27FC236}">
                <a16:creationId xmlns:a16="http://schemas.microsoft.com/office/drawing/2014/main" id="{984D41AA-582F-4F6E-B45F-25294C81A6C9}"/>
              </a:ext>
            </a:extLst>
          </p:cNvPr>
          <p:cNvSpPr/>
          <p:nvPr/>
        </p:nvSpPr>
        <p:spPr>
          <a:xfrm>
            <a:off x="1307468" y="1232756"/>
            <a:ext cx="9831600" cy="5016758"/>
          </a:xfrm>
          <a:prstGeom prst="rect">
            <a:avLst/>
          </a:prstGeom>
        </p:spPr>
        <p:txBody>
          <a:bodyPr wrap="square">
            <a:spAutoFit/>
          </a:bodyPr>
          <a:lstStyle/>
          <a:p>
            <a:pPr marL="285750" indent="-285750">
              <a:buFont typeface="Arial" panose="020B0604020202020204" pitchFamily="34" charset="0"/>
              <a:buChar char="•"/>
            </a:pPr>
            <a:r>
              <a:rPr lang="en-US" altLang="zh-CN" sz="2000" dirty="0">
                <a:latin typeface="+mn-ea"/>
                <a:ea typeface="+mn-ea"/>
              </a:rPr>
              <a:t>Mon</a:t>
            </a:r>
            <a:r>
              <a:rPr lang="zh-CN" altLang="en-US" sz="2000" dirty="0">
                <a:latin typeface="+mn-ea"/>
                <a:ea typeface="+mn-ea"/>
              </a:rPr>
              <a:t>节点之间使用</a:t>
            </a:r>
            <a:r>
              <a:rPr lang="en-US" altLang="zh-CN" sz="2000" dirty="0" err="1">
                <a:latin typeface="+mn-ea"/>
                <a:ea typeface="+mn-ea"/>
              </a:rPr>
              <a:t>Paxos</a:t>
            </a:r>
            <a:r>
              <a:rPr lang="zh-CN" altLang="en-US" sz="2000" dirty="0">
                <a:latin typeface="+mn-ea"/>
                <a:ea typeface="+mn-ea"/>
              </a:rPr>
              <a:t>算法来保持各节点</a:t>
            </a:r>
            <a:r>
              <a:rPr lang="en-US" altLang="zh-CN" sz="2000" dirty="0">
                <a:latin typeface="+mn-ea"/>
                <a:ea typeface="+mn-ea"/>
              </a:rPr>
              <a:t>cluster map</a:t>
            </a:r>
            <a:r>
              <a:rPr lang="zh-CN" altLang="en-US" sz="2000" dirty="0">
                <a:latin typeface="+mn-ea"/>
                <a:ea typeface="+mn-ea"/>
              </a:rPr>
              <a:t>的一致性；</a:t>
            </a:r>
            <a:endParaRPr lang="en-US" altLang="zh-CN" sz="2000" dirty="0">
              <a:latin typeface="+mn-ea"/>
              <a:ea typeface="+mn-ea"/>
            </a:endParaRPr>
          </a:p>
          <a:p>
            <a:pPr marL="285750" indent="-285750">
              <a:buFont typeface="Arial" panose="020B0604020202020204" pitchFamily="34" charset="0"/>
              <a:buChar char="•"/>
            </a:pPr>
            <a:endParaRPr lang="en-US" altLang="zh-CN" sz="2000" dirty="0">
              <a:latin typeface="+mn-ea"/>
              <a:ea typeface="+mn-ea"/>
            </a:endParaRPr>
          </a:p>
          <a:p>
            <a:endParaRPr lang="en-US" altLang="zh-CN" sz="2000" dirty="0">
              <a:latin typeface="+mn-ea"/>
              <a:ea typeface="+mn-ea"/>
            </a:endParaRPr>
          </a:p>
          <a:p>
            <a:pPr marL="285750" indent="-285750">
              <a:buFont typeface="Arial" panose="020B0604020202020204" pitchFamily="34" charset="0"/>
              <a:buChar char="•"/>
            </a:pPr>
            <a:r>
              <a:rPr lang="zh-CN" altLang="en-US" sz="2000" dirty="0">
                <a:latin typeface="+mn-ea"/>
                <a:ea typeface="+mn-ea"/>
              </a:rPr>
              <a:t>各</a:t>
            </a:r>
            <a:r>
              <a:rPr lang="en-US" altLang="zh-CN" sz="2000" dirty="0">
                <a:latin typeface="+mn-ea"/>
                <a:ea typeface="+mn-ea"/>
              </a:rPr>
              <a:t>mon</a:t>
            </a:r>
            <a:r>
              <a:rPr lang="zh-CN" altLang="en-US" sz="2000" dirty="0">
                <a:latin typeface="+mn-ea"/>
                <a:ea typeface="+mn-ea"/>
              </a:rPr>
              <a:t>节点的功能总体上是一样的，相互间的关系可以被简单理解为主备关系。</a:t>
            </a:r>
            <a:endParaRPr lang="en-US" altLang="zh-CN" sz="2000" dirty="0">
              <a:latin typeface="+mn-ea"/>
              <a:ea typeface="+mn-ea"/>
            </a:endParaRPr>
          </a:p>
          <a:p>
            <a:pPr marL="285750" indent="-285750">
              <a:buFont typeface="Arial" panose="020B0604020202020204" pitchFamily="34" charset="0"/>
              <a:buChar char="•"/>
            </a:pPr>
            <a:endParaRPr lang="en-US" altLang="zh-CN" sz="2000" dirty="0">
              <a:latin typeface="+mn-ea"/>
              <a:ea typeface="+mn-ea"/>
            </a:endParaRPr>
          </a:p>
          <a:p>
            <a:endParaRPr lang="en-US" altLang="zh-CN" sz="2000" dirty="0">
              <a:latin typeface="+mn-ea"/>
              <a:ea typeface="+mn-ea"/>
            </a:endParaRPr>
          </a:p>
          <a:p>
            <a:pPr marL="285750" indent="-285750">
              <a:buFont typeface="Arial" panose="020B0604020202020204" pitchFamily="34" charset="0"/>
              <a:buChar char="•"/>
            </a:pPr>
            <a:r>
              <a:rPr lang="zh-CN" altLang="en-US" sz="2000" dirty="0">
                <a:latin typeface="+mn-ea"/>
                <a:ea typeface="+mn-ea"/>
              </a:rPr>
              <a:t>如果主</a:t>
            </a:r>
            <a:r>
              <a:rPr lang="en-US" altLang="zh-CN" sz="2000" dirty="0">
                <a:latin typeface="+mn-ea"/>
                <a:ea typeface="+mn-ea"/>
              </a:rPr>
              <a:t>mon</a:t>
            </a:r>
            <a:r>
              <a:rPr lang="zh-CN" altLang="en-US" sz="2000" dirty="0">
                <a:latin typeface="+mn-ea"/>
                <a:ea typeface="+mn-ea"/>
              </a:rPr>
              <a:t>节点损坏，其他</a:t>
            </a:r>
            <a:r>
              <a:rPr lang="en-US" altLang="zh-CN" sz="2000" dirty="0">
                <a:latin typeface="+mn-ea"/>
                <a:ea typeface="+mn-ea"/>
              </a:rPr>
              <a:t>mon</a:t>
            </a:r>
            <a:r>
              <a:rPr lang="zh-CN" altLang="en-US" sz="2000" dirty="0">
                <a:latin typeface="+mn-ea"/>
                <a:ea typeface="+mn-ea"/>
              </a:rPr>
              <a:t>存活节点超过半数时，集群还可以正常运行。当故障</a:t>
            </a:r>
            <a:r>
              <a:rPr lang="en-US" altLang="zh-CN" sz="2000" dirty="0">
                <a:latin typeface="+mn-ea"/>
                <a:ea typeface="+mn-ea"/>
              </a:rPr>
              <a:t>mon</a:t>
            </a:r>
            <a:r>
              <a:rPr lang="zh-CN" altLang="en-US" sz="2000" dirty="0">
                <a:latin typeface="+mn-ea"/>
                <a:ea typeface="+mn-ea"/>
              </a:rPr>
              <a:t>节点恢复时，会主动向其他</a:t>
            </a:r>
            <a:r>
              <a:rPr lang="en-US" altLang="zh-CN" sz="2000" dirty="0">
                <a:latin typeface="+mn-ea"/>
                <a:ea typeface="+mn-ea"/>
              </a:rPr>
              <a:t>mon</a:t>
            </a:r>
            <a:r>
              <a:rPr lang="zh-CN" altLang="en-US" sz="2000" dirty="0">
                <a:latin typeface="+mn-ea"/>
                <a:ea typeface="+mn-ea"/>
              </a:rPr>
              <a:t>节点拉取最新的</a:t>
            </a:r>
            <a:r>
              <a:rPr lang="en-US" altLang="zh-CN" sz="2000" dirty="0">
                <a:latin typeface="+mn-ea"/>
                <a:ea typeface="+mn-ea"/>
              </a:rPr>
              <a:t>cluster map</a:t>
            </a:r>
            <a:r>
              <a:rPr lang="zh-CN" altLang="en-US" sz="2000" dirty="0">
                <a:latin typeface="+mn-ea"/>
                <a:ea typeface="+mn-ea"/>
              </a:rPr>
              <a:t>。</a:t>
            </a:r>
            <a:endParaRPr lang="en-US" altLang="zh-CN" sz="2000" dirty="0">
              <a:latin typeface="+mn-ea"/>
              <a:ea typeface="+mn-ea"/>
            </a:endParaRPr>
          </a:p>
          <a:p>
            <a:pPr marL="285750" indent="-285750">
              <a:buFont typeface="Arial" panose="020B0604020202020204" pitchFamily="34" charset="0"/>
              <a:buChar char="•"/>
            </a:pPr>
            <a:endParaRPr lang="en-US" altLang="zh-CN" sz="2000" dirty="0">
              <a:latin typeface="+mn-ea"/>
              <a:ea typeface="+mn-ea"/>
            </a:endParaRPr>
          </a:p>
          <a:p>
            <a:pPr marL="285750" indent="-285750">
              <a:buFont typeface="Arial" panose="020B0604020202020204" pitchFamily="34" charset="0"/>
              <a:buChar char="•"/>
            </a:pPr>
            <a:endParaRPr lang="en-US" altLang="zh-CN" sz="2000" dirty="0">
              <a:latin typeface="+mn-ea"/>
              <a:ea typeface="+mn-ea"/>
            </a:endParaRPr>
          </a:p>
          <a:p>
            <a:pPr marL="342900" indent="-342900">
              <a:buFont typeface="Arial" panose="020B0604020202020204" pitchFamily="34" charset="0"/>
              <a:buChar char="•"/>
            </a:pPr>
            <a:r>
              <a:rPr lang="en-US" altLang="zh-CN" sz="2000" dirty="0">
                <a:latin typeface="+mn-ea"/>
                <a:ea typeface="+mn-ea"/>
              </a:rPr>
              <a:t>Mon</a:t>
            </a:r>
            <a:r>
              <a:rPr lang="zh-CN" altLang="en-US" sz="2000" dirty="0">
                <a:latin typeface="+mn-ea"/>
                <a:ea typeface="+mn-ea"/>
              </a:rPr>
              <a:t>节点并不会主动轮询各个</a:t>
            </a:r>
            <a:r>
              <a:rPr lang="en-US" altLang="zh-CN" sz="2000" dirty="0">
                <a:latin typeface="+mn-ea"/>
                <a:ea typeface="+mn-ea"/>
              </a:rPr>
              <a:t>osd</a:t>
            </a:r>
            <a:r>
              <a:rPr lang="zh-CN" altLang="en-US" sz="2000" dirty="0">
                <a:latin typeface="+mn-ea"/>
                <a:ea typeface="+mn-ea"/>
              </a:rPr>
              <a:t>的当前状态，相反，</a:t>
            </a:r>
            <a:r>
              <a:rPr lang="en-US" altLang="zh-CN" sz="2000" dirty="0">
                <a:latin typeface="+mn-ea"/>
                <a:ea typeface="+mn-ea"/>
              </a:rPr>
              <a:t>osd</a:t>
            </a:r>
            <a:r>
              <a:rPr lang="zh-CN" altLang="en-US" sz="2000" dirty="0">
                <a:latin typeface="+mn-ea"/>
                <a:ea typeface="+mn-ea"/>
              </a:rPr>
              <a:t>只有在一些特殊情况才会上报自己的信息，平常只会简单的发送心跳。</a:t>
            </a:r>
            <a:endParaRPr lang="en-US" altLang="zh-CN" sz="2000" dirty="0">
              <a:latin typeface="+mn-ea"/>
              <a:ea typeface="+mn-ea"/>
            </a:endParaRPr>
          </a:p>
          <a:p>
            <a:pPr marL="342900" indent="-342900">
              <a:buFont typeface="Arial" panose="020B0604020202020204" pitchFamily="34" charset="0"/>
              <a:buChar char="•"/>
            </a:pPr>
            <a:endParaRPr lang="en-US" altLang="zh-CN" sz="2000" dirty="0">
              <a:latin typeface="+mn-ea"/>
              <a:ea typeface="+mn-ea"/>
            </a:endParaRPr>
          </a:p>
          <a:p>
            <a:br>
              <a:rPr lang="zh-CN" altLang="en-US" sz="2000" dirty="0">
                <a:latin typeface="+mn-ea"/>
                <a:ea typeface="+mn-ea"/>
              </a:rPr>
            </a:br>
            <a:br>
              <a:rPr lang="zh-CN" altLang="en-US" sz="2000" dirty="0">
                <a:latin typeface="+mn-ea"/>
                <a:ea typeface="+mn-ea"/>
              </a:rPr>
            </a:br>
            <a:endParaRPr lang="zh-CN" altLang="en-US" sz="2000" dirty="0">
              <a:latin typeface="+mn-ea"/>
              <a:ea typeface="+mn-ea"/>
            </a:endParaRPr>
          </a:p>
        </p:txBody>
      </p:sp>
    </p:spTree>
    <p:extLst>
      <p:ext uri="{BB962C8B-B14F-4D97-AF65-F5344CB8AC3E}">
        <p14:creationId xmlns:p14="http://schemas.microsoft.com/office/powerpoint/2010/main" val="3073529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DABB29-6A0A-4705-A350-0DFCD00A13F9}"/>
              </a:ext>
            </a:extLst>
          </p:cNvPr>
          <p:cNvSpPr>
            <a:spLocks noGrp="1"/>
          </p:cNvSpPr>
          <p:nvPr>
            <p:ph type="title"/>
          </p:nvPr>
        </p:nvSpPr>
        <p:spPr/>
        <p:txBody>
          <a:bodyPr/>
          <a:lstStyle/>
          <a:p>
            <a:r>
              <a:rPr lang="en-US" altLang="zh-CN" dirty="0"/>
              <a:t>monitor</a:t>
            </a:r>
            <a:r>
              <a:rPr lang="zh-CN" altLang="en-US" dirty="0"/>
              <a:t>节点同步</a:t>
            </a:r>
          </a:p>
        </p:txBody>
      </p:sp>
      <p:sp>
        <p:nvSpPr>
          <p:cNvPr id="3" name="矩形 2">
            <a:extLst>
              <a:ext uri="{FF2B5EF4-FFF2-40B4-BE49-F238E27FC236}">
                <a16:creationId xmlns:a16="http://schemas.microsoft.com/office/drawing/2014/main" id="{65EFBCE5-FECF-42FA-B165-5E57D2754D2E}"/>
              </a:ext>
            </a:extLst>
          </p:cNvPr>
          <p:cNvSpPr/>
          <p:nvPr/>
        </p:nvSpPr>
        <p:spPr>
          <a:xfrm>
            <a:off x="1163452" y="1628800"/>
            <a:ext cx="10045116" cy="2862322"/>
          </a:xfrm>
          <a:prstGeom prst="rect">
            <a:avLst/>
          </a:prstGeom>
        </p:spPr>
        <p:txBody>
          <a:bodyPr wrap="square">
            <a:spAutoFit/>
          </a:bodyPr>
          <a:lstStyle/>
          <a:p>
            <a:pPr marL="342900" indent="-342900">
              <a:buFont typeface="Arial" panose="020B0604020202020204" pitchFamily="34" charset="0"/>
              <a:buChar char="•"/>
            </a:pPr>
            <a:r>
              <a:rPr lang="zh-CN" altLang="en-US" sz="2000" dirty="0">
                <a:latin typeface="+mn-ea"/>
                <a:ea typeface="+mn-ea"/>
              </a:rPr>
              <a:t>特殊情况包括：</a:t>
            </a:r>
            <a:r>
              <a:rPr lang="en-US" altLang="zh-CN" sz="2000" dirty="0">
                <a:latin typeface="+mn-ea"/>
                <a:ea typeface="+mn-ea"/>
              </a:rPr>
              <a:t>1</a:t>
            </a:r>
            <a:r>
              <a:rPr lang="zh-CN" altLang="en-US" sz="2000" dirty="0">
                <a:latin typeface="+mn-ea"/>
                <a:ea typeface="+mn-ea"/>
              </a:rPr>
              <a:t>、新的</a:t>
            </a:r>
            <a:r>
              <a:rPr lang="en-US" altLang="zh-CN" sz="2000" dirty="0">
                <a:latin typeface="+mn-ea"/>
                <a:ea typeface="+mn-ea"/>
              </a:rPr>
              <a:t>OSD</a:t>
            </a:r>
            <a:r>
              <a:rPr lang="zh-CN" altLang="en-US" sz="2000" dirty="0">
                <a:latin typeface="+mn-ea"/>
                <a:ea typeface="+mn-ea"/>
              </a:rPr>
              <a:t>被加入集群；</a:t>
            </a:r>
            <a:r>
              <a:rPr lang="en-US" altLang="zh-CN" sz="2000" dirty="0">
                <a:latin typeface="+mn-ea"/>
                <a:ea typeface="+mn-ea"/>
              </a:rPr>
              <a:t>2</a:t>
            </a:r>
            <a:r>
              <a:rPr lang="zh-CN" altLang="en-US" sz="2000" dirty="0">
                <a:latin typeface="+mn-ea"/>
                <a:ea typeface="+mn-ea"/>
              </a:rPr>
              <a:t>、某个</a:t>
            </a:r>
            <a:r>
              <a:rPr lang="en-US" altLang="zh-CN" sz="2000" dirty="0">
                <a:latin typeface="+mn-ea"/>
                <a:ea typeface="+mn-ea"/>
              </a:rPr>
              <a:t>OSD</a:t>
            </a:r>
            <a:r>
              <a:rPr lang="zh-CN" altLang="en-US" sz="2000" dirty="0">
                <a:latin typeface="+mn-ea"/>
                <a:ea typeface="+mn-ea"/>
              </a:rPr>
              <a:t>发现自身或其他</a:t>
            </a:r>
            <a:r>
              <a:rPr lang="en-US" altLang="zh-CN" sz="2000" dirty="0">
                <a:latin typeface="+mn-ea"/>
                <a:ea typeface="+mn-ea"/>
              </a:rPr>
              <a:t>OSD</a:t>
            </a:r>
            <a:r>
              <a:rPr lang="zh-CN" altLang="en-US" sz="2000" dirty="0">
                <a:latin typeface="+mn-ea"/>
                <a:ea typeface="+mn-ea"/>
              </a:rPr>
              <a:t>发生异常。</a:t>
            </a:r>
            <a:r>
              <a:rPr lang="en-US" altLang="zh-CN" sz="2000" dirty="0">
                <a:latin typeface="+mn-ea"/>
                <a:ea typeface="+mn-ea"/>
              </a:rPr>
              <a:t>Mon</a:t>
            </a:r>
            <a:r>
              <a:rPr lang="zh-CN" altLang="en-US" sz="2000" dirty="0">
                <a:latin typeface="+mn-ea"/>
                <a:ea typeface="+mn-ea"/>
              </a:rPr>
              <a:t>节点在收到这些上报信息时，则会更新</a:t>
            </a:r>
            <a:r>
              <a:rPr lang="en-US" altLang="zh-CN" sz="2000" dirty="0">
                <a:latin typeface="+mn-ea"/>
                <a:ea typeface="+mn-ea"/>
              </a:rPr>
              <a:t>cluster map</a:t>
            </a:r>
            <a:r>
              <a:rPr lang="zh-CN" altLang="en-US" sz="2000" dirty="0">
                <a:latin typeface="+mn-ea"/>
                <a:ea typeface="+mn-ea"/>
              </a:rPr>
              <a:t>信息并加以扩散。</a:t>
            </a:r>
            <a:endParaRPr lang="en-US" altLang="zh-CN" sz="2000" dirty="0">
              <a:latin typeface="+mn-ea"/>
              <a:ea typeface="+mn-ea"/>
            </a:endParaRPr>
          </a:p>
          <a:p>
            <a:pPr marL="342900" indent="-342900">
              <a:buFont typeface="Arial" panose="020B0604020202020204" pitchFamily="34" charset="0"/>
              <a:buChar char="•"/>
            </a:pPr>
            <a:endParaRPr lang="en-US" altLang="zh-CN" sz="2000" dirty="0">
              <a:latin typeface="+mn-ea"/>
              <a:ea typeface="+mn-ea"/>
            </a:endParaRPr>
          </a:p>
          <a:p>
            <a:pPr marL="342900" indent="-342900">
              <a:buFont typeface="Arial" panose="020B0604020202020204" pitchFamily="34" charset="0"/>
              <a:buChar char="•"/>
            </a:pPr>
            <a:r>
              <a:rPr lang="en-US" altLang="zh-CN" sz="2000" dirty="0">
                <a:latin typeface="+mn-ea"/>
                <a:ea typeface="+mn-ea"/>
              </a:rPr>
              <a:t>cluster map</a:t>
            </a:r>
            <a:r>
              <a:rPr lang="zh-CN" altLang="en-US" sz="2000" dirty="0">
                <a:latin typeface="+mn-ea"/>
                <a:ea typeface="+mn-ea"/>
              </a:rPr>
              <a:t>信息是以异步形式扩散的。</a:t>
            </a:r>
            <a:r>
              <a:rPr lang="en-US" altLang="zh-CN" sz="2000" dirty="0">
                <a:latin typeface="+mn-ea"/>
                <a:ea typeface="+mn-ea"/>
              </a:rPr>
              <a:t>monitor</a:t>
            </a:r>
            <a:r>
              <a:rPr lang="zh-CN" altLang="en-US" sz="2000" dirty="0">
                <a:latin typeface="+mn-ea"/>
                <a:ea typeface="+mn-ea"/>
              </a:rPr>
              <a:t>并不会在每一次</a:t>
            </a:r>
            <a:r>
              <a:rPr lang="en-US" altLang="zh-CN" sz="2000" dirty="0">
                <a:latin typeface="+mn-ea"/>
                <a:ea typeface="+mn-ea"/>
              </a:rPr>
              <a:t>cluster map</a:t>
            </a:r>
            <a:r>
              <a:rPr lang="zh-CN" altLang="en-US" sz="2000" dirty="0">
                <a:latin typeface="+mn-ea"/>
                <a:ea typeface="+mn-ea"/>
              </a:rPr>
              <a:t>版本更新后都将新版本广播至全体</a:t>
            </a:r>
            <a:r>
              <a:rPr lang="en-US" altLang="zh-CN" sz="2000" dirty="0">
                <a:latin typeface="+mn-ea"/>
                <a:ea typeface="+mn-ea"/>
              </a:rPr>
              <a:t>OSD</a:t>
            </a:r>
            <a:r>
              <a:rPr lang="zh-CN" altLang="en-US" sz="2000" dirty="0">
                <a:latin typeface="+mn-ea"/>
                <a:ea typeface="+mn-ea"/>
              </a:rPr>
              <a:t>，而是在有</a:t>
            </a:r>
            <a:r>
              <a:rPr lang="en-US" altLang="zh-CN" sz="2000" dirty="0">
                <a:latin typeface="+mn-ea"/>
                <a:ea typeface="+mn-ea"/>
              </a:rPr>
              <a:t>OSD</a:t>
            </a:r>
            <a:r>
              <a:rPr lang="zh-CN" altLang="en-US" sz="2000" dirty="0">
                <a:latin typeface="+mn-ea"/>
                <a:ea typeface="+mn-ea"/>
              </a:rPr>
              <a:t>向自己上报信息时，将更新回复给对方。类似的，各个</a:t>
            </a:r>
            <a:r>
              <a:rPr lang="en-US" altLang="zh-CN" sz="2000" dirty="0">
                <a:latin typeface="+mn-ea"/>
                <a:ea typeface="+mn-ea"/>
              </a:rPr>
              <a:t>OSD</a:t>
            </a:r>
            <a:r>
              <a:rPr lang="zh-CN" altLang="en-US" sz="2000" dirty="0">
                <a:latin typeface="+mn-ea"/>
                <a:ea typeface="+mn-ea"/>
              </a:rPr>
              <a:t>也是在和其他</a:t>
            </a:r>
            <a:r>
              <a:rPr lang="en-US" altLang="zh-CN" sz="2000" dirty="0">
                <a:latin typeface="+mn-ea"/>
                <a:ea typeface="+mn-ea"/>
              </a:rPr>
              <a:t>OSD</a:t>
            </a:r>
            <a:r>
              <a:rPr lang="zh-CN" altLang="en-US" sz="2000" dirty="0">
                <a:latin typeface="+mn-ea"/>
                <a:ea typeface="+mn-ea"/>
              </a:rPr>
              <a:t>通信时，如果发现对方的</a:t>
            </a:r>
            <a:r>
              <a:rPr lang="en-US" altLang="zh-CN" sz="2000" dirty="0">
                <a:latin typeface="+mn-ea"/>
                <a:ea typeface="+mn-ea"/>
              </a:rPr>
              <a:t>osd</a:t>
            </a:r>
            <a:r>
              <a:rPr lang="zh-CN" altLang="en-US" sz="2000" dirty="0">
                <a:latin typeface="+mn-ea"/>
                <a:ea typeface="+mn-ea"/>
              </a:rPr>
              <a:t>中持有的</a:t>
            </a:r>
            <a:r>
              <a:rPr lang="en-US" altLang="zh-CN" sz="2000" dirty="0">
                <a:latin typeface="+mn-ea"/>
                <a:ea typeface="+mn-ea"/>
              </a:rPr>
              <a:t>cluster map</a:t>
            </a:r>
            <a:r>
              <a:rPr lang="zh-CN" altLang="en-US" sz="2000" dirty="0">
                <a:latin typeface="+mn-ea"/>
                <a:ea typeface="+mn-ea"/>
              </a:rPr>
              <a:t>版本较低，则把自己更新的版本发送给对方。</a:t>
            </a:r>
          </a:p>
          <a:p>
            <a:br>
              <a:rPr lang="zh-CN" altLang="en-US" sz="2000" dirty="0">
                <a:latin typeface="+mn-ea"/>
                <a:ea typeface="+mn-ea"/>
              </a:rPr>
            </a:br>
            <a:endParaRPr lang="zh-CN" altLang="en-US" sz="2000" dirty="0">
              <a:latin typeface="+mn-ea"/>
              <a:ea typeface="+mn-ea"/>
            </a:endParaRPr>
          </a:p>
        </p:txBody>
      </p:sp>
    </p:spTree>
    <p:extLst>
      <p:ext uri="{BB962C8B-B14F-4D97-AF65-F5344CB8AC3E}">
        <p14:creationId xmlns:p14="http://schemas.microsoft.com/office/powerpoint/2010/main" val="894415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动态集群管理</a:t>
            </a:r>
          </a:p>
        </p:txBody>
      </p:sp>
      <p:sp>
        <p:nvSpPr>
          <p:cNvPr id="3" name="文本占位符 2"/>
          <p:cNvSpPr>
            <a:spLocks noGrp="1"/>
          </p:cNvSpPr>
          <p:nvPr>
            <p:ph type="body" sz="quarter" idx="10"/>
          </p:nvPr>
        </p:nvSpPr>
        <p:spPr>
          <a:xfrm>
            <a:off x="866352" y="1233488"/>
            <a:ext cx="10560048" cy="2339528"/>
          </a:xfrm>
        </p:spPr>
        <p:txBody>
          <a:bodyPr/>
          <a:lstStyle/>
          <a:p>
            <a:r>
              <a:rPr lang="zh-CN" altLang="zh-CN" sz="1800" cap="all" dirty="0">
                <a:latin typeface="微软雅黑" panose="020B0503020204020204" pitchFamily="34" charset="-122"/>
                <a:ea typeface="微软雅黑" panose="020B0503020204020204" pitchFamily="34" charset="-122"/>
                <a:sym typeface="微软雅黑" panose="020B0503020204020204" pitchFamily="34" charset="-122"/>
              </a:rPr>
              <a:t>对象映射到</a:t>
            </a:r>
            <a:r>
              <a:rPr lang="en-US" altLang="zh-CN" sz="1800" cap="all" dirty="0">
                <a:latin typeface="微软雅黑" panose="020B0503020204020204" pitchFamily="34" charset="-122"/>
                <a:ea typeface="微软雅黑" panose="020B0503020204020204" pitchFamily="34" charset="-122"/>
                <a:sym typeface="微软雅黑" panose="020B0503020204020204" pitchFamily="34" charset="-122"/>
              </a:rPr>
              <a:t>OSD</a:t>
            </a:r>
            <a:r>
              <a:rPr lang="zh-CN" altLang="en-US" sz="1800" cap="all" dirty="0">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sym typeface="微软雅黑" panose="020B0503020204020204" pitchFamily="34" charset="-122"/>
              </a:rPr>
              <a:t>CRUSH</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算法把对象映射到归置组</a:t>
            </a:r>
            <a:r>
              <a:rPr lang="zh-CN" altLang="en-US" sz="1800" dirty="0">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然后再把各归置组映射到一或多个</a:t>
            </a:r>
            <a:r>
              <a:rPr lang="en-US" altLang="zh-CN" sz="1800" dirty="0">
                <a:latin typeface="微软雅黑" panose="020B0503020204020204" pitchFamily="34" charset="-122"/>
                <a:ea typeface="微软雅黑" panose="020B0503020204020204" pitchFamily="34" charset="-122"/>
                <a:sym typeface="微软雅黑" panose="020B0503020204020204" pitchFamily="34" charset="-122"/>
              </a:rPr>
              <a:t>OSD </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，这一间接层可以让</a:t>
            </a:r>
            <a:r>
              <a:rPr lang="en-US" altLang="zh-CN" sz="1800" dirty="0">
                <a:latin typeface="微软雅黑" panose="020B0503020204020204" pitchFamily="34" charset="-122"/>
                <a:ea typeface="微软雅黑" panose="020B0503020204020204" pitchFamily="34" charset="-122"/>
                <a:sym typeface="微软雅黑" panose="020B0503020204020204" pitchFamily="34" charset="-122"/>
              </a:rPr>
              <a:t>Ceph</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在</a:t>
            </a:r>
            <a:r>
              <a:rPr lang="en-US" altLang="zh-CN" sz="1800" dirty="0">
                <a:latin typeface="微软雅黑" panose="020B0503020204020204" pitchFamily="34" charset="-122"/>
                <a:ea typeface="微软雅黑" panose="020B0503020204020204" pitchFamily="34" charset="-122"/>
                <a:sym typeface="微软雅黑" panose="020B0503020204020204" pitchFamily="34" charset="-122"/>
              </a:rPr>
              <a:t>OSD</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守护进程和底层设备上线时动态地重均衡。</a:t>
            </a:r>
            <a:endParaRPr lang="en-US" altLang="zh-CN" sz="1800" dirty="0">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sym typeface="微软雅黑" panose="020B0503020204020204" pitchFamily="34" charset="-122"/>
              </a:rPr>
              <a:t>数据重均匀：</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当</a:t>
            </a:r>
            <a:r>
              <a:rPr lang="en-US" altLang="zh-CN" sz="1800" dirty="0">
                <a:latin typeface="微软雅黑" panose="020B0503020204020204" pitchFamily="34" charset="-122"/>
                <a:ea typeface="微软雅黑" panose="020B0503020204020204" pitchFamily="34" charset="-122"/>
                <a:sym typeface="微软雅黑" panose="020B0503020204020204" pitchFamily="34" charset="-122"/>
              </a:rPr>
              <a:t>Ceph</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存储集群新增一个</a:t>
            </a:r>
            <a:r>
              <a:rPr lang="en-US" altLang="zh-CN" sz="1800" dirty="0">
                <a:latin typeface="微软雅黑" panose="020B0503020204020204" pitchFamily="34" charset="-122"/>
                <a:ea typeface="微软雅黑" panose="020B0503020204020204" pitchFamily="34" charset="-122"/>
                <a:sym typeface="微软雅黑" panose="020B0503020204020204" pitchFamily="34" charset="-122"/>
              </a:rPr>
              <a:t>OSD</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守护进程时，集群运行图就要用新增的</a:t>
            </a:r>
            <a:r>
              <a:rPr lang="en-US" altLang="zh-CN" sz="1800" dirty="0">
                <a:latin typeface="微软雅黑" panose="020B0503020204020204" pitchFamily="34" charset="-122"/>
                <a:ea typeface="微软雅黑" panose="020B0503020204020204" pitchFamily="34" charset="-122"/>
                <a:sym typeface="微软雅黑" panose="020B0503020204020204" pitchFamily="34" charset="-122"/>
              </a:rPr>
              <a:t>OSD</a:t>
            </a:r>
            <a:r>
              <a:rPr lang="zh-CN" altLang="zh-CN" sz="1800" dirty="0">
                <a:latin typeface="微软雅黑" panose="020B0503020204020204" pitchFamily="34" charset="-122"/>
                <a:ea typeface="微软雅黑" panose="020B0503020204020204" pitchFamily="34" charset="-122"/>
                <a:sym typeface="微软雅黑" panose="020B0503020204020204" pitchFamily="34" charset="-122"/>
              </a:rPr>
              <a:t>更新。</a:t>
            </a:r>
            <a:endParaRPr lang="en-US" altLang="zh-CN" sz="1800" dirty="0">
              <a:latin typeface="微软雅黑" panose="020B0503020204020204" pitchFamily="34" charset="-122"/>
              <a:ea typeface="微软雅黑" panose="020B0503020204020204" pitchFamily="34" charset="-122"/>
              <a:sym typeface="微软雅黑" panose="020B0503020204020204" pitchFamily="34" charset="-122"/>
            </a:endParaRPr>
          </a:p>
          <a:p>
            <a:pPr marL="0" indent="0">
              <a:buNone/>
            </a:pPr>
            <a:endParaRPr lang="en-US" altLang="zh-CN" sz="14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p:cNvSpPr/>
          <p:nvPr/>
        </p:nvSpPr>
        <p:spPr bwMode="auto">
          <a:xfrm>
            <a:off x="1938912" y="3220319"/>
            <a:ext cx="1476164" cy="504056"/>
          </a:xfrm>
          <a:prstGeom prst="rect">
            <a:avLst/>
          </a:prstGeom>
          <a:solidFill>
            <a:srgbClr val="CCECFF">
              <a:alpha val="58824"/>
            </a:srgbClr>
          </a:solidFill>
          <a:ln w="9525" cap="flat" cmpd="sng" algn="ctr">
            <a:solidFill>
              <a:srgbClr val="CCEC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OSD 1</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矩形 4"/>
          <p:cNvSpPr/>
          <p:nvPr/>
        </p:nvSpPr>
        <p:spPr bwMode="auto">
          <a:xfrm>
            <a:off x="1938912" y="3756765"/>
            <a:ext cx="1476164" cy="1210190"/>
          </a:xfrm>
          <a:prstGeom prst="rect">
            <a:avLst/>
          </a:prstGeom>
          <a:solidFill>
            <a:schemeClr val="bg1">
              <a:lumMod val="9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PG#1</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PG#2</a:t>
            </a:r>
          </a:p>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PG#3</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PG#4</a:t>
            </a:r>
          </a:p>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PG#5</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bwMode="auto">
          <a:xfrm>
            <a:off x="3523088" y="3220319"/>
            <a:ext cx="1476164" cy="504056"/>
          </a:xfrm>
          <a:prstGeom prst="rect">
            <a:avLst/>
          </a:prstGeom>
          <a:solidFill>
            <a:srgbClr val="CCECFF">
              <a:alpha val="58824"/>
            </a:srgbClr>
          </a:solidFill>
          <a:ln w="9525" cap="flat" cmpd="sng" algn="ctr">
            <a:solidFill>
              <a:srgbClr val="CCEC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OSD 2</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nvSpPr>
        <p:spPr bwMode="auto">
          <a:xfrm>
            <a:off x="3523088" y="3756765"/>
            <a:ext cx="1476164" cy="1210190"/>
          </a:xfrm>
          <a:prstGeom prst="rect">
            <a:avLst/>
          </a:prstGeom>
          <a:solidFill>
            <a:schemeClr val="bg1">
              <a:lumMod val="9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PG#6</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PG#7</a:t>
            </a:r>
          </a:p>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PG#8</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PG#9</a:t>
            </a:r>
          </a:p>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PG#10</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nvSpPr>
        <p:spPr bwMode="auto">
          <a:xfrm>
            <a:off x="1163453" y="3747389"/>
            <a:ext cx="919475"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b="1" dirty="0">
                <a:latin typeface="微软雅黑" panose="020B0503020204020204" pitchFamily="34" charset="-122"/>
                <a:ea typeface="微软雅黑" panose="020B0503020204020204" pitchFamily="34" charset="-122"/>
                <a:sym typeface="微软雅黑" panose="020B0503020204020204" pitchFamily="34" charset="-122"/>
              </a:rPr>
              <a:t>Before</a:t>
            </a:r>
            <a:endParaRPr lang="zh-CN" altLang="en-US" sz="16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nvSpPr>
        <p:spPr bwMode="auto">
          <a:xfrm>
            <a:off x="6259392" y="3205541"/>
            <a:ext cx="1476164" cy="504056"/>
          </a:xfrm>
          <a:prstGeom prst="rect">
            <a:avLst/>
          </a:prstGeom>
          <a:solidFill>
            <a:srgbClr val="CCECFF">
              <a:alpha val="58824"/>
            </a:srgbClr>
          </a:solidFill>
          <a:ln w="9525" cap="flat" cmpd="sng" algn="ctr">
            <a:solidFill>
              <a:srgbClr val="CCEC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OSD 1</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12"/>
          <p:cNvSpPr/>
          <p:nvPr/>
        </p:nvSpPr>
        <p:spPr bwMode="auto">
          <a:xfrm>
            <a:off x="6259392" y="3733203"/>
            <a:ext cx="1476164" cy="1210190"/>
          </a:xfrm>
          <a:prstGeom prst="rect">
            <a:avLst/>
          </a:prstGeom>
          <a:solidFill>
            <a:schemeClr val="bg1">
              <a:lumMod val="9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PG#1</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PG#2</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PG#4</a:t>
            </a:r>
          </a:p>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PG#5</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p:nvPr/>
        </p:nvSpPr>
        <p:spPr bwMode="auto">
          <a:xfrm>
            <a:off x="8045220" y="3205541"/>
            <a:ext cx="1476164" cy="504056"/>
          </a:xfrm>
          <a:prstGeom prst="rect">
            <a:avLst/>
          </a:prstGeom>
          <a:solidFill>
            <a:srgbClr val="CCECFF">
              <a:alpha val="58824"/>
            </a:srgbClr>
          </a:solidFill>
          <a:ln w="9525" cap="flat" cmpd="sng" algn="ctr">
            <a:solidFill>
              <a:srgbClr val="CCEC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OSD 2</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14"/>
          <p:cNvSpPr/>
          <p:nvPr/>
        </p:nvSpPr>
        <p:spPr bwMode="auto">
          <a:xfrm>
            <a:off x="8045220" y="3732611"/>
            <a:ext cx="1476164" cy="1210190"/>
          </a:xfrm>
          <a:prstGeom prst="rect">
            <a:avLst/>
          </a:prstGeom>
          <a:solidFill>
            <a:schemeClr val="bg1">
              <a:lumMod val="9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PG#7</a:t>
            </a:r>
          </a:p>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PG#8</a:t>
            </a:r>
          </a:p>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PG#10</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矩形 18"/>
          <p:cNvSpPr/>
          <p:nvPr/>
        </p:nvSpPr>
        <p:spPr bwMode="auto">
          <a:xfrm>
            <a:off x="9845420" y="3205541"/>
            <a:ext cx="1476164" cy="504056"/>
          </a:xfrm>
          <a:prstGeom prst="rect">
            <a:avLst/>
          </a:prstGeom>
          <a:solidFill>
            <a:srgbClr val="CCECFF">
              <a:alpha val="58824"/>
            </a:srgbClr>
          </a:solidFill>
          <a:ln w="9525" cap="flat" cmpd="sng" algn="ctr">
            <a:solidFill>
              <a:srgbClr val="CCEC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OSD 3</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矩形 19"/>
          <p:cNvSpPr/>
          <p:nvPr/>
        </p:nvSpPr>
        <p:spPr bwMode="auto">
          <a:xfrm>
            <a:off x="9845420" y="3732611"/>
            <a:ext cx="1476164" cy="1210190"/>
          </a:xfrm>
          <a:prstGeom prst="rect">
            <a:avLst/>
          </a:prstGeom>
          <a:solidFill>
            <a:schemeClr val="bg1">
              <a:lumMod val="9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微软雅黑" panose="020B0503020204020204" pitchFamily="34" charset="-122"/>
              </a:rPr>
              <a:t>PG#3</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PG#6</a:t>
            </a: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PG#9</a:t>
            </a:r>
          </a:p>
        </p:txBody>
      </p:sp>
      <p:sp>
        <p:nvSpPr>
          <p:cNvPr id="21" name="文本框 20"/>
          <p:cNvSpPr txBox="1"/>
          <p:nvPr/>
        </p:nvSpPr>
        <p:spPr bwMode="auto">
          <a:xfrm>
            <a:off x="5541569" y="3709597"/>
            <a:ext cx="919475"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600" b="1" dirty="0">
                <a:latin typeface="微软雅黑" panose="020B0503020204020204" pitchFamily="34" charset="-122"/>
                <a:ea typeface="微软雅黑" panose="020B0503020204020204" pitchFamily="34" charset="-122"/>
                <a:sym typeface="微软雅黑" panose="020B0503020204020204" pitchFamily="34" charset="-122"/>
              </a:rPr>
              <a:t>After</a:t>
            </a:r>
            <a:endParaRPr lang="zh-CN" altLang="en-US" sz="16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6"/>
          <p:cNvSpPr/>
          <p:nvPr/>
        </p:nvSpPr>
        <p:spPr bwMode="auto">
          <a:xfrm>
            <a:off x="1163452" y="2924944"/>
            <a:ext cx="4068453" cy="2412045"/>
          </a:xfrm>
          <a:prstGeom prst="rect">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75000"/>
                </a:schemeClr>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矩形 22"/>
          <p:cNvSpPr/>
          <p:nvPr/>
        </p:nvSpPr>
        <p:spPr bwMode="auto">
          <a:xfrm>
            <a:off x="5375238" y="2924944"/>
            <a:ext cx="5946346" cy="2412045"/>
          </a:xfrm>
          <a:prstGeom prst="rect">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75000"/>
                </a:schemeClr>
              </a:solidFill>
              <a:effectLst/>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989967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C13C0-2BD6-4E74-8579-15557B660191}"/>
              </a:ext>
            </a:extLst>
          </p:cNvPr>
          <p:cNvSpPr>
            <a:spLocks noGrp="1"/>
          </p:cNvSpPr>
          <p:nvPr>
            <p:ph type="title"/>
          </p:nvPr>
        </p:nvSpPr>
        <p:spPr/>
        <p:txBody>
          <a:bodyPr/>
          <a:lstStyle/>
          <a:p>
            <a:r>
              <a:rPr lang="en-US" altLang="zh-CN" dirty="0" err="1"/>
              <a:t>mds</a:t>
            </a:r>
            <a:r>
              <a:rPr lang="en-US" altLang="zh-CN" dirty="0"/>
              <a:t> </a:t>
            </a:r>
            <a:r>
              <a:rPr lang="zh-CN" altLang="en-US" dirty="0"/>
              <a:t>元数据服务器</a:t>
            </a:r>
          </a:p>
        </p:txBody>
      </p:sp>
      <p:sp>
        <p:nvSpPr>
          <p:cNvPr id="3" name="文本占位符 2">
            <a:extLst>
              <a:ext uri="{FF2B5EF4-FFF2-40B4-BE49-F238E27FC236}">
                <a16:creationId xmlns:a16="http://schemas.microsoft.com/office/drawing/2014/main" id="{57708A77-F3E0-409F-A8FC-093AAB041383}"/>
              </a:ext>
            </a:extLst>
          </p:cNvPr>
          <p:cNvSpPr>
            <a:spLocks noGrp="1"/>
          </p:cNvSpPr>
          <p:nvPr>
            <p:ph type="body" sz="quarter" idx="10"/>
          </p:nvPr>
        </p:nvSpPr>
        <p:spPr/>
        <p:txBody>
          <a:bodyPr/>
          <a:lstStyle/>
          <a:p>
            <a:r>
              <a:rPr lang="en-US" altLang="zh-CN" dirty="0" err="1"/>
              <a:t>Mds</a:t>
            </a:r>
            <a:r>
              <a:rPr lang="zh-CN" altLang="en-US" dirty="0"/>
              <a:t>是</a:t>
            </a:r>
            <a:r>
              <a:rPr lang="en-US" altLang="zh-CN" dirty="0"/>
              <a:t>ceph</a:t>
            </a:r>
            <a:r>
              <a:rPr lang="zh-CN" altLang="en-US" dirty="0"/>
              <a:t>集群中的元数据服务器，而通常它都不是必须的，因为只有在使用</a:t>
            </a:r>
            <a:r>
              <a:rPr lang="en-US" altLang="zh-CN" dirty="0" err="1"/>
              <a:t>cephfs</a:t>
            </a:r>
            <a:r>
              <a:rPr lang="zh-CN" altLang="en-US" dirty="0"/>
              <a:t>的时候才需要它，而目在云计算中用的更广泛的是另外两种存储方式。</a:t>
            </a:r>
            <a:endParaRPr lang="en-US" altLang="zh-CN" dirty="0"/>
          </a:p>
          <a:p>
            <a:endParaRPr lang="zh-CN" altLang="en-US" dirty="0"/>
          </a:p>
          <a:p>
            <a:r>
              <a:rPr lang="en-US" altLang="zh-CN" dirty="0" err="1"/>
              <a:t>Mds</a:t>
            </a:r>
            <a:r>
              <a:rPr lang="zh-CN" altLang="en-US" dirty="0"/>
              <a:t>虽然是元数据服务器，但是它不负责存储元数据，元数据也是被切成对象存在各个</a:t>
            </a:r>
            <a:r>
              <a:rPr lang="en-US" altLang="zh-CN" dirty="0"/>
              <a:t>osd</a:t>
            </a:r>
            <a:r>
              <a:rPr lang="zh-CN" altLang="en-US" dirty="0"/>
              <a:t>节点中的</a:t>
            </a:r>
          </a:p>
        </p:txBody>
      </p:sp>
    </p:spTree>
    <p:extLst>
      <p:ext uri="{BB962C8B-B14F-4D97-AF65-F5344CB8AC3E}">
        <p14:creationId xmlns:p14="http://schemas.microsoft.com/office/powerpoint/2010/main" val="1427441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人才生态发展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C226774B8D87F4D92D9D1F6859ED44E" ma:contentTypeVersion="0" ma:contentTypeDescription="Create a new document." ma:contentTypeScope="" ma:versionID="2405c1ce63a3409bcef189279c704bc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723E6701-3943-4A44-84F3-F772B5088830}">
  <ds:schemaRefs>
    <ds:schemaRef ds:uri="http://schemas.microsoft.com/sharepoint/v3/contenttype/forms"/>
  </ds:schemaRefs>
</ds:datastoreItem>
</file>

<file path=customXml/itemProps2.xml><?xml version="1.0" encoding="utf-8"?>
<ds:datastoreItem xmlns:ds="http://schemas.openxmlformats.org/officeDocument/2006/customXml" ds:itemID="{30CCA2B5-3FE3-400B-9EC4-E12D186075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EAE3093B-232B-4C15-AB25-7F1FBE134870}">
  <ds:schemaRefs>
    <ds:schemaRef ds:uri="http://purl.org/dc/elements/1.1/"/>
    <ds:schemaRef ds:uri="http://purl.org/dc/dcmitype/"/>
    <ds:schemaRef ds:uri="http://www.w3.org/XML/1998/namespace"/>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71960</TotalTime>
  <Words>4670</Words>
  <Application>Microsoft Office PowerPoint</Application>
  <PresentationFormat>宽屏</PresentationFormat>
  <Paragraphs>565</Paragraphs>
  <Slides>27</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FrutigerNext LT Light</vt:lpstr>
      <vt:lpstr>FrutigerNext LT Medium</vt:lpstr>
      <vt:lpstr>FrutigerNext LT Regular</vt:lpstr>
      <vt:lpstr>微软雅黑</vt:lpstr>
      <vt:lpstr>Arial</vt:lpstr>
      <vt:lpstr>Wingdings</vt:lpstr>
      <vt:lpstr>人才生态发展部-母版</vt:lpstr>
      <vt:lpstr>Ceph分布式存储</vt:lpstr>
      <vt:lpstr>认识Server SAN</vt:lpstr>
      <vt:lpstr>SDS介绍</vt:lpstr>
      <vt:lpstr>传统SAN架构</vt:lpstr>
      <vt:lpstr>分布式Server SAN架构</vt:lpstr>
      <vt:lpstr>存储发展趋势：分布式存储快速增长</vt:lpstr>
      <vt:lpstr>SDS与传统存储对比 - 存储管理</vt:lpstr>
      <vt:lpstr>SDS与传统存储对比 - 存储系统软件</vt:lpstr>
      <vt:lpstr>新业务催生新资源供给模式</vt:lpstr>
      <vt:lpstr>Ceph介绍</vt:lpstr>
      <vt:lpstr>Ceph分布式存储解决方案</vt:lpstr>
      <vt:lpstr>Ceph统一存储架构</vt:lpstr>
      <vt:lpstr>Ceph基本组件</vt:lpstr>
      <vt:lpstr>Ceph关键概念</vt:lpstr>
      <vt:lpstr>Ceph数据存储过程</vt:lpstr>
      <vt:lpstr>PG数量规划</vt:lpstr>
      <vt:lpstr>Ceph数据流的存储过程</vt:lpstr>
      <vt:lpstr>OSD写流程</vt:lpstr>
      <vt:lpstr>Ceph进程</vt:lpstr>
      <vt:lpstr>多副本</vt:lpstr>
      <vt:lpstr>EC纠删码</vt:lpstr>
      <vt:lpstr>monitor节点管理</vt:lpstr>
      <vt:lpstr>monitor节点clustermap </vt:lpstr>
      <vt:lpstr>monitor节点同步</vt:lpstr>
      <vt:lpstr>动态集群管理</vt:lpstr>
      <vt:lpstr>mds 元数据服务器</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admin</cp:lastModifiedBy>
  <cp:revision>2928</cp:revision>
  <dcterms:created xsi:type="dcterms:W3CDTF">2003-08-21T06:48:56Z</dcterms:created>
  <dcterms:modified xsi:type="dcterms:W3CDTF">2020-11-25T13:57:27Z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(3)qOwLRkd5taoU4nXXDJyHJW93A/u7YK8nCGt7UwBvtDDx4zIVBbWIKCl9C3fO4Z0bATI6qOAP
Ks4nZY/vru2uIpa2F5xLvrWVN/EO+jBjghXZVhfKAu3NConNGHQ8CbIJwS2DOI3sjV406nui
wxFz8IcopW1ZGFMozdbtf7y33GPI3bxnwFprffD+NHIupFI3YfxY4XpurtKElWByfsN2rwar
8QGkpPmtZCT8kfpLWS</vt:lpwstr>
  </property>
  <property fmtid="{D5CDD505-2E9C-101B-9397-08002B2CF9AE}" pid="18" name="_2015_ms_pID_7253431">
    <vt:lpwstr>krxvMLSpdCoWqTCbwQiCuMvQXrGaYupgXIJ8k+79YM8CgfPh2hWPKU
99E2zTj6f5LmstHU8PyDl3EybWOMdHOVkfYe1ODi02Wkxk+efFaWkIXLd/4npm16GyUAuCG1
ROOXlRa3SQxv7CvDnC1FjljZVwlZAtWMCk0O/VD2jSF/uzLgib3JjQk99MsfYUBF7krPZJyg
f0cnYQJzd0WoVzq985P9aXugsrtQ2c5usC/I</vt:lpwstr>
  </property>
  <property fmtid="{D5CDD505-2E9C-101B-9397-08002B2CF9AE}" pid="19" name="_2015_ms_pID_7253432">
    <vt:lpwstr>HpGMUaj0agn/9secfTHuaipBG9Hi8FMauZl8
4aIyMqcEvAm5eeQecCQ9vy4TgCTyHw==</vt:lpwstr>
  </property>
  <property fmtid="{D5CDD505-2E9C-101B-9397-08002B2CF9AE}" pid="20" name="ContentTypeId">
    <vt:lpwstr>0x010100CC226774B8D87F4D92D9D1F6859ED44E</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1572224034</vt:lpwstr>
  </property>
</Properties>
</file>